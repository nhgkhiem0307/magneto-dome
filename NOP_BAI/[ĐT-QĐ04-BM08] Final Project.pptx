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 dau" id="{529152d8-a023-722d-d1a3-e028794b2cdf}">
          <p14:sldIdLst>
            <p14:sldId id="256"/>
            <p14:sldId id="257"/>
          </p14:sldIdLst>
        </p14:section>
        <p14:section name="1. Gioi thieu de tai" id="{6be4da07-1231-2bfc-2d73-735fb4c622b7}">
          <p14:sldIdLst>
            <p14:sldId id="258"/>
          </p14:sldIdLst>
        </p14:section>
        <p14:section name="2. Muc tieu" id="{95221b97-8546-2430-9de1-be68cad5fb20}">
          <p14:sldIdLst>
            <p14:sldId id="259"/>
          </p14:sldIdLst>
        </p14:section>
        <p14:section name="3. Cong nghe va cong cu" id="{f3d5841f-1bb6-423a-039a-d5ca44f8244c}">
          <p14:sldIdLst>
            <p14:sldId id="260"/>
          </p14:sldIdLst>
        </p14:section>
        <p14:section name="4. Phan tich va thiet ke" id="{8190ed67-4c99-0a6d-4bce-0bdfd9c06052}">
          <p14:sldIdLst>
            <p14:sldId id="261"/>
            <p14:sldId id="262"/>
            <p14:sldId id="263"/>
            <p14:sldId id="264"/>
            <p14:sldId id="265"/>
          </p14:sldIdLst>
        </p14:section>
        <p14:section name="5. Quy trinh phat trien" id="{52b35277-9b38-f41b-7e48-95198e9e3ef0}">
          <p14:sldIdLst>
            <p14:sldId id="266"/>
            <p14:sldId id="267"/>
          </p14:sldIdLst>
        </p14:section>
        <p14:section name="7. Ket qua dat duoc" id="{b0742262-fc27-bd09-8a74-5c829266ac76}">
          <p14:sldIdLst>
            <p14:sldId id="268"/>
          </p14:sldIdLst>
        </p14:section>
        <p14:section name="8-9. Huong phat trien va ket luan" id="{460fd1ac-5eac-43bd-d720-d74ce1ba178e}">
          <p14:sldIdLst>
            <p14:sldId id="269"/>
          </p14:sldIdLst>
        </p14:section>
        <p14:section name="Cam on" id="{b05c8f8a-13bf-e214-5da3-4b30241a9fec}">
          <p14:sldIdLst>
            <p14:sldId id="270"/>
          </p14:sldIdLst>
        </p14:section>
        <p14:section name="Du phong" id="{d392cde1-23b0-701e-90a3-14334ca4e643}">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Chào hội đồng, giới thiệu tên đề tài và bản thân. Không đọc lại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0:15-0:35 — Đọc lướt 9 mục, dừng lại ở mục 4 và 6 vì đó là hai phần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0:35-1:25 — Nói một câu duy nhất về cái mới: không súng, không thanh máu. Đừng kể cốt truyện.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1:25-2:00 — CÓ THỂ BỎ SLIDE NÀY nếu đang chậm giờ. Nói nhanh phạm vi để hội đồng không hỏi về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2:00-2:35 — Nhấn mạnh Fusion 2 Host Mode vì phần sau sẽ quay lại. Đọc nhanh phần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2:35-3:35 — Slide nặng nhất về luật chơi. Chỉ vào bảng, nói ba dòng giữa. Không đọc hết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3:35-4:15 — Nhấn vào cặp Heavy/Spike: đây là chỗ thể hiện tư duy thiết kế, không phải chỉ lập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4:15-5:35 — SLIDE QUAN TRỌNG NHẤT. Nói chậm. Nếu hội đồng chỉ nhớ một điều, phải là điều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5:35-6:10 — Lướt nhanh. Hội đồng chỉ cần thấy trận đấu có cấu trúc và có điểm dừng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6:10-7:10 — Phần kỹ thuật nặng nhất. Nói nguyên tắc 1 và 2 — đó là bài học thật, không phải lý thuyết sách.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7:10-7:40 — CÓ THỂ BỎ SLIDE NÀY nếu chậm giờ. Nhưng đừng bỏ phần ParrelSync, hội đồng hay hỏi cách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7:40-8:40 — Slide ghi điểm với hội đồng kỹ thuật. Kể lỗi số 2 như một câu chuyện, nó dễ hình dung nhất.
8:40-9:20 — MỤC 6: DEMO TRỰC TIẾP (không có slide riêng, Alt+Tab sang game). Mở game sẵn trước buổi bảo vệ. Bấm F1 tắt bảng hướng dẫn kẻo nó tự hiện ở pha chuẩn bị. Thứ tự gợi ý: toàn cảnh đảo -&gt; nạp điện và bắn vật thể -&gt; thanh điện tăng, lực văng tăng -&gt; bị hất khỏi rìa đảo. Demo xong Alt+Tab về slide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9:20-9:45 — Số đã đo thật ngày 11/10: 85 FPS trên bản build ở 1920x1080 (RX 6600), ping 16 ms tới máy chủ asia. Nếu bị hỏi FPS thì nói kèm độ phân giải.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9:45-10:00 — Kết bằng câu thứ ba: cơ chế mới là khả thi. Đó là đóng góp của đề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Dừng lại ở đây. Bốn slide sau là slide dự phòng, chỉ mở khi hội đồng hỏi đúng chủ đề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VTC_TITLE-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VTC_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VTC_CLOSING-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TC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image21.png">    </p:cNvPr>
          <p:cNvPicPr>
            <a:picLocks noChangeAspect="1"/>
          </p:cNvPicPr>
          <p:nvPr/>
        </p:nvPicPr>
        <p:blipFill>
          <a:blip r:embed="rId1"/>
          <a:stretch>
            <a:fillRect/>
          </a:stretch>
        </p:blipFill>
        <p:spPr>
          <a:xfrm>
            <a:off x="411480" y="274320"/>
            <a:ext cx="2103120" cy="3840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TC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TC_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image21.png">    </p:cNvPr>
          <p:cNvPicPr>
            <a:picLocks noChangeAspect="1"/>
          </p:cNvPicPr>
          <p:nvPr/>
        </p:nvPicPr>
        <p:blipFill>
          <a:blip r:embed="rId1"/>
          <a:stretch>
            <a:fillRect/>
          </a:stretch>
        </p:blipFill>
        <p:spPr>
          <a:xfrm>
            <a:off x="411480" y="274320"/>
            <a:ext cx="2103120" cy="38404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11480" y="1051560"/>
            <a:ext cx="6035040" cy="274320"/>
          </a:xfrm>
          <a:prstGeom prst="rect">
            <a:avLst/>
          </a:prstGeom>
          <a:noFill/>
          <a:ln/>
        </p:spPr>
        <p:txBody>
          <a:bodyPr wrap="square" lIns="0" tIns="0" rIns="0" bIns="0" rtlCol="0" anchor="ctr"/>
          <a:lstStyle/>
          <a:p>
            <a:pPr indent="0" marL="0">
              <a:buNone/>
            </a:pPr>
            <a:r>
              <a:rPr lang="en-US" sz="1400" b="1" spc="200" kern="0" dirty="0">
                <a:solidFill>
                  <a:srgbClr val="BFD0EA"/>
                </a:solidFill>
                <a:latin typeface="Arial" pitchFamily="34" charset="0"/>
                <a:ea typeface="Arial" pitchFamily="34" charset="-122"/>
                <a:cs typeface="Arial" pitchFamily="34" charset="-120"/>
              </a:rPr>
              <a:t>BÁO CÁO ĐỒ ÁN TỐT NGHIỆP</a:t>
            </a:r>
            <a:endParaRPr lang="en-US" sz="1400" dirty="0"/>
          </a:p>
        </p:txBody>
      </p:sp>
      <p:sp>
        <p:nvSpPr>
          <p:cNvPr id="3" name="Text 1"/>
          <p:cNvSpPr txBox="1"/>
          <p:nvPr/>
        </p:nvSpPr>
        <p:spPr>
          <a:xfrm>
            <a:off x="411480" y="1325880"/>
            <a:ext cx="6035040" cy="713232"/>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MAGNETO-DOME</a:t>
            </a:r>
            <a:endParaRPr lang="en-US" sz="4400" dirty="0"/>
          </a:p>
        </p:txBody>
      </p:sp>
      <p:sp>
        <p:nvSpPr>
          <p:cNvPr id="4" name="Text 2"/>
          <p:cNvSpPr txBox="1"/>
          <p:nvPr/>
        </p:nvSpPr>
        <p:spPr>
          <a:xfrm>
            <a:off x="411480" y="2066544"/>
            <a:ext cx="5349240" cy="566928"/>
          </a:xfrm>
          <a:prstGeom prst="rect">
            <a:avLst/>
          </a:prstGeom>
          <a:noFill/>
          <a:ln/>
        </p:spPr>
        <p:txBody>
          <a:bodyPr wrap="square" lIns="0" tIns="0" rIns="0" bIns="0" rtlCol="0" anchor="ctr"/>
          <a:lstStyle/>
          <a:p>
            <a:pPr indent="0" marL="0">
              <a:buNone/>
            </a:pPr>
            <a:r>
              <a:rPr lang="en-US" sz="1500" b="1" dirty="0">
                <a:solidFill>
                  <a:srgbClr val="DCE6F7"/>
                </a:solidFill>
                <a:latin typeface="Arial" pitchFamily="34" charset="0"/>
                <a:ea typeface="Arial" pitchFamily="34" charset="-122"/>
                <a:cs typeface="Arial" pitchFamily="34" charset="-120"/>
              </a:rPr>
              <a:t>GAME FPS ĐỐI KHÁNG 2V2 TRÊN NỀN UNITY VÀ PHOTON FUSION 2</a:t>
            </a:r>
            <a:endParaRPr lang="en-US" sz="1500" dirty="0"/>
          </a:p>
        </p:txBody>
      </p:sp>
      <p:sp>
        <p:nvSpPr>
          <p:cNvPr id="5" name="Shape 3"/>
          <p:cNvSpPr/>
          <p:nvPr/>
        </p:nvSpPr>
        <p:spPr>
          <a:xfrm>
            <a:off x="429768" y="2724912"/>
            <a:ext cx="146304" cy="146304"/>
          </a:xfrm>
          <a:prstGeom prst="ellipse">
            <a:avLst/>
          </a:prstGeom>
          <a:solidFill>
            <a:srgbClr val="E8453C"/>
          </a:solidFill>
          <a:ln w="12700">
            <a:solidFill>
              <a:srgbClr val="333333"/>
            </a:solidFill>
            <a:prstDash val="solid"/>
          </a:ln>
        </p:spPr>
      </p:sp>
      <p:sp>
        <p:nvSpPr>
          <p:cNvPr id="6" name="Shape 4"/>
          <p:cNvSpPr/>
          <p:nvPr/>
        </p:nvSpPr>
        <p:spPr>
          <a:xfrm>
            <a:off x="649224" y="2724912"/>
            <a:ext cx="146304" cy="146304"/>
          </a:xfrm>
          <a:prstGeom prst="ellipse">
            <a:avLst/>
          </a:prstGeom>
          <a:solidFill>
            <a:srgbClr val="2E86DE"/>
          </a:solidFill>
          <a:ln w="12700">
            <a:solidFill>
              <a:srgbClr val="333333"/>
            </a:solidFill>
            <a:prstDash val="solid"/>
          </a:ln>
        </p:spPr>
      </p:sp>
      <p:sp>
        <p:nvSpPr>
          <p:cNvPr id="7" name="Text 5"/>
          <p:cNvSpPr txBox="1"/>
          <p:nvPr/>
        </p:nvSpPr>
        <p:spPr>
          <a:xfrm>
            <a:off x="411480" y="3154680"/>
            <a:ext cx="4754880" cy="1371600"/>
          </a:xfrm>
          <a:prstGeom prst="rect">
            <a:avLst/>
          </a:prstGeom>
          <a:noFill/>
          <a:ln/>
        </p:spPr>
        <p:txBody>
          <a:bodyPr wrap="square" lIns="0" tIns="0" rIns="0" bIns="0" rtlCol="0" anchor="ctr"/>
          <a:lstStyle/>
          <a:p>
            <a:pPr indent="0" marL="0">
              <a:spcAft>
                <a:spcPts val="400"/>
              </a:spcAft>
              <a:buNone/>
            </a:pPr>
            <a:r>
              <a:rPr lang="en-US" sz="1300" dirty="0">
                <a:solidFill>
                  <a:srgbClr val="BFD0EA"/>
                </a:solidFill>
                <a:latin typeface="Arial" pitchFamily="34" charset="0"/>
                <a:ea typeface="Arial" pitchFamily="34" charset="-122"/>
                <a:cs typeface="Arial" pitchFamily="34" charset="-120"/>
              </a:rPr>
              <a:t>Học viên thực hiện: </a:t>
            </a:r>
            <a:pPr indent="0" marL="0">
              <a:spcAft>
                <a:spcPts val="400"/>
              </a:spcAft>
              <a:buNone/>
            </a:pPr>
            <a:r>
              <a:rPr lang="en-US" sz="1300" b="1" dirty="0">
                <a:solidFill>
                  <a:srgbClr val="FFFFFF"/>
                </a:solidFill>
                <a:latin typeface="Arial" pitchFamily="34" charset="0"/>
                <a:ea typeface="Arial" pitchFamily="34" charset="-122"/>
                <a:cs typeface="Arial" pitchFamily="34" charset="-120"/>
              </a:rPr>
              <a:t>Nguyễn Hoàng Gia Khiêm</a:t>
            </a:r>
            <a:endParaRPr lang="en-US" sz="1300" dirty="0"/>
          </a:p>
          <a:p>
            <a:pPr indent="0" marL="0">
              <a:spcAft>
                <a:spcPts val="400"/>
              </a:spcAft>
              <a:buNone/>
            </a:pPr>
            <a:r>
              <a:rPr lang="en-US" sz="1300" dirty="0">
                <a:solidFill>
                  <a:srgbClr val="BFD0EA"/>
                </a:solidFill>
                <a:latin typeface="Arial" pitchFamily="34" charset="0"/>
                <a:ea typeface="Arial" pitchFamily="34" charset="-122"/>
                <a:cs typeface="Arial" pitchFamily="34" charset="-120"/>
              </a:rPr>
              <a:t>Giảng viên hướng dẫn: </a:t>
            </a:r>
            <a:pPr indent="0" marL="0">
              <a:spcAft>
                <a:spcPts val="400"/>
              </a:spcAft>
              <a:buNone/>
            </a:pPr>
            <a:r>
              <a:rPr lang="en-US" sz="1300" b="1" dirty="0">
                <a:solidFill>
                  <a:srgbClr val="FFFFFF"/>
                </a:solidFill>
                <a:latin typeface="Arial" pitchFamily="34" charset="0"/>
                <a:ea typeface="Arial" pitchFamily="34" charset="-122"/>
                <a:cs typeface="Arial" pitchFamily="34" charset="-120"/>
              </a:rPr>
              <a:t>Phạm Thị Hằng</a:t>
            </a:r>
            <a:endParaRPr lang="en-US" sz="1300" dirty="0"/>
          </a:p>
          <a:p>
            <a:pPr indent="0" marL="0">
              <a:spcAft>
                <a:spcPts val="400"/>
              </a:spcAft>
              <a:buNone/>
            </a:pPr>
            <a:r>
              <a:rPr lang="en-US" sz="1300" dirty="0">
                <a:solidFill>
                  <a:srgbClr val="BFD0EA"/>
                </a:solidFill>
                <a:latin typeface="Arial" pitchFamily="34" charset="0"/>
                <a:ea typeface="Arial" pitchFamily="34" charset="-122"/>
                <a:cs typeface="Arial" pitchFamily="34" charset="-120"/>
              </a:rPr>
              <a:t>Lớp: </a:t>
            </a:r>
            <a:pPr indent="0" marL="0">
              <a:spcAft>
                <a:spcPts val="400"/>
              </a:spcAft>
              <a:buNone/>
            </a:pPr>
            <a:r>
              <a:rPr lang="en-US" sz="1300" b="1" dirty="0">
                <a:solidFill>
                  <a:srgbClr val="FFFFFF"/>
                </a:solidFill>
                <a:latin typeface="Arial" pitchFamily="34" charset="0"/>
                <a:ea typeface="Arial" pitchFamily="34" charset="-122"/>
                <a:cs typeface="Arial" pitchFamily="34" charset="-120"/>
              </a:rPr>
              <a:t>K24M-GAME1</a:t>
            </a:r>
            <a:endParaRPr lang="en-US" sz="1300" dirty="0"/>
          </a:p>
          <a:p>
            <a:pPr indent="0" marL="0">
              <a:spcAft>
                <a:spcPts val="400"/>
              </a:spcAft>
              <a:buNone/>
            </a:pPr>
            <a:r>
              <a:rPr lang="en-US" sz="1300" dirty="0">
                <a:solidFill>
                  <a:srgbClr val="BFD0EA"/>
                </a:solidFill>
                <a:latin typeface="Arial" pitchFamily="34" charset="0"/>
                <a:ea typeface="Arial" pitchFamily="34" charset="-122"/>
                <a:cs typeface="Arial" pitchFamily="34" charset="-120"/>
              </a:rPr>
              <a:t>Khóa: </a:t>
            </a:r>
            <a:pPr indent="0" marL="0">
              <a:spcAft>
                <a:spcPts val="400"/>
              </a:spcAft>
              <a:buNone/>
            </a:pPr>
            <a:r>
              <a:rPr lang="en-US" sz="1300" b="1" dirty="0">
                <a:solidFill>
                  <a:srgbClr val="FFFFFF"/>
                </a:solidFill>
                <a:latin typeface="Arial" pitchFamily="34" charset="0"/>
                <a:ea typeface="Arial" pitchFamily="34" charset="-122"/>
                <a:cs typeface="Arial" pitchFamily="34" charset="-120"/>
              </a:rPr>
              <a:t>2024 - 2026</a:t>
            </a:r>
            <a:endParaRPr lang="en-US" sz="1300" dirty="0"/>
          </a:p>
        </p:txBody>
      </p:sp>
      <p:pic>
        <p:nvPicPr>
          <p:cNvPr id="8" name="Image 0" descr="img/icon.png">    </p:cNvPr>
          <p:cNvPicPr>
            <a:picLocks noChangeAspect="1"/>
          </p:cNvPicPr>
          <p:nvPr/>
        </p:nvPicPr>
        <p:blipFill>
          <a:blip r:embed="rId1"/>
          <a:stretch>
            <a:fillRect/>
          </a:stretch>
        </p:blipFill>
        <p:spPr>
          <a:xfrm>
            <a:off x="5897880" y="1372223"/>
            <a:ext cx="2834640" cy="27419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NỘI DUNG</a:t>
            </a:r>
            <a:endParaRPr lang="en-US" sz="1700" dirty="0"/>
          </a:p>
        </p:txBody>
      </p:sp>
      <p:sp>
        <p:nvSpPr>
          <p:cNvPr id="3" name="muc1"/>
          <p:cNvSpPr/>
          <p:nvPr/>
        </p:nvSpPr>
        <p:spPr>
          <a:xfrm>
            <a:off x="411480" y="1078992"/>
            <a:ext cx="2697480" cy="1024128"/>
          </a:xfrm>
          <a:prstGeom prst="roundRect">
            <a:avLst>
              <a:gd name="adj" fmla="val 5357"/>
            </a:avLst>
          </a:prstGeom>
          <a:solidFill>
            <a:srgbClr val="EFF3FA"/>
          </a:solidFill>
          <a:ln w="12700">
            <a:solidFill>
              <a:srgbClr val="C7D2E6"/>
            </a:solidFill>
            <a:prstDash val="solid"/>
          </a:ln>
        </p:spPr>
      </p:sp>
      <p:sp>
        <p:nvSpPr>
          <p:cNvPr id="4" name="Text 2"/>
          <p:cNvSpPr txBox="1"/>
          <p:nvPr/>
        </p:nvSpPr>
        <p:spPr>
          <a:xfrm>
            <a:off x="539496" y="1152144"/>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01</a:t>
            </a:r>
            <a:endParaRPr lang="en-US" sz="1500" dirty="0"/>
          </a:p>
        </p:txBody>
      </p:sp>
      <p:sp>
        <p:nvSpPr>
          <p:cNvPr id="5" name="Text 3"/>
          <p:cNvSpPr txBox="1"/>
          <p:nvPr/>
        </p:nvSpPr>
        <p:spPr>
          <a:xfrm>
            <a:off x="539496" y="1463040"/>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GIỚI THIỆU ĐỀ TÀI</a:t>
            </a:r>
            <a:endParaRPr lang="en-US" sz="1300" dirty="0"/>
          </a:p>
        </p:txBody>
      </p:sp>
      <p:sp>
        <p:nvSpPr>
          <p:cNvPr id="6" name="muc2"/>
          <p:cNvSpPr/>
          <p:nvPr/>
        </p:nvSpPr>
        <p:spPr>
          <a:xfrm>
            <a:off x="3346704" y="1078992"/>
            <a:ext cx="2697480" cy="1024128"/>
          </a:xfrm>
          <a:prstGeom prst="roundRect">
            <a:avLst>
              <a:gd name="adj" fmla="val 5357"/>
            </a:avLst>
          </a:prstGeom>
          <a:solidFill>
            <a:srgbClr val="EFF3FA"/>
          </a:solidFill>
          <a:ln w="12700">
            <a:solidFill>
              <a:srgbClr val="C7D2E6"/>
            </a:solidFill>
            <a:prstDash val="solid"/>
          </a:ln>
        </p:spPr>
      </p:sp>
      <p:sp>
        <p:nvSpPr>
          <p:cNvPr id="7" name="Text 5"/>
          <p:cNvSpPr txBox="1"/>
          <p:nvPr/>
        </p:nvSpPr>
        <p:spPr>
          <a:xfrm>
            <a:off x="3474720" y="1152144"/>
            <a:ext cx="548640" cy="292608"/>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02</a:t>
            </a:r>
            <a:endParaRPr lang="en-US" sz="1500" dirty="0"/>
          </a:p>
        </p:txBody>
      </p:sp>
      <p:sp>
        <p:nvSpPr>
          <p:cNvPr id="8" name="Text 6"/>
          <p:cNvSpPr txBox="1"/>
          <p:nvPr/>
        </p:nvSpPr>
        <p:spPr>
          <a:xfrm>
            <a:off x="3474720" y="1463040"/>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MỤC TIÊU</a:t>
            </a:r>
            <a:endParaRPr lang="en-US" sz="1300" dirty="0"/>
          </a:p>
        </p:txBody>
      </p:sp>
      <p:sp>
        <p:nvSpPr>
          <p:cNvPr id="9" name="muc3"/>
          <p:cNvSpPr/>
          <p:nvPr/>
        </p:nvSpPr>
        <p:spPr>
          <a:xfrm>
            <a:off x="6281928" y="1078992"/>
            <a:ext cx="2697480" cy="1024128"/>
          </a:xfrm>
          <a:prstGeom prst="roundRect">
            <a:avLst>
              <a:gd name="adj" fmla="val 5357"/>
            </a:avLst>
          </a:prstGeom>
          <a:solidFill>
            <a:srgbClr val="EFF3FA"/>
          </a:solidFill>
          <a:ln w="12700">
            <a:solidFill>
              <a:srgbClr val="C7D2E6"/>
            </a:solidFill>
            <a:prstDash val="solid"/>
          </a:ln>
        </p:spPr>
      </p:sp>
      <p:sp>
        <p:nvSpPr>
          <p:cNvPr id="10" name="Text 8"/>
          <p:cNvSpPr txBox="1"/>
          <p:nvPr/>
        </p:nvSpPr>
        <p:spPr>
          <a:xfrm>
            <a:off x="6409944" y="1152144"/>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03</a:t>
            </a:r>
            <a:endParaRPr lang="en-US" sz="1500" dirty="0"/>
          </a:p>
        </p:txBody>
      </p:sp>
      <p:sp>
        <p:nvSpPr>
          <p:cNvPr id="11" name="Text 9"/>
          <p:cNvSpPr txBox="1"/>
          <p:nvPr/>
        </p:nvSpPr>
        <p:spPr>
          <a:xfrm>
            <a:off x="6409944" y="1463040"/>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TECH STACK</a:t>
            </a:r>
            <a:endParaRPr lang="en-US" sz="1300" dirty="0"/>
          </a:p>
        </p:txBody>
      </p:sp>
      <p:sp>
        <p:nvSpPr>
          <p:cNvPr id="12" name="muc4"/>
          <p:cNvSpPr/>
          <p:nvPr/>
        </p:nvSpPr>
        <p:spPr>
          <a:xfrm>
            <a:off x="411480" y="2286000"/>
            <a:ext cx="2697480" cy="1024128"/>
          </a:xfrm>
          <a:prstGeom prst="roundRect">
            <a:avLst>
              <a:gd name="adj" fmla="val 5357"/>
            </a:avLst>
          </a:prstGeom>
          <a:solidFill>
            <a:srgbClr val="EFF3FA"/>
          </a:solidFill>
          <a:ln w="12700">
            <a:solidFill>
              <a:srgbClr val="C7D2E6"/>
            </a:solidFill>
            <a:prstDash val="solid"/>
          </a:ln>
        </p:spPr>
      </p:sp>
      <p:sp>
        <p:nvSpPr>
          <p:cNvPr id="13" name="Text 11"/>
          <p:cNvSpPr txBox="1"/>
          <p:nvPr/>
        </p:nvSpPr>
        <p:spPr>
          <a:xfrm>
            <a:off x="539496" y="2359152"/>
            <a:ext cx="548640" cy="292608"/>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04</a:t>
            </a:r>
            <a:endParaRPr lang="en-US" sz="1500" dirty="0"/>
          </a:p>
        </p:txBody>
      </p:sp>
      <p:sp>
        <p:nvSpPr>
          <p:cNvPr id="14" name="Text 12"/>
          <p:cNvSpPr txBox="1"/>
          <p:nvPr/>
        </p:nvSpPr>
        <p:spPr>
          <a:xfrm>
            <a:off x="539496" y="2670048"/>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PHÂN TÍCH &amp; THIẾT KẾ</a:t>
            </a:r>
            <a:endParaRPr lang="en-US" sz="1300" dirty="0"/>
          </a:p>
        </p:txBody>
      </p:sp>
      <p:sp>
        <p:nvSpPr>
          <p:cNvPr id="15" name="muc5"/>
          <p:cNvSpPr/>
          <p:nvPr/>
        </p:nvSpPr>
        <p:spPr>
          <a:xfrm>
            <a:off x="3346704" y="2286000"/>
            <a:ext cx="2697480" cy="1024128"/>
          </a:xfrm>
          <a:prstGeom prst="roundRect">
            <a:avLst>
              <a:gd name="adj" fmla="val 5357"/>
            </a:avLst>
          </a:prstGeom>
          <a:solidFill>
            <a:srgbClr val="EFF3FA"/>
          </a:solidFill>
          <a:ln w="12700">
            <a:solidFill>
              <a:srgbClr val="C7D2E6"/>
            </a:solidFill>
            <a:prstDash val="solid"/>
          </a:ln>
        </p:spPr>
      </p:sp>
      <p:sp>
        <p:nvSpPr>
          <p:cNvPr id="16" name="Text 14"/>
          <p:cNvSpPr txBox="1"/>
          <p:nvPr/>
        </p:nvSpPr>
        <p:spPr>
          <a:xfrm>
            <a:off x="3474720" y="2359152"/>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05</a:t>
            </a:r>
            <a:endParaRPr lang="en-US" sz="1500" dirty="0"/>
          </a:p>
        </p:txBody>
      </p:sp>
      <p:sp>
        <p:nvSpPr>
          <p:cNvPr id="17" name="Text 15"/>
          <p:cNvSpPr txBox="1"/>
          <p:nvPr/>
        </p:nvSpPr>
        <p:spPr>
          <a:xfrm>
            <a:off x="3474720" y="2670048"/>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QUY TRÌNH PHÁT TRIỂN</a:t>
            </a:r>
            <a:endParaRPr lang="en-US" sz="1300" dirty="0"/>
          </a:p>
        </p:txBody>
      </p:sp>
      <p:sp>
        <p:nvSpPr>
          <p:cNvPr id="18" name="muc6"/>
          <p:cNvSpPr/>
          <p:nvPr/>
        </p:nvSpPr>
        <p:spPr>
          <a:xfrm>
            <a:off x="6281928" y="2286000"/>
            <a:ext cx="2697480" cy="1024128"/>
          </a:xfrm>
          <a:prstGeom prst="roundRect">
            <a:avLst>
              <a:gd name="adj" fmla="val 5357"/>
            </a:avLst>
          </a:prstGeom>
          <a:solidFill>
            <a:srgbClr val="EFF3FA"/>
          </a:solidFill>
          <a:ln w="12700">
            <a:solidFill>
              <a:srgbClr val="C7D2E6"/>
            </a:solidFill>
            <a:prstDash val="solid"/>
          </a:ln>
        </p:spPr>
      </p:sp>
      <p:sp>
        <p:nvSpPr>
          <p:cNvPr id="19" name="Text 17"/>
          <p:cNvSpPr txBox="1"/>
          <p:nvPr/>
        </p:nvSpPr>
        <p:spPr>
          <a:xfrm>
            <a:off x="6409944" y="2359152"/>
            <a:ext cx="548640" cy="292608"/>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06</a:t>
            </a:r>
            <a:endParaRPr lang="en-US" sz="1500" dirty="0"/>
          </a:p>
        </p:txBody>
      </p:sp>
      <p:sp>
        <p:nvSpPr>
          <p:cNvPr id="20" name="Text 18"/>
          <p:cNvSpPr txBox="1"/>
          <p:nvPr/>
        </p:nvSpPr>
        <p:spPr>
          <a:xfrm>
            <a:off x="6409944" y="2670048"/>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DEMO TRỰC TIẾP</a:t>
            </a:r>
            <a:endParaRPr lang="en-US" sz="1300" dirty="0"/>
          </a:p>
        </p:txBody>
      </p:sp>
      <p:sp>
        <p:nvSpPr>
          <p:cNvPr id="21" name="muc7"/>
          <p:cNvSpPr/>
          <p:nvPr/>
        </p:nvSpPr>
        <p:spPr>
          <a:xfrm>
            <a:off x="411480" y="3493008"/>
            <a:ext cx="2697480" cy="1024128"/>
          </a:xfrm>
          <a:prstGeom prst="roundRect">
            <a:avLst>
              <a:gd name="adj" fmla="val 5357"/>
            </a:avLst>
          </a:prstGeom>
          <a:solidFill>
            <a:srgbClr val="EFF3FA"/>
          </a:solidFill>
          <a:ln w="12700">
            <a:solidFill>
              <a:srgbClr val="C7D2E6"/>
            </a:solidFill>
            <a:prstDash val="solid"/>
          </a:ln>
        </p:spPr>
      </p:sp>
      <p:sp>
        <p:nvSpPr>
          <p:cNvPr id="22" name="Text 20"/>
          <p:cNvSpPr txBox="1"/>
          <p:nvPr/>
        </p:nvSpPr>
        <p:spPr>
          <a:xfrm>
            <a:off x="539496" y="3566160"/>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07</a:t>
            </a:r>
            <a:endParaRPr lang="en-US" sz="1500" dirty="0"/>
          </a:p>
        </p:txBody>
      </p:sp>
      <p:sp>
        <p:nvSpPr>
          <p:cNvPr id="23" name="Text 21"/>
          <p:cNvSpPr txBox="1"/>
          <p:nvPr/>
        </p:nvSpPr>
        <p:spPr>
          <a:xfrm>
            <a:off x="539496" y="3877056"/>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KẾT QUẢ ĐẠT ĐƯỢC</a:t>
            </a:r>
            <a:endParaRPr lang="en-US" sz="1300" dirty="0"/>
          </a:p>
        </p:txBody>
      </p:sp>
      <p:sp>
        <p:nvSpPr>
          <p:cNvPr id="24" name="muc8"/>
          <p:cNvSpPr/>
          <p:nvPr/>
        </p:nvSpPr>
        <p:spPr>
          <a:xfrm>
            <a:off x="3346704" y="3493008"/>
            <a:ext cx="2697480" cy="1024128"/>
          </a:xfrm>
          <a:prstGeom prst="roundRect">
            <a:avLst>
              <a:gd name="adj" fmla="val 5357"/>
            </a:avLst>
          </a:prstGeom>
          <a:solidFill>
            <a:srgbClr val="EFF3FA"/>
          </a:solidFill>
          <a:ln w="12700">
            <a:solidFill>
              <a:srgbClr val="C7D2E6"/>
            </a:solidFill>
            <a:prstDash val="solid"/>
          </a:ln>
        </p:spPr>
      </p:sp>
      <p:sp>
        <p:nvSpPr>
          <p:cNvPr id="25" name="Text 23"/>
          <p:cNvSpPr txBox="1"/>
          <p:nvPr/>
        </p:nvSpPr>
        <p:spPr>
          <a:xfrm>
            <a:off x="3474720" y="3566160"/>
            <a:ext cx="548640" cy="292608"/>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08</a:t>
            </a:r>
            <a:endParaRPr lang="en-US" sz="1500" dirty="0"/>
          </a:p>
        </p:txBody>
      </p:sp>
      <p:sp>
        <p:nvSpPr>
          <p:cNvPr id="26" name="Text 24"/>
          <p:cNvSpPr txBox="1"/>
          <p:nvPr/>
        </p:nvSpPr>
        <p:spPr>
          <a:xfrm>
            <a:off x="3474720" y="3877056"/>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HƯỚNG PHÁT TRIỂN</a:t>
            </a:r>
            <a:endParaRPr lang="en-US" sz="1300" dirty="0"/>
          </a:p>
        </p:txBody>
      </p:sp>
      <p:sp>
        <p:nvSpPr>
          <p:cNvPr id="27" name="muc9"/>
          <p:cNvSpPr/>
          <p:nvPr/>
        </p:nvSpPr>
        <p:spPr>
          <a:xfrm>
            <a:off x="6281928" y="3493008"/>
            <a:ext cx="2697480" cy="1024128"/>
          </a:xfrm>
          <a:prstGeom prst="roundRect">
            <a:avLst>
              <a:gd name="adj" fmla="val 5357"/>
            </a:avLst>
          </a:prstGeom>
          <a:solidFill>
            <a:srgbClr val="EFF3FA"/>
          </a:solidFill>
          <a:ln w="12700">
            <a:solidFill>
              <a:srgbClr val="C7D2E6"/>
            </a:solidFill>
            <a:prstDash val="solid"/>
          </a:ln>
        </p:spPr>
      </p:sp>
      <p:sp>
        <p:nvSpPr>
          <p:cNvPr id="28" name="Text 26"/>
          <p:cNvSpPr txBox="1"/>
          <p:nvPr/>
        </p:nvSpPr>
        <p:spPr>
          <a:xfrm>
            <a:off x="6409944" y="3566160"/>
            <a:ext cx="548640" cy="292608"/>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09</a:t>
            </a:r>
            <a:endParaRPr lang="en-US" sz="1500" dirty="0"/>
          </a:p>
        </p:txBody>
      </p:sp>
      <p:sp>
        <p:nvSpPr>
          <p:cNvPr id="29" name="Text 27"/>
          <p:cNvSpPr txBox="1"/>
          <p:nvPr/>
        </p:nvSpPr>
        <p:spPr>
          <a:xfrm>
            <a:off x="6409944" y="3877056"/>
            <a:ext cx="2441448" cy="530352"/>
          </a:xfrm>
          <a:prstGeom prst="rect">
            <a:avLst/>
          </a:prstGeom>
          <a:noFill/>
          <a:ln/>
        </p:spPr>
        <p:txBody>
          <a:bodyPr wrap="square" lIns="0" tIns="0" rIns="0" bIns="0" rtlCol="0" anchor="t"/>
          <a:lstStyle/>
          <a:p>
            <a:pPr indent="0" marL="0">
              <a:buNone/>
            </a:pPr>
            <a:r>
              <a:rPr lang="en-US" sz="1300" b="1" dirty="0">
                <a:solidFill>
                  <a:srgbClr val="002060"/>
                </a:solidFill>
                <a:latin typeface="Arial" pitchFamily="34" charset="0"/>
                <a:ea typeface="Arial" pitchFamily="34" charset="-122"/>
                <a:cs typeface="Arial" pitchFamily="34" charset="-120"/>
              </a:rPr>
              <a:t>KẾT LUẬN</a:t>
            </a:r>
            <a:endParaRPr lang="en-US" sz="13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1. GIỚI THIỆU ĐỀ TÀI</a:t>
            </a:r>
            <a:endParaRPr lang="en-US" sz="1700" dirty="0"/>
          </a:p>
        </p:txBody>
      </p:sp>
      <p:sp>
        <p:nvSpPr>
          <p:cNvPr id="3" name="Text 1"/>
          <p:cNvSpPr txBox="1"/>
          <p:nvPr/>
        </p:nvSpPr>
        <p:spPr>
          <a:xfrm>
            <a:off x="411480" y="868680"/>
            <a:ext cx="8321040" cy="658368"/>
          </a:xfrm>
          <a:prstGeom prst="rect">
            <a:avLst/>
          </a:prstGeom>
          <a:noFill/>
          <a:ln/>
        </p:spPr>
        <p:txBody>
          <a:bodyPr wrap="square" lIns="0" tIns="0" rIns="0" bIns="0" rtlCol="0" anchor="t"/>
          <a:lstStyle/>
          <a:p>
            <a:pPr indent="0" marL="0">
              <a:buNone/>
            </a:pPr>
            <a:r>
              <a:rPr lang="en-US" sz="1400" b="1" dirty="0">
                <a:solidFill>
                  <a:srgbClr val="002060"/>
                </a:solidFill>
                <a:latin typeface="Arial" pitchFamily="34" charset="0"/>
                <a:ea typeface="Arial" pitchFamily="34" charset="-122"/>
                <a:cs typeface="Arial" pitchFamily="34" charset="-120"/>
              </a:rPr>
              <a:t>Magneto-Dome</a:t>
            </a:r>
            <a:pPr indent="0" marL="0">
              <a:buNone/>
            </a:pPr>
            <a:r>
              <a:rPr lang="en-US" sz="1400" dirty="0">
                <a:solidFill>
                  <a:srgbClr val="1A1A1A"/>
                </a:solidFill>
                <a:latin typeface="Arial" pitchFamily="34" charset="0"/>
                <a:ea typeface="Arial" pitchFamily="34" charset="-122"/>
                <a:cs typeface="Arial" pitchFamily="34" charset="-120"/>
              </a:rPr>
              <a:t> là game bắn súng góc nhìn thứ nhất 2 đấu 2 theo vòng, diễn ra trên một hòn đảo lơ lửng. Người chơi </a:t>
            </a:r>
            <a:pPr indent="0" marL="0">
              <a:buNone/>
            </a:pPr>
            <a:r>
              <a:rPr lang="en-US" sz="1400" b="1" dirty="0">
                <a:solidFill>
                  <a:srgbClr val="E8453C"/>
                </a:solidFill>
                <a:latin typeface="Arial" pitchFamily="34" charset="0"/>
                <a:ea typeface="Arial" pitchFamily="34" charset="-122"/>
                <a:cs typeface="Arial" pitchFamily="34" charset="-120"/>
              </a:rPr>
              <a:t>không có súng</a:t>
            </a:r>
            <a:pPr indent="0" marL="0">
              <a:buNone/>
            </a:pPr>
            <a:r>
              <a:rPr lang="en-US" sz="1400" dirty="0">
                <a:solidFill>
                  <a:srgbClr val="1A1A1A"/>
                </a:solidFill>
                <a:latin typeface="Arial" pitchFamily="34" charset="0"/>
                <a:ea typeface="Arial" pitchFamily="34" charset="-122"/>
                <a:cs typeface="Arial" pitchFamily="34" charset="-120"/>
              </a:rPr>
              <a:t> — họ dùng găng tay từ tính nạp điện cho đồ vật trong đấu trường rồi bắn chính những đồ vật đó.</a:t>
            </a:r>
            <a:endParaRPr lang="en-US" sz="1400" dirty="0"/>
          </a:p>
        </p:txBody>
      </p:sp>
      <p:sp>
        <p:nvSpPr>
          <p:cNvPr id="4" name="card"/>
          <p:cNvSpPr/>
          <p:nvPr/>
        </p:nvSpPr>
        <p:spPr>
          <a:xfrm>
            <a:off x="411480" y="1645920"/>
            <a:ext cx="4160520" cy="877824"/>
          </a:xfrm>
          <a:prstGeom prst="roundRect">
            <a:avLst>
              <a:gd name="adj" fmla="val 6250"/>
            </a:avLst>
          </a:prstGeom>
          <a:solidFill>
            <a:srgbClr val="EFF3FA"/>
          </a:solidFill>
          <a:ln w="12700">
            <a:solidFill>
              <a:srgbClr val="C7D2E6"/>
            </a:solidFill>
            <a:prstDash val="solid"/>
          </a:ln>
        </p:spPr>
      </p:sp>
      <p:sp>
        <p:nvSpPr>
          <p:cNvPr id="5" name="Shape 3"/>
          <p:cNvSpPr/>
          <p:nvPr/>
        </p:nvSpPr>
        <p:spPr>
          <a:xfrm>
            <a:off x="557784" y="1783080"/>
            <a:ext cx="182880" cy="182880"/>
          </a:xfrm>
          <a:prstGeom prst="ellipse">
            <a:avLst/>
          </a:prstGeom>
          <a:solidFill>
            <a:srgbClr val="E8453C"/>
          </a:solidFill>
          <a:ln w="12700">
            <a:solidFill>
              <a:srgbClr val="333333"/>
            </a:solidFill>
            <a:prstDash val="solid"/>
          </a:ln>
        </p:spPr>
      </p:sp>
      <p:sp>
        <p:nvSpPr>
          <p:cNvPr id="6" name="Text 4"/>
          <p:cNvSpPr txBox="1"/>
          <p:nvPr/>
        </p:nvSpPr>
        <p:spPr>
          <a:xfrm>
            <a:off x="822960" y="1719072"/>
            <a:ext cx="356616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KHÔNG SÚNG ĐẠN</a:t>
            </a:r>
            <a:endParaRPr lang="en-US" sz="1250" dirty="0"/>
          </a:p>
        </p:txBody>
      </p:sp>
      <p:sp>
        <p:nvSpPr>
          <p:cNvPr id="7" name="Text 5"/>
          <p:cNvSpPr txBox="1"/>
          <p:nvPr/>
        </p:nvSpPr>
        <p:spPr>
          <a:xfrm>
            <a:off x="557784" y="2011680"/>
            <a:ext cx="3886200" cy="457200"/>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Vũ khí là bàn, ghế, cây, đá có sẵn trong map. Hết đồ quanh mình là hết đạn.</a:t>
            </a:r>
            <a:endParaRPr lang="en-US" sz="1100" dirty="0"/>
          </a:p>
        </p:txBody>
      </p:sp>
      <p:sp>
        <p:nvSpPr>
          <p:cNvPr id="8" name="card"/>
          <p:cNvSpPr/>
          <p:nvPr/>
        </p:nvSpPr>
        <p:spPr>
          <a:xfrm>
            <a:off x="411480" y="2615184"/>
            <a:ext cx="4160520" cy="877824"/>
          </a:xfrm>
          <a:prstGeom prst="roundRect">
            <a:avLst>
              <a:gd name="adj" fmla="val 6250"/>
            </a:avLst>
          </a:prstGeom>
          <a:solidFill>
            <a:srgbClr val="EFF3FA"/>
          </a:solidFill>
          <a:ln w="12700">
            <a:solidFill>
              <a:srgbClr val="C7D2E6"/>
            </a:solidFill>
            <a:prstDash val="solid"/>
          </a:ln>
        </p:spPr>
      </p:sp>
      <p:sp>
        <p:nvSpPr>
          <p:cNvPr id="9" name="Shape 7"/>
          <p:cNvSpPr/>
          <p:nvPr/>
        </p:nvSpPr>
        <p:spPr>
          <a:xfrm>
            <a:off x="557784" y="2752344"/>
            <a:ext cx="182880" cy="182880"/>
          </a:xfrm>
          <a:prstGeom prst="ellipse">
            <a:avLst/>
          </a:prstGeom>
          <a:solidFill>
            <a:srgbClr val="2E86DE"/>
          </a:solidFill>
          <a:ln w="12700">
            <a:solidFill>
              <a:srgbClr val="333333"/>
            </a:solidFill>
            <a:prstDash val="solid"/>
          </a:ln>
        </p:spPr>
      </p:sp>
      <p:sp>
        <p:nvSpPr>
          <p:cNvPr id="10" name="Text 8"/>
          <p:cNvSpPr txBox="1"/>
          <p:nvPr/>
        </p:nvSpPr>
        <p:spPr>
          <a:xfrm>
            <a:off x="822960" y="2688336"/>
            <a:ext cx="356616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KHÔNG THANH MÁU</a:t>
            </a:r>
            <a:endParaRPr lang="en-US" sz="1250" dirty="0"/>
          </a:p>
        </p:txBody>
      </p:sp>
      <p:sp>
        <p:nvSpPr>
          <p:cNvPr id="11" name="Text 9"/>
          <p:cNvSpPr txBox="1"/>
          <p:nvPr/>
        </p:nvSpPr>
        <p:spPr>
          <a:xfrm>
            <a:off x="557784" y="2980944"/>
            <a:ext cx="3886200" cy="457200"/>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Trúng đòn không mất máu mà bị nạp điện. Càng nhiễm điện càng bị hất xa.</a:t>
            </a:r>
            <a:endParaRPr lang="en-US" sz="1100" dirty="0"/>
          </a:p>
        </p:txBody>
      </p:sp>
      <p:sp>
        <p:nvSpPr>
          <p:cNvPr id="12" name="card"/>
          <p:cNvSpPr/>
          <p:nvPr/>
        </p:nvSpPr>
        <p:spPr>
          <a:xfrm>
            <a:off x="411480" y="3584448"/>
            <a:ext cx="4160520" cy="877824"/>
          </a:xfrm>
          <a:prstGeom prst="roundRect">
            <a:avLst>
              <a:gd name="adj" fmla="val 6250"/>
            </a:avLst>
          </a:prstGeom>
          <a:solidFill>
            <a:srgbClr val="EFF3FA"/>
          </a:solidFill>
          <a:ln w="12700">
            <a:solidFill>
              <a:srgbClr val="C7D2E6"/>
            </a:solidFill>
            <a:prstDash val="solid"/>
          </a:ln>
        </p:spPr>
      </p:sp>
      <p:sp>
        <p:nvSpPr>
          <p:cNvPr id="13" name="Shape 11"/>
          <p:cNvSpPr/>
          <p:nvPr/>
        </p:nvSpPr>
        <p:spPr>
          <a:xfrm>
            <a:off x="557784" y="3721608"/>
            <a:ext cx="182880" cy="182880"/>
          </a:xfrm>
          <a:prstGeom prst="ellipse">
            <a:avLst/>
          </a:prstGeom>
          <a:solidFill>
            <a:srgbClr val="002060"/>
          </a:solidFill>
          <a:ln w="12700">
            <a:solidFill>
              <a:srgbClr val="333333"/>
            </a:solidFill>
            <a:prstDash val="solid"/>
          </a:ln>
        </p:spPr>
      </p:sp>
      <p:sp>
        <p:nvSpPr>
          <p:cNvPr id="14" name="Text 12"/>
          <p:cNvSpPr txBox="1"/>
          <p:nvPr/>
        </p:nvSpPr>
        <p:spPr>
          <a:xfrm>
            <a:off x="822960" y="3657600"/>
            <a:ext cx="356616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CHẾT DO VỊ TRÍ</a:t>
            </a:r>
            <a:endParaRPr lang="en-US" sz="1250" dirty="0"/>
          </a:p>
        </p:txBody>
      </p:sp>
      <p:sp>
        <p:nvSpPr>
          <p:cNvPr id="15" name="Text 13"/>
          <p:cNvSpPr txBox="1"/>
          <p:nvPr/>
        </p:nvSpPr>
        <p:spPr>
          <a:xfrm>
            <a:off x="557784" y="3950208"/>
            <a:ext cx="3886200" cy="457200"/>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Cách chết duy nhất là rơi khỏi đảo. Đứng ở đâu quan trọng hơn còn bao nhiêu máu.</a:t>
            </a:r>
            <a:endParaRPr lang="en-US" sz="1100" dirty="0"/>
          </a:p>
        </p:txBody>
      </p:sp>
      <p:pic>
        <p:nvPicPr>
          <p:cNvPr id="16" name="Image 0" descr="img/shot_dao.png">    </p:cNvPr>
          <p:cNvPicPr>
            <a:picLocks noChangeAspect="1"/>
          </p:cNvPicPr>
          <p:nvPr/>
        </p:nvPicPr>
        <p:blipFill>
          <a:blip r:embed="rId1"/>
          <a:stretch>
            <a:fillRect/>
          </a:stretch>
        </p:blipFill>
        <p:spPr>
          <a:xfrm>
            <a:off x="4800600" y="1751937"/>
            <a:ext cx="3931920" cy="2549454"/>
          </a:xfrm>
          <a:prstGeom prst="rect">
            <a:avLst/>
          </a:prstGeom>
        </p:spPr>
      </p:pic>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2. MỤC TIÊU</a:t>
            </a:r>
            <a:endParaRPr lang="en-US" sz="1700" dirty="0"/>
          </a:p>
        </p:txBody>
      </p:sp>
      <p:sp>
        <p:nvSpPr>
          <p:cNvPr id="3" name="card"/>
          <p:cNvSpPr/>
          <p:nvPr/>
        </p:nvSpPr>
        <p:spPr>
          <a:xfrm>
            <a:off x="411480" y="868680"/>
            <a:ext cx="4023360" cy="2103120"/>
          </a:xfrm>
          <a:prstGeom prst="roundRect">
            <a:avLst>
              <a:gd name="adj" fmla="val 2609"/>
            </a:avLst>
          </a:prstGeom>
          <a:solidFill>
            <a:srgbClr val="EFF3FA"/>
          </a:solidFill>
          <a:ln w="12700">
            <a:solidFill>
              <a:srgbClr val="C7D2E6"/>
            </a:solidFill>
            <a:prstDash val="solid"/>
          </a:ln>
        </p:spPr>
      </p:sp>
      <p:sp>
        <p:nvSpPr>
          <p:cNvPr id="4" name="Text 2"/>
          <p:cNvSpPr txBox="1"/>
          <p:nvPr/>
        </p:nvSpPr>
        <p:spPr>
          <a:xfrm>
            <a:off x="594360" y="978408"/>
            <a:ext cx="365760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MỤC TIÊU ĐỀ TÀI</a:t>
            </a:r>
            <a:endParaRPr lang="en-US" sz="1250" dirty="0"/>
          </a:p>
        </p:txBody>
      </p:sp>
      <p:sp>
        <p:nvSpPr>
          <p:cNvPr id="5" name="Text 3"/>
          <p:cNvSpPr txBox="1"/>
          <p:nvPr/>
        </p:nvSpPr>
        <p:spPr>
          <a:xfrm>
            <a:off x="594360" y="1307592"/>
            <a:ext cx="3657600" cy="15544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Xây dựng một game FPS đối kháng 2v2 chơi qua mạng hoàn chỉnh, có thắng thua rõ ràng</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Nghiên cứu và áp dụng Photon Fusion 2 ở chế độ Host Mode</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Thiết kế một cơ chế chiến đấu thay thế hoàn toàn thanh máu truyền thống</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Đồng bộ được vật thể có vật lý qua mạng — phần khó nhất của đề tài</a:t>
            </a:r>
            <a:endParaRPr lang="en-US" sz="1200" dirty="0"/>
          </a:p>
        </p:txBody>
      </p:sp>
      <p:sp>
        <p:nvSpPr>
          <p:cNvPr id="6" name="card"/>
          <p:cNvSpPr/>
          <p:nvPr/>
        </p:nvSpPr>
        <p:spPr>
          <a:xfrm>
            <a:off x="4709160" y="868680"/>
            <a:ext cx="4023360" cy="2103120"/>
          </a:xfrm>
          <a:prstGeom prst="roundRect">
            <a:avLst>
              <a:gd name="adj" fmla="val 2609"/>
            </a:avLst>
          </a:prstGeom>
          <a:solidFill>
            <a:srgbClr val="EFF3FA"/>
          </a:solidFill>
          <a:ln w="12700">
            <a:solidFill>
              <a:srgbClr val="C7D2E6"/>
            </a:solidFill>
            <a:prstDash val="solid"/>
          </a:ln>
        </p:spPr>
      </p:sp>
      <p:sp>
        <p:nvSpPr>
          <p:cNvPr id="7" name="Text 5"/>
          <p:cNvSpPr txBox="1"/>
          <p:nvPr/>
        </p:nvSpPr>
        <p:spPr>
          <a:xfrm>
            <a:off x="4892040" y="978408"/>
            <a:ext cx="365760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PHẠM VI</a:t>
            </a:r>
            <a:endParaRPr lang="en-US" sz="1250" dirty="0"/>
          </a:p>
        </p:txBody>
      </p:sp>
      <p:sp>
        <p:nvSpPr>
          <p:cNvPr id="8" name="Text 6"/>
          <p:cNvSpPr txBox="1"/>
          <p:nvPr/>
        </p:nvSpPr>
        <p:spPr>
          <a:xfrm>
            <a:off x="4892040" y="1307592"/>
            <a:ext cx="3657600" cy="15544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Nền tảng: PC chạy Windows</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Một chế độ chơi, một bản đồ, đúng 4 người mỗi trận</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Không làm bot máy — mọi người chơi đều là người thật</a:t>
            </a:r>
            <a:endParaRPr lang="en-US" sz="1200" dirty="0"/>
          </a:p>
          <a:p>
            <a:pPr marL="342900" indent="-342900">
              <a:lnSpc>
                <a:spcPct val="105000"/>
              </a:lnSpc>
              <a:spcAft>
                <a:spcPts val="700"/>
              </a:spcAft>
              <a:buSzPct val="100000"/>
              <a:buChar char="•"/>
            </a:pPr>
            <a:r>
              <a:rPr lang="en-US" sz="1200" dirty="0">
                <a:solidFill>
                  <a:srgbClr val="1A1A1A"/>
                </a:solidFill>
                <a:latin typeface="Arial" pitchFamily="34" charset="0"/>
                <a:ea typeface="Arial" pitchFamily="34" charset="-122"/>
                <a:cs typeface="Arial" pitchFamily="34" charset="-120"/>
              </a:rPr>
              <a:t>Không làm tài khoản, không lưu tiến trình giữa các trận</a:t>
            </a:r>
            <a:endParaRPr lang="en-US" sz="1200" dirty="0"/>
          </a:p>
        </p:txBody>
      </p:sp>
      <p:sp>
        <p:nvSpPr>
          <p:cNvPr id="9" name="Text 7"/>
          <p:cNvSpPr txBox="1"/>
          <p:nvPr/>
        </p:nvSpPr>
        <p:spPr>
          <a:xfrm>
            <a:off x="411480" y="3154680"/>
            <a:ext cx="365760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CHỈ TIÊU KỸ THUẬT</a:t>
            </a:r>
            <a:endParaRPr lang="en-US" sz="1250" dirty="0"/>
          </a:p>
        </p:txBody>
      </p:sp>
      <p:sp>
        <p:nvSpPr>
          <p:cNvPr id="10" name="card"/>
          <p:cNvSpPr/>
          <p:nvPr/>
        </p:nvSpPr>
        <p:spPr>
          <a:xfrm>
            <a:off x="411480" y="3474720"/>
            <a:ext cx="2011680" cy="1005840"/>
          </a:xfrm>
          <a:prstGeom prst="roundRect">
            <a:avLst>
              <a:gd name="adj" fmla="val 5455"/>
            </a:avLst>
          </a:prstGeom>
          <a:solidFill>
            <a:srgbClr val="EFF3FA"/>
          </a:solidFill>
          <a:ln w="12700">
            <a:solidFill>
              <a:srgbClr val="C7D2E6"/>
            </a:solidFill>
            <a:prstDash val="solid"/>
          </a:ln>
        </p:spPr>
      </p:sp>
      <p:sp>
        <p:nvSpPr>
          <p:cNvPr id="11" name="Text 9"/>
          <p:cNvSpPr txBox="1"/>
          <p:nvPr/>
        </p:nvSpPr>
        <p:spPr>
          <a:xfrm>
            <a:off x="411480" y="3566160"/>
            <a:ext cx="201168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60+</a:t>
            </a:r>
            <a:endParaRPr lang="en-US" sz="3000" dirty="0"/>
          </a:p>
        </p:txBody>
      </p:sp>
      <p:sp>
        <p:nvSpPr>
          <p:cNvPr id="12" name="Text 10"/>
          <p:cNvSpPr txBox="1"/>
          <p:nvPr/>
        </p:nvSpPr>
        <p:spPr>
          <a:xfrm>
            <a:off x="484632" y="4133088"/>
            <a:ext cx="186537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khung hình/giây ở 1920x1080</a:t>
            </a:r>
            <a:endParaRPr lang="en-US" sz="1100" dirty="0"/>
          </a:p>
        </p:txBody>
      </p:sp>
      <p:sp>
        <p:nvSpPr>
          <p:cNvPr id="13" name="card"/>
          <p:cNvSpPr/>
          <p:nvPr/>
        </p:nvSpPr>
        <p:spPr>
          <a:xfrm>
            <a:off x="2606040" y="3474720"/>
            <a:ext cx="2011680" cy="1005840"/>
          </a:xfrm>
          <a:prstGeom prst="roundRect">
            <a:avLst>
              <a:gd name="adj" fmla="val 5455"/>
            </a:avLst>
          </a:prstGeom>
          <a:solidFill>
            <a:srgbClr val="EFF3FA"/>
          </a:solidFill>
          <a:ln w="12700">
            <a:solidFill>
              <a:srgbClr val="C7D2E6"/>
            </a:solidFill>
            <a:prstDash val="solid"/>
          </a:ln>
        </p:spPr>
      </p:sp>
      <p:sp>
        <p:nvSpPr>
          <p:cNvPr id="14" name="Text 12"/>
          <p:cNvSpPr txBox="1"/>
          <p:nvPr/>
        </p:nvSpPr>
        <p:spPr>
          <a:xfrm>
            <a:off x="2606040" y="3566160"/>
            <a:ext cx="2011680" cy="566928"/>
          </a:xfrm>
          <a:prstGeom prst="rect">
            <a:avLst/>
          </a:prstGeom>
          <a:noFill/>
          <a:ln/>
        </p:spPr>
        <p:txBody>
          <a:bodyPr wrap="square" lIns="0" tIns="0" rIns="0" bIns="0" rtlCol="0" anchor="ctr"/>
          <a:lstStyle/>
          <a:p>
            <a:pPr algn="ctr" indent="0" marL="0">
              <a:buNone/>
            </a:pPr>
            <a:r>
              <a:rPr lang="en-US" sz="2200" b="1" dirty="0">
                <a:solidFill>
                  <a:srgbClr val="002060"/>
                </a:solidFill>
                <a:latin typeface="Arial" pitchFamily="34" charset="0"/>
                <a:ea typeface="Arial" pitchFamily="34" charset="-122"/>
                <a:cs typeface="Arial" pitchFamily="34" charset="-120"/>
              </a:rPr>
              <a:t>&lt;100ms</a:t>
            </a:r>
            <a:endParaRPr lang="en-US" sz="2200" dirty="0"/>
          </a:p>
        </p:txBody>
      </p:sp>
      <p:sp>
        <p:nvSpPr>
          <p:cNvPr id="15" name="Text 13"/>
          <p:cNvSpPr txBox="1"/>
          <p:nvPr/>
        </p:nvSpPr>
        <p:spPr>
          <a:xfrm>
            <a:off x="2679192" y="4133088"/>
            <a:ext cx="186537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độ trễ mạng, khu vực asia</a:t>
            </a:r>
            <a:endParaRPr lang="en-US" sz="1100" dirty="0"/>
          </a:p>
        </p:txBody>
      </p:sp>
      <p:sp>
        <p:nvSpPr>
          <p:cNvPr id="16" name="card"/>
          <p:cNvSpPr/>
          <p:nvPr/>
        </p:nvSpPr>
        <p:spPr>
          <a:xfrm>
            <a:off x="4800600" y="3474720"/>
            <a:ext cx="1874520" cy="1005840"/>
          </a:xfrm>
          <a:prstGeom prst="roundRect">
            <a:avLst>
              <a:gd name="adj" fmla="val 5455"/>
            </a:avLst>
          </a:prstGeom>
          <a:solidFill>
            <a:srgbClr val="EFF3FA"/>
          </a:solidFill>
          <a:ln w="12700">
            <a:solidFill>
              <a:srgbClr val="C7D2E6"/>
            </a:solidFill>
            <a:prstDash val="solid"/>
          </a:ln>
        </p:spPr>
      </p:sp>
      <p:sp>
        <p:nvSpPr>
          <p:cNvPr id="17" name="Text 15"/>
          <p:cNvSpPr txBox="1"/>
          <p:nvPr/>
        </p:nvSpPr>
        <p:spPr>
          <a:xfrm>
            <a:off x="4800600" y="3566160"/>
            <a:ext cx="1874520" cy="566928"/>
          </a:xfrm>
          <a:prstGeom prst="rect">
            <a:avLst/>
          </a:prstGeom>
          <a:noFill/>
          <a:ln/>
        </p:spPr>
        <p:txBody>
          <a:bodyPr wrap="square" lIns="0" tIns="0" rIns="0" bIns="0" rtlCol="0" anchor="ctr"/>
          <a:lstStyle/>
          <a:p>
            <a:pPr algn="ctr" indent="0" marL="0">
              <a:buNone/>
            </a:pPr>
            <a:r>
              <a:rPr lang="en-US" sz="3000" b="1" dirty="0">
                <a:solidFill>
                  <a:srgbClr val="E8453C"/>
                </a:solidFill>
                <a:latin typeface="Arial" pitchFamily="34" charset="0"/>
                <a:ea typeface="Arial" pitchFamily="34" charset="-122"/>
                <a:cs typeface="Arial" pitchFamily="34" charset="-120"/>
              </a:rPr>
              <a:t>4</a:t>
            </a:r>
            <a:endParaRPr lang="en-US" sz="3000" dirty="0"/>
          </a:p>
        </p:txBody>
      </p:sp>
      <p:sp>
        <p:nvSpPr>
          <p:cNvPr id="18" name="Text 16"/>
          <p:cNvSpPr txBox="1"/>
          <p:nvPr/>
        </p:nvSpPr>
        <p:spPr>
          <a:xfrm>
            <a:off x="4873752" y="4133088"/>
            <a:ext cx="172821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người chơi mỗi trận</a:t>
            </a:r>
            <a:endParaRPr lang="en-US" sz="1100" dirty="0"/>
          </a:p>
        </p:txBody>
      </p:sp>
      <p:sp>
        <p:nvSpPr>
          <p:cNvPr id="19" name="card"/>
          <p:cNvSpPr/>
          <p:nvPr/>
        </p:nvSpPr>
        <p:spPr>
          <a:xfrm>
            <a:off x="6858000" y="3474720"/>
            <a:ext cx="1874520" cy="1005840"/>
          </a:xfrm>
          <a:prstGeom prst="roundRect">
            <a:avLst>
              <a:gd name="adj" fmla="val 5455"/>
            </a:avLst>
          </a:prstGeom>
          <a:solidFill>
            <a:srgbClr val="EFF3FA"/>
          </a:solidFill>
          <a:ln w="12700">
            <a:solidFill>
              <a:srgbClr val="C7D2E6"/>
            </a:solidFill>
            <a:prstDash val="solid"/>
          </a:ln>
        </p:spPr>
      </p:sp>
      <p:sp>
        <p:nvSpPr>
          <p:cNvPr id="20" name="Text 18"/>
          <p:cNvSpPr txBox="1"/>
          <p:nvPr/>
        </p:nvSpPr>
        <p:spPr>
          <a:xfrm>
            <a:off x="6858000" y="3566160"/>
            <a:ext cx="1874520" cy="566928"/>
          </a:xfrm>
          <a:prstGeom prst="rect">
            <a:avLst/>
          </a:prstGeom>
          <a:noFill/>
          <a:ln/>
        </p:spPr>
        <p:txBody>
          <a:bodyPr wrap="square" lIns="0" tIns="0" rIns="0" bIns="0" rtlCol="0" anchor="ctr"/>
          <a:lstStyle/>
          <a:p>
            <a:pPr algn="ctr" indent="0" marL="0">
              <a:buNone/>
            </a:pPr>
            <a:r>
              <a:rPr lang="en-US" sz="3000" b="1" dirty="0">
                <a:solidFill>
                  <a:srgbClr val="2E86DE"/>
                </a:solidFill>
                <a:latin typeface="Arial" pitchFamily="34" charset="0"/>
                <a:ea typeface="Arial" pitchFamily="34" charset="-122"/>
                <a:cs typeface="Arial" pitchFamily="34" charset="-120"/>
              </a:rPr>
              <a:t>2v2</a:t>
            </a:r>
            <a:endParaRPr lang="en-US" sz="3000" dirty="0"/>
          </a:p>
        </p:txBody>
      </p:sp>
      <p:sp>
        <p:nvSpPr>
          <p:cNvPr id="21" name="Text 19"/>
          <p:cNvSpPr txBox="1"/>
          <p:nvPr/>
        </p:nvSpPr>
        <p:spPr>
          <a:xfrm>
            <a:off x="6931152" y="4133088"/>
            <a:ext cx="172821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chia hai đội Đỏ - Xanh</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3. TECH STACK</a:t>
            </a:r>
            <a:endParaRPr lang="en-US" sz="1700" dirty="0"/>
          </a:p>
        </p:txBody>
      </p:sp>
      <p:sp>
        <p:nvSpPr>
          <p:cNvPr id="3" name="card"/>
          <p:cNvSpPr/>
          <p:nvPr/>
        </p:nvSpPr>
        <p:spPr>
          <a:xfrm>
            <a:off x="411480" y="868680"/>
            <a:ext cx="2697480" cy="1078992"/>
          </a:xfrm>
          <a:prstGeom prst="roundRect">
            <a:avLst>
              <a:gd name="adj" fmla="val 5085"/>
            </a:avLst>
          </a:prstGeom>
          <a:solidFill>
            <a:srgbClr val="EFF3FA"/>
          </a:solidFill>
          <a:ln w="12700">
            <a:solidFill>
              <a:srgbClr val="C7D2E6"/>
            </a:solidFill>
            <a:prstDash val="solid"/>
          </a:ln>
        </p:spPr>
      </p:sp>
      <p:sp>
        <p:nvSpPr>
          <p:cNvPr id="4" name="Text 2"/>
          <p:cNvSpPr txBox="1"/>
          <p:nvPr/>
        </p:nvSpPr>
        <p:spPr>
          <a:xfrm>
            <a:off x="557784" y="978408"/>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Unity 6000.3.17f1</a:t>
            </a:r>
            <a:endParaRPr lang="en-US" sz="1250" dirty="0"/>
          </a:p>
        </p:txBody>
      </p:sp>
      <p:sp>
        <p:nvSpPr>
          <p:cNvPr id="5" name="Text 3"/>
          <p:cNvSpPr txBox="1"/>
          <p:nvPr/>
        </p:nvSpPr>
        <p:spPr>
          <a:xfrm>
            <a:off x="557784" y="1289304"/>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Engine chính. Bản Unity 6 mới nhất.</a:t>
            </a:r>
            <a:endParaRPr lang="en-US" sz="1100" dirty="0"/>
          </a:p>
        </p:txBody>
      </p:sp>
      <p:sp>
        <p:nvSpPr>
          <p:cNvPr id="6" name="card"/>
          <p:cNvSpPr/>
          <p:nvPr/>
        </p:nvSpPr>
        <p:spPr>
          <a:xfrm>
            <a:off x="3346704" y="868680"/>
            <a:ext cx="2697480" cy="1078992"/>
          </a:xfrm>
          <a:prstGeom prst="roundRect">
            <a:avLst>
              <a:gd name="adj" fmla="val 5085"/>
            </a:avLst>
          </a:prstGeom>
          <a:solidFill>
            <a:srgbClr val="EFF3FA"/>
          </a:solidFill>
          <a:ln w="12700">
            <a:solidFill>
              <a:srgbClr val="C7D2E6"/>
            </a:solidFill>
            <a:prstDash val="solid"/>
          </a:ln>
        </p:spPr>
      </p:sp>
      <p:sp>
        <p:nvSpPr>
          <p:cNvPr id="7" name="Text 5"/>
          <p:cNvSpPr txBox="1"/>
          <p:nvPr/>
        </p:nvSpPr>
        <p:spPr>
          <a:xfrm>
            <a:off x="3493008" y="978408"/>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URP 17.3.0</a:t>
            </a:r>
            <a:endParaRPr lang="en-US" sz="1250" dirty="0"/>
          </a:p>
        </p:txBody>
      </p:sp>
      <p:sp>
        <p:nvSpPr>
          <p:cNvPr id="8" name="Text 6"/>
          <p:cNvSpPr txBox="1"/>
          <p:nvPr/>
        </p:nvSpPr>
        <p:spPr>
          <a:xfrm>
            <a:off x="3493008" y="1289304"/>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Luồng dựng hình. Nhẹ, chạy tốt trên máy cấu hình vừa.</a:t>
            </a:r>
            <a:endParaRPr lang="en-US" sz="1100" dirty="0"/>
          </a:p>
        </p:txBody>
      </p:sp>
      <p:sp>
        <p:nvSpPr>
          <p:cNvPr id="9" name="card"/>
          <p:cNvSpPr/>
          <p:nvPr/>
        </p:nvSpPr>
        <p:spPr>
          <a:xfrm>
            <a:off x="6281928" y="868680"/>
            <a:ext cx="2697480" cy="1078992"/>
          </a:xfrm>
          <a:prstGeom prst="roundRect">
            <a:avLst>
              <a:gd name="adj" fmla="val 5085"/>
            </a:avLst>
          </a:prstGeom>
          <a:solidFill>
            <a:srgbClr val="EFF3FA"/>
          </a:solidFill>
          <a:ln w="12700">
            <a:solidFill>
              <a:srgbClr val="C7D2E6"/>
            </a:solidFill>
            <a:prstDash val="solid"/>
          </a:ln>
        </p:spPr>
      </p:sp>
      <p:sp>
        <p:nvSpPr>
          <p:cNvPr id="10" name="Text 8"/>
          <p:cNvSpPr txBox="1"/>
          <p:nvPr/>
        </p:nvSpPr>
        <p:spPr>
          <a:xfrm>
            <a:off x="6428232" y="978408"/>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Photon Fusion 2</a:t>
            </a:r>
            <a:endParaRPr lang="en-US" sz="1250" dirty="0"/>
          </a:p>
        </p:txBody>
      </p:sp>
      <p:sp>
        <p:nvSpPr>
          <p:cNvPr id="11" name="Text 9"/>
          <p:cNvSpPr txBox="1"/>
          <p:nvPr/>
        </p:nvSpPr>
        <p:spPr>
          <a:xfrm>
            <a:off x="6428232" y="1289304"/>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Khung mạng. Chạy Host Mode, khu vực máy chủ asia.</a:t>
            </a:r>
            <a:endParaRPr lang="en-US" sz="1100" dirty="0"/>
          </a:p>
        </p:txBody>
      </p:sp>
      <p:sp>
        <p:nvSpPr>
          <p:cNvPr id="12" name="card"/>
          <p:cNvSpPr/>
          <p:nvPr/>
        </p:nvSpPr>
        <p:spPr>
          <a:xfrm>
            <a:off x="411480" y="2112264"/>
            <a:ext cx="2697480" cy="1078992"/>
          </a:xfrm>
          <a:prstGeom prst="roundRect">
            <a:avLst>
              <a:gd name="adj" fmla="val 5085"/>
            </a:avLst>
          </a:prstGeom>
          <a:solidFill>
            <a:srgbClr val="EFF3FA"/>
          </a:solidFill>
          <a:ln w="12700">
            <a:solidFill>
              <a:srgbClr val="C7D2E6"/>
            </a:solidFill>
            <a:prstDash val="solid"/>
          </a:ln>
        </p:spPr>
      </p:sp>
      <p:sp>
        <p:nvSpPr>
          <p:cNvPr id="13" name="Text 11"/>
          <p:cNvSpPr txBox="1"/>
          <p:nvPr/>
        </p:nvSpPr>
        <p:spPr>
          <a:xfrm>
            <a:off x="557784" y="2221992"/>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New Input System 1.19</a:t>
            </a:r>
            <a:endParaRPr lang="en-US" sz="1250" dirty="0"/>
          </a:p>
        </p:txBody>
      </p:sp>
      <p:sp>
        <p:nvSpPr>
          <p:cNvPr id="14" name="Text 12"/>
          <p:cNvSpPr txBox="1"/>
          <p:nvPr/>
        </p:nvSpPr>
        <p:spPr>
          <a:xfrm>
            <a:off x="557784" y="2532888"/>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Đọc phím và chuột, ghép với gói dữ liệu gửi qua mạng.</a:t>
            </a:r>
            <a:endParaRPr lang="en-US" sz="1100" dirty="0"/>
          </a:p>
        </p:txBody>
      </p:sp>
      <p:sp>
        <p:nvSpPr>
          <p:cNvPr id="15" name="card"/>
          <p:cNvSpPr/>
          <p:nvPr/>
        </p:nvSpPr>
        <p:spPr>
          <a:xfrm>
            <a:off x="3346704" y="2112264"/>
            <a:ext cx="2697480" cy="1078992"/>
          </a:xfrm>
          <a:prstGeom prst="roundRect">
            <a:avLst>
              <a:gd name="adj" fmla="val 5085"/>
            </a:avLst>
          </a:prstGeom>
          <a:solidFill>
            <a:srgbClr val="EFF3FA"/>
          </a:solidFill>
          <a:ln w="12700">
            <a:solidFill>
              <a:srgbClr val="C7D2E6"/>
            </a:solidFill>
            <a:prstDash val="solid"/>
          </a:ln>
        </p:spPr>
      </p:sp>
      <p:sp>
        <p:nvSpPr>
          <p:cNvPr id="16" name="Text 14"/>
          <p:cNvSpPr txBox="1"/>
          <p:nvPr/>
        </p:nvSpPr>
        <p:spPr>
          <a:xfrm>
            <a:off x="3493008" y="2221992"/>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ParrelSync</a:t>
            </a:r>
            <a:endParaRPr lang="en-US" sz="1250" dirty="0"/>
          </a:p>
        </p:txBody>
      </p:sp>
      <p:sp>
        <p:nvSpPr>
          <p:cNvPr id="17" name="Text 15"/>
          <p:cNvSpPr txBox="1"/>
          <p:nvPr/>
        </p:nvSpPr>
        <p:spPr>
          <a:xfrm>
            <a:off x="3493008" y="2532888"/>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Nhân bản project để mở 2 client cùng lúc khi thử nghiệm.</a:t>
            </a:r>
            <a:endParaRPr lang="en-US" sz="1100" dirty="0"/>
          </a:p>
        </p:txBody>
      </p:sp>
      <p:sp>
        <p:nvSpPr>
          <p:cNvPr id="18" name="card"/>
          <p:cNvSpPr/>
          <p:nvPr/>
        </p:nvSpPr>
        <p:spPr>
          <a:xfrm>
            <a:off x="6281928" y="2112264"/>
            <a:ext cx="2697480" cy="1078992"/>
          </a:xfrm>
          <a:prstGeom prst="roundRect">
            <a:avLst>
              <a:gd name="adj" fmla="val 5085"/>
            </a:avLst>
          </a:prstGeom>
          <a:solidFill>
            <a:srgbClr val="EFF3FA"/>
          </a:solidFill>
          <a:ln w="12700">
            <a:solidFill>
              <a:srgbClr val="C7D2E6"/>
            </a:solidFill>
            <a:prstDash val="solid"/>
          </a:ln>
        </p:spPr>
      </p:sp>
      <p:sp>
        <p:nvSpPr>
          <p:cNvPr id="19" name="Text 17"/>
          <p:cNvSpPr txBox="1"/>
          <p:nvPr/>
        </p:nvSpPr>
        <p:spPr>
          <a:xfrm>
            <a:off x="6428232" y="2221992"/>
            <a:ext cx="2404872" cy="310896"/>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Visual Studio + Git</a:t>
            </a:r>
            <a:endParaRPr lang="en-US" sz="1250" dirty="0"/>
          </a:p>
        </p:txBody>
      </p:sp>
      <p:sp>
        <p:nvSpPr>
          <p:cNvPr id="20" name="Text 18"/>
          <p:cNvSpPr txBox="1"/>
          <p:nvPr/>
        </p:nvSpPr>
        <p:spPr>
          <a:xfrm>
            <a:off x="6428232" y="2532888"/>
            <a:ext cx="2404872" cy="566928"/>
          </a:xfrm>
          <a:prstGeom prst="rect">
            <a:avLst/>
          </a:prstGeom>
          <a:noFill/>
          <a:ln/>
        </p:spPr>
        <p:txBody>
          <a:bodyPr wrap="square" lIns="0" tIns="0" rIns="0" bIns="0" rtlCol="0" anchor="t"/>
          <a:lstStyle/>
          <a:p>
            <a:pPr indent="0" marL="0">
              <a:buNone/>
            </a:pPr>
            <a:r>
              <a:rPr lang="en-US" sz="1100" dirty="0">
                <a:solidFill>
                  <a:srgbClr val="5A6478"/>
                </a:solidFill>
                <a:latin typeface="Arial" pitchFamily="34" charset="0"/>
                <a:ea typeface="Arial" pitchFamily="34" charset="-122"/>
                <a:cs typeface="Arial" pitchFamily="34" charset="-120"/>
              </a:rPr>
              <a:t>Viết mã và quản lý phiên bản.</a:t>
            </a:r>
            <a:endParaRPr lang="en-US" sz="1100" dirty="0"/>
          </a:p>
        </p:txBody>
      </p:sp>
      <p:sp>
        <p:nvSpPr>
          <p:cNvPr id="21" name="card"/>
          <p:cNvSpPr/>
          <p:nvPr/>
        </p:nvSpPr>
        <p:spPr>
          <a:xfrm>
            <a:off x="411480" y="3429000"/>
            <a:ext cx="2834640" cy="960120"/>
          </a:xfrm>
          <a:prstGeom prst="roundRect">
            <a:avLst>
              <a:gd name="adj" fmla="val 5714"/>
            </a:avLst>
          </a:prstGeom>
          <a:solidFill>
            <a:srgbClr val="EFF3FA"/>
          </a:solidFill>
          <a:ln w="12700">
            <a:solidFill>
              <a:srgbClr val="C7D2E6"/>
            </a:solidFill>
            <a:prstDash val="solid"/>
          </a:ln>
        </p:spPr>
      </p:sp>
      <p:sp>
        <p:nvSpPr>
          <p:cNvPr id="22" name="Text 20"/>
          <p:cNvSpPr txBox="1"/>
          <p:nvPr/>
        </p:nvSpPr>
        <p:spPr>
          <a:xfrm>
            <a:off x="411480" y="3520440"/>
            <a:ext cx="283464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53</a:t>
            </a:r>
            <a:endParaRPr lang="en-US" sz="3000" dirty="0"/>
          </a:p>
        </p:txBody>
      </p:sp>
      <p:sp>
        <p:nvSpPr>
          <p:cNvPr id="23" name="Text 21"/>
          <p:cNvSpPr txBox="1"/>
          <p:nvPr/>
        </p:nvSpPr>
        <p:spPr>
          <a:xfrm>
            <a:off x="484632" y="4087368"/>
            <a:ext cx="2688336" cy="22860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tệp mã nguồn tự viết</a:t>
            </a:r>
            <a:endParaRPr lang="en-US" sz="1100" dirty="0"/>
          </a:p>
        </p:txBody>
      </p:sp>
      <p:sp>
        <p:nvSpPr>
          <p:cNvPr id="24" name="card"/>
          <p:cNvSpPr/>
          <p:nvPr/>
        </p:nvSpPr>
        <p:spPr>
          <a:xfrm>
            <a:off x="3383280" y="3429000"/>
            <a:ext cx="2834640" cy="960120"/>
          </a:xfrm>
          <a:prstGeom prst="roundRect">
            <a:avLst>
              <a:gd name="adj" fmla="val 5714"/>
            </a:avLst>
          </a:prstGeom>
          <a:solidFill>
            <a:srgbClr val="EFF3FA"/>
          </a:solidFill>
          <a:ln w="12700">
            <a:solidFill>
              <a:srgbClr val="C7D2E6"/>
            </a:solidFill>
            <a:prstDash val="solid"/>
          </a:ln>
        </p:spPr>
      </p:sp>
      <p:sp>
        <p:nvSpPr>
          <p:cNvPr id="25" name="Text 23"/>
          <p:cNvSpPr txBox="1"/>
          <p:nvPr/>
        </p:nvSpPr>
        <p:spPr>
          <a:xfrm>
            <a:off x="3383280" y="3520440"/>
            <a:ext cx="2834640" cy="566928"/>
          </a:xfrm>
          <a:prstGeom prst="rect">
            <a:avLst/>
          </a:prstGeom>
          <a:noFill/>
          <a:ln/>
        </p:spPr>
        <p:txBody>
          <a:bodyPr wrap="square" lIns="0" tIns="0" rIns="0" bIns="0" rtlCol="0" anchor="ctr"/>
          <a:lstStyle/>
          <a:p>
            <a:pPr algn="ctr" indent="0" marL="0">
              <a:buNone/>
            </a:pPr>
            <a:r>
              <a:rPr lang="en-US" sz="2600" b="1" dirty="0">
                <a:solidFill>
                  <a:srgbClr val="002060"/>
                </a:solidFill>
                <a:latin typeface="Arial" pitchFamily="34" charset="0"/>
                <a:ea typeface="Arial" pitchFamily="34" charset="-122"/>
                <a:cs typeface="Arial" pitchFamily="34" charset="-120"/>
              </a:rPr>
              <a:t>~20.000</a:t>
            </a:r>
            <a:endParaRPr lang="en-US" sz="2600" dirty="0"/>
          </a:p>
        </p:txBody>
      </p:sp>
      <p:sp>
        <p:nvSpPr>
          <p:cNvPr id="26" name="Text 24"/>
          <p:cNvSpPr txBox="1"/>
          <p:nvPr/>
        </p:nvSpPr>
        <p:spPr>
          <a:xfrm>
            <a:off x="3456432" y="4087368"/>
            <a:ext cx="2688336" cy="22860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dòng mã tự viết (không tính thư viện)</a:t>
            </a:r>
            <a:endParaRPr lang="en-US" sz="1100" dirty="0"/>
          </a:p>
        </p:txBody>
      </p:sp>
      <p:sp>
        <p:nvSpPr>
          <p:cNvPr id="27" name="card"/>
          <p:cNvSpPr/>
          <p:nvPr/>
        </p:nvSpPr>
        <p:spPr>
          <a:xfrm>
            <a:off x="6309360" y="3429000"/>
            <a:ext cx="2423160" cy="960120"/>
          </a:xfrm>
          <a:prstGeom prst="roundRect">
            <a:avLst>
              <a:gd name="adj" fmla="val 5714"/>
            </a:avLst>
          </a:prstGeom>
          <a:solidFill>
            <a:srgbClr val="EFF3FA"/>
          </a:solidFill>
          <a:ln w="12700">
            <a:solidFill>
              <a:srgbClr val="C7D2E6"/>
            </a:solidFill>
            <a:prstDash val="solid"/>
          </a:ln>
        </p:spPr>
      </p:sp>
      <p:sp>
        <p:nvSpPr>
          <p:cNvPr id="28" name="Text 26"/>
          <p:cNvSpPr txBox="1"/>
          <p:nvPr/>
        </p:nvSpPr>
        <p:spPr>
          <a:xfrm>
            <a:off x="6309360" y="3520440"/>
            <a:ext cx="2423160" cy="566928"/>
          </a:xfrm>
          <a:prstGeom prst="rect">
            <a:avLst/>
          </a:prstGeom>
          <a:noFill/>
          <a:ln/>
        </p:spPr>
        <p:txBody>
          <a:bodyPr wrap="square" lIns="0" tIns="0" rIns="0" bIns="0" rtlCol="0" anchor="ctr"/>
          <a:lstStyle/>
          <a:p>
            <a:pPr algn="ctr" indent="0" marL="0">
              <a:buNone/>
            </a:pPr>
            <a:r>
              <a:rPr lang="en-US" sz="3000" b="1" dirty="0">
                <a:solidFill>
                  <a:srgbClr val="E8453C"/>
                </a:solidFill>
                <a:latin typeface="Arial" pitchFamily="34" charset="0"/>
                <a:ea typeface="Arial" pitchFamily="34" charset="-122"/>
                <a:cs typeface="Arial" pitchFamily="34" charset="-120"/>
              </a:rPr>
              <a:t>1</a:t>
            </a:r>
            <a:endParaRPr lang="en-US" sz="3000" dirty="0"/>
          </a:p>
        </p:txBody>
      </p:sp>
      <p:sp>
        <p:nvSpPr>
          <p:cNvPr id="29" name="Text 27"/>
          <p:cNvSpPr txBox="1"/>
          <p:nvPr/>
        </p:nvSpPr>
        <p:spPr>
          <a:xfrm>
            <a:off x="6382512" y="4087368"/>
            <a:ext cx="2276856" cy="22860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người thực hiện toàn bộ</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MAGNETIC GLOVES</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Toàn bộ chiến đấu dựa trên một luật duy nhất: cùng dấu đẩy nhau, trái dấu hút nhau</a:t>
            </a:r>
            <a:endParaRPr lang="en-US" sz="1350" dirty="0"/>
          </a:p>
        </p:txBody>
      </p:sp>
      <p:sp>
        <p:nvSpPr>
          <p:cNvPr id="4" name="Shape 2"/>
          <p:cNvSpPr/>
          <p:nvPr/>
        </p:nvSpPr>
        <p:spPr>
          <a:xfrm>
            <a:off x="411480" y="1389888"/>
            <a:ext cx="201168" cy="201168"/>
          </a:xfrm>
          <a:prstGeom prst="ellipse">
            <a:avLst/>
          </a:prstGeom>
          <a:solidFill>
            <a:srgbClr val="E8453C"/>
          </a:solidFill>
          <a:ln w="12700">
            <a:solidFill>
              <a:srgbClr val="333333"/>
            </a:solidFill>
            <a:prstDash val="solid"/>
          </a:ln>
        </p:spPr>
      </p:sp>
      <p:sp>
        <p:nvSpPr>
          <p:cNvPr id="5" name="Text 3"/>
          <p:cNvSpPr txBox="1"/>
          <p:nvPr/>
        </p:nvSpPr>
        <p:spPr>
          <a:xfrm>
            <a:off x="685800" y="1353312"/>
            <a:ext cx="2194560" cy="27432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CỰC DƯƠNG — phím 1</a:t>
            </a:r>
            <a:endParaRPr lang="en-US" sz="1200" dirty="0"/>
          </a:p>
        </p:txBody>
      </p:sp>
      <p:sp>
        <p:nvSpPr>
          <p:cNvPr id="6" name="Shape 4"/>
          <p:cNvSpPr/>
          <p:nvPr/>
        </p:nvSpPr>
        <p:spPr>
          <a:xfrm>
            <a:off x="2697480" y="1389888"/>
            <a:ext cx="201168" cy="201168"/>
          </a:xfrm>
          <a:prstGeom prst="ellipse">
            <a:avLst/>
          </a:prstGeom>
          <a:solidFill>
            <a:srgbClr val="2E86DE"/>
          </a:solidFill>
          <a:ln w="12700">
            <a:solidFill>
              <a:srgbClr val="333333"/>
            </a:solidFill>
            <a:prstDash val="solid"/>
          </a:ln>
        </p:spPr>
      </p:sp>
      <p:sp>
        <p:nvSpPr>
          <p:cNvPr id="7" name="Text 5"/>
          <p:cNvSpPr txBox="1"/>
          <p:nvPr/>
        </p:nvSpPr>
        <p:spPr>
          <a:xfrm>
            <a:off x="2971800" y="1353312"/>
            <a:ext cx="2194560" cy="27432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CỰC ÂM — phím 2</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755648"/>
          <a:ext cx="4983480" cy="914400"/>
        </p:xfrm>
        <a:graphic>
          <a:graphicData uri="http://schemas.openxmlformats.org/drawingml/2006/table">
            <a:tbl>
              <a:tblPr/>
              <a:tblGrid>
                <a:gridCol w="1463040"/>
                <a:gridCol w="1097280"/>
                <a:gridCol w="2423160"/>
              </a:tblGrid>
              <a:tr h="29260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Tình huống</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Thao tác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Kết quả</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Vật chưa có điện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Chuột trái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Nạp điện cùng cực với găng tay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Vật CÙNG dấu</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Chuột trái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ĐẨY — vật bay đi, thành đạn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Vật TRÁI dấu</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Chuột trái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HÚT — vật bay về tay, cầm được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Đang cầm vật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Chuột phải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Bắn đi — vật phải CÙNG dấu</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9" name="card"/>
          <p:cNvSpPr/>
          <p:nvPr/>
        </p:nvSpPr>
        <p:spPr>
          <a:xfrm>
            <a:off x="411480" y="3520440"/>
            <a:ext cx="4983480" cy="1051560"/>
          </a:xfrm>
          <a:prstGeom prst="roundRect">
            <a:avLst>
              <a:gd name="adj" fmla="val 5217"/>
            </a:avLst>
          </a:prstGeom>
          <a:solidFill>
            <a:srgbClr val="EFF3FA"/>
          </a:solidFill>
          <a:ln w="12700">
            <a:solidFill>
              <a:srgbClr val="C7D2E6"/>
            </a:solidFill>
            <a:prstDash val="solid"/>
          </a:ln>
        </p:spPr>
      </p:sp>
      <p:sp>
        <p:nvSpPr>
          <p:cNvPr id="10" name="Text 7"/>
          <p:cNvSpPr txBox="1"/>
          <p:nvPr/>
        </p:nvSpPr>
        <p:spPr>
          <a:xfrm>
            <a:off x="557784" y="3611880"/>
            <a:ext cx="4663440" cy="237744"/>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CẬN CHIẾN — chuột phải khi tay trống</a:t>
            </a:r>
            <a:endParaRPr lang="en-US" sz="1150" dirty="0"/>
          </a:p>
        </p:txBody>
      </p:sp>
      <p:sp>
        <p:nvSpPr>
          <p:cNvPr id="11" name="Text 8"/>
          <p:cNvSpPr txBox="1"/>
          <p:nvPr/>
        </p:nvSpPr>
        <p:spPr>
          <a:xfrm>
            <a:off x="557784" y="3858768"/>
            <a:ext cx="4663440" cy="658368"/>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50" dirty="0">
                <a:solidFill>
                  <a:srgbClr val="5A6478"/>
                </a:solidFill>
                <a:latin typeface="Arial" pitchFamily="34" charset="0"/>
                <a:ea typeface="Arial" pitchFamily="34" charset="-122"/>
                <a:cs typeface="Arial" pitchFamily="34" charset="-120"/>
              </a:rPr>
              <a:t>Dưới 6m, cùng dấu: đấm hất văng đối thủ</a:t>
            </a:r>
            <a:endParaRPr lang="en-US" sz="1050" dirty="0"/>
          </a:p>
          <a:p>
            <a:pPr marL="342900" indent="-342900">
              <a:lnSpc>
                <a:spcPct val="105000"/>
              </a:lnSpc>
              <a:spcAft>
                <a:spcPts val="700"/>
              </a:spcAft>
              <a:buSzPct val="100000"/>
              <a:buChar char="•"/>
            </a:pPr>
            <a:r>
              <a:rPr lang="en-US" sz="1050" dirty="0">
                <a:solidFill>
                  <a:srgbClr val="5A6478"/>
                </a:solidFill>
                <a:latin typeface="Arial" pitchFamily="34" charset="0"/>
                <a:ea typeface="Arial" pitchFamily="34" charset="-122"/>
                <a:cs typeface="Arial" pitchFamily="34" charset="-120"/>
              </a:rPr>
              <a:t>Dưới 6m, trái dấu: cả hai nảy bật nhẹ ra</a:t>
            </a:r>
            <a:endParaRPr lang="en-US" sz="1050" dirty="0"/>
          </a:p>
          <a:p>
            <a:pPr marL="342900" indent="-342900">
              <a:lnSpc>
                <a:spcPct val="105000"/>
              </a:lnSpc>
              <a:spcAft>
                <a:spcPts val="700"/>
              </a:spcAft>
              <a:buSzPct val="100000"/>
              <a:buChar char="•"/>
            </a:pPr>
            <a:r>
              <a:rPr lang="en-US" sz="1050" dirty="0">
                <a:solidFill>
                  <a:srgbClr val="5A6478"/>
                </a:solidFill>
                <a:latin typeface="Arial" pitchFamily="34" charset="0"/>
                <a:ea typeface="Arial" pitchFamily="34" charset="-122"/>
                <a:cs typeface="Arial" pitchFamily="34" charset="-120"/>
              </a:rPr>
              <a:t>Từ 6 đến 60m, trái dấu: kéo áp sát, lướt nhanh về phía đối thủ</a:t>
            </a:r>
            <a:endParaRPr lang="en-US" sz="1050" dirty="0"/>
          </a:p>
        </p:txBody>
      </p:sp>
      <p:pic>
        <p:nvPicPr>
          <p:cNvPr id="12" name="Image 0" descr="img/shot_hut.png">    </p:cNvPr>
          <p:cNvPicPr>
            <a:picLocks noChangeAspect="1"/>
          </p:cNvPicPr>
          <p:nvPr/>
        </p:nvPicPr>
        <p:blipFill>
          <a:blip r:embed="rId1"/>
          <a:stretch>
            <a:fillRect/>
          </a:stretch>
        </p:blipFill>
        <p:spPr>
          <a:xfrm>
            <a:off x="5669280" y="2135995"/>
            <a:ext cx="3063240" cy="1689898"/>
          </a:xfrm>
          <a:prstGeom prst="rect">
            <a:avLst/>
          </a:prstGeom>
        </p:spPr>
      </p:pic>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AMMO TYPES</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Mỗi loại vật thể có một luật riêng, buộc người chơi phải nhìn màu vật trước khi bấm chuột</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188720"/>
                <a:gridCol w="1371600"/>
                <a:gridCol w="5760720"/>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Loại</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Điện tích nạp</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Luật riêng</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384048">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Normal</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Hút đẩy linh hoạt, không có ràng buộc gì thêm</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84048">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Heavy</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Đang bay thì KHÔNG hút về tay được, chỉ cản lại: tốc độ x0,5 và sát thương x0,5</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84048">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Spike</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Hút nhầm lúc nó đang bay tới thì chịu gấp đôi điện tích</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84048">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TNT</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200" dirty="0">
                          <a:solidFill>
                            <a:srgbClr val="1A1A1A"/>
                          </a:solidFill>
                          <a:latin typeface="Arial" pitchFamily="34" charset="0"/>
                          <a:ea typeface="Arial" pitchFamily="34" charset="-122"/>
                          <a:cs typeface="Arial" pitchFamily="34" charset="-120"/>
                        </a:rPr>
                        <a:t>Nổ trong bán kính 6m, lực giảm dần theo khoảng cách</a:t>
                      </a:r>
                      <a:endParaRPr lang="en-US" sz="12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5" name="card"/>
          <p:cNvSpPr/>
          <p:nvPr/>
        </p:nvSpPr>
        <p:spPr>
          <a:xfrm>
            <a:off x="411480" y="3291840"/>
            <a:ext cx="8321040" cy="1234440"/>
          </a:xfrm>
          <a:prstGeom prst="roundRect">
            <a:avLst>
              <a:gd name="adj" fmla="val 4444"/>
            </a:avLst>
          </a:prstGeom>
          <a:solidFill>
            <a:srgbClr val="FDF2F1"/>
          </a:solidFill>
          <a:ln w="12700">
            <a:solidFill>
              <a:srgbClr val="F0C2BE"/>
            </a:solidFill>
            <a:prstDash val="solid"/>
          </a:ln>
        </p:spPr>
      </p:sp>
      <p:sp>
        <p:nvSpPr>
          <p:cNvPr id="6" name="Shape 3"/>
          <p:cNvSpPr/>
          <p:nvPr/>
        </p:nvSpPr>
        <p:spPr>
          <a:xfrm>
            <a:off x="594360" y="3456432"/>
            <a:ext cx="182880" cy="182880"/>
          </a:xfrm>
          <a:prstGeom prst="ellipse">
            <a:avLst/>
          </a:prstGeom>
          <a:solidFill>
            <a:srgbClr val="E8453C"/>
          </a:solidFill>
          <a:ln w="12700">
            <a:solidFill>
              <a:srgbClr val="333333"/>
            </a:solidFill>
            <a:prstDash val="solid"/>
          </a:ln>
        </p:spPr>
      </p:sp>
      <p:sp>
        <p:nvSpPr>
          <p:cNvPr id="7" name="Text 4"/>
          <p:cNvSpPr txBox="1"/>
          <p:nvPr/>
        </p:nvSpPr>
        <p:spPr>
          <a:xfrm>
            <a:off x="868680" y="3401568"/>
            <a:ext cx="548640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HEAVY VÀ SPIKE LÀ MỘT CẶP ĐỐI XỨNG</a:t>
            </a:r>
            <a:endParaRPr lang="en-US" sz="1250" dirty="0"/>
          </a:p>
        </p:txBody>
      </p:sp>
      <p:sp>
        <p:nvSpPr>
          <p:cNvPr id="8" name="Text 5"/>
          <p:cNvSpPr txBox="1"/>
          <p:nvPr/>
        </p:nvSpPr>
        <p:spPr>
          <a:xfrm>
            <a:off x="868680" y="3694176"/>
            <a:ext cx="7589520" cy="749808"/>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Cả hai dùng chung một đoạn mã xử lý, nhưng ý nghĩa ngược nhau: Heavy thưởng cho phản xạ hút, Spike phạt đúng phản xạ đó. Người chơi không thể giữ chuột bừa — phải phân biệt màu vật trong khoảng một phần tư giây.</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OVERLOAD MODE</a:t>
            </a:r>
            <a:endParaRPr lang="en-US" sz="1700" dirty="0"/>
          </a:p>
        </p:txBody>
      </p:sp>
      <p:sp>
        <p:nvSpPr>
          <p:cNvPr id="3" name="Text 1"/>
          <p:cNvSpPr txBox="1"/>
          <p:nvPr/>
        </p:nvSpPr>
        <p:spPr>
          <a:xfrm>
            <a:off x="411480" y="868680"/>
            <a:ext cx="8321040" cy="411480"/>
          </a:xfrm>
          <a:prstGeom prst="rect">
            <a:avLst/>
          </a:prstGeom>
          <a:noFill/>
          <a:ln/>
        </p:spPr>
        <p:txBody>
          <a:bodyPr wrap="square" lIns="0" tIns="0" rIns="0" bIns="0" rtlCol="0" anchor="ctr"/>
          <a:lstStyle/>
          <a:p>
            <a:pPr indent="0" marL="0">
              <a:buNone/>
            </a:pPr>
            <a:r>
              <a:rPr lang="en-US" sz="1400" b="1" dirty="0">
                <a:solidFill>
                  <a:srgbClr val="002060"/>
                </a:solidFill>
                <a:latin typeface="Arial" pitchFamily="34" charset="0"/>
                <a:ea typeface="Arial" pitchFamily="34" charset="-122"/>
                <a:cs typeface="Arial" pitchFamily="34" charset="-120"/>
              </a:rPr>
              <a:t>Trúng đòn không làm mất máu — nó nạp điện vào người. </a:t>
            </a:r>
            <a:pPr indent="0" marL="0">
              <a:buNone/>
            </a:pPr>
            <a:r>
              <a:rPr lang="en-US" sz="1400" dirty="0">
                <a:solidFill>
                  <a:srgbClr val="1A1A1A"/>
                </a:solidFill>
                <a:latin typeface="Arial" pitchFamily="34" charset="0"/>
                <a:ea typeface="Arial" pitchFamily="34" charset="-122"/>
                <a:cs typeface="Arial" pitchFamily="34" charset="-120"/>
              </a:rPr>
              <a:t>Càng nhiễm điện, từ trường tác động lên bạn càng mạnh, nên cùng một cú đấm sẽ hất bạn đi càng xa.</a:t>
            </a:r>
            <a:endParaRPr lang="en-US" sz="1400" dirty="0"/>
          </a:p>
        </p:txBody>
      </p:sp>
      <p:sp>
        <p:nvSpPr>
          <p:cNvPr id="4" name="card"/>
          <p:cNvSpPr/>
          <p:nvPr/>
        </p:nvSpPr>
        <p:spPr>
          <a:xfrm>
            <a:off x="411480" y="1371600"/>
            <a:ext cx="2651760" cy="1143000"/>
          </a:xfrm>
          <a:prstGeom prst="roundRect">
            <a:avLst>
              <a:gd name="adj" fmla="val 4800"/>
            </a:avLst>
          </a:prstGeom>
          <a:solidFill>
            <a:srgbClr val="EFF3FA"/>
          </a:solidFill>
          <a:ln w="12700">
            <a:solidFill>
              <a:srgbClr val="C7D2E6"/>
            </a:solidFill>
            <a:prstDash val="solid"/>
          </a:ln>
        </p:spPr>
      </p:sp>
      <p:sp>
        <p:nvSpPr>
          <p:cNvPr id="5" name="Text 3"/>
          <p:cNvSpPr txBox="1"/>
          <p:nvPr/>
        </p:nvSpPr>
        <p:spPr>
          <a:xfrm>
            <a:off x="411480" y="1463040"/>
            <a:ext cx="2651760" cy="566928"/>
          </a:xfrm>
          <a:prstGeom prst="rect">
            <a:avLst/>
          </a:prstGeom>
          <a:noFill/>
          <a:ln/>
        </p:spPr>
        <p:txBody>
          <a:bodyPr wrap="square" lIns="0" tIns="0" rIns="0" bIns="0" rtlCol="0" anchor="ctr"/>
          <a:lstStyle/>
          <a:p>
            <a:pPr algn="ctr" indent="0" marL="0">
              <a:buNone/>
            </a:pPr>
            <a:r>
              <a:rPr lang="en-US" sz="2600" b="1" dirty="0">
                <a:solidFill>
                  <a:srgbClr val="002060"/>
                </a:solidFill>
                <a:latin typeface="Arial" pitchFamily="34" charset="0"/>
                <a:ea typeface="Arial" pitchFamily="34" charset="-122"/>
                <a:cs typeface="Arial" pitchFamily="34" charset="-120"/>
              </a:rPr>
              <a:t>0 → 100</a:t>
            </a:r>
            <a:endParaRPr lang="en-US" sz="2600" dirty="0"/>
          </a:p>
        </p:txBody>
      </p:sp>
      <p:sp>
        <p:nvSpPr>
          <p:cNvPr id="6" name="Text 4"/>
          <p:cNvSpPr txBox="1"/>
          <p:nvPr/>
        </p:nvSpPr>
        <p:spPr>
          <a:xfrm>
            <a:off x="484632" y="2029968"/>
            <a:ext cx="2505456" cy="41148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thang điện tích thay cho thanh máu</a:t>
            </a:r>
            <a:endParaRPr lang="en-US" sz="1100" dirty="0"/>
          </a:p>
        </p:txBody>
      </p:sp>
      <p:sp>
        <p:nvSpPr>
          <p:cNvPr id="7" name="card"/>
          <p:cNvSpPr/>
          <p:nvPr/>
        </p:nvSpPr>
        <p:spPr>
          <a:xfrm>
            <a:off x="3246120" y="1371600"/>
            <a:ext cx="2651760" cy="1143000"/>
          </a:xfrm>
          <a:prstGeom prst="roundRect">
            <a:avLst>
              <a:gd name="adj" fmla="val 4800"/>
            </a:avLst>
          </a:prstGeom>
          <a:solidFill>
            <a:srgbClr val="EFF3FA"/>
          </a:solidFill>
          <a:ln w="12700">
            <a:solidFill>
              <a:srgbClr val="C7D2E6"/>
            </a:solidFill>
            <a:prstDash val="solid"/>
          </a:ln>
        </p:spPr>
      </p:sp>
      <p:sp>
        <p:nvSpPr>
          <p:cNvPr id="8" name="Text 6"/>
          <p:cNvSpPr txBox="1"/>
          <p:nvPr/>
        </p:nvSpPr>
        <p:spPr>
          <a:xfrm>
            <a:off x="3246120" y="1463040"/>
            <a:ext cx="2651760" cy="566928"/>
          </a:xfrm>
          <a:prstGeom prst="rect">
            <a:avLst/>
          </a:prstGeom>
          <a:noFill/>
          <a:ln/>
        </p:spPr>
        <p:txBody>
          <a:bodyPr wrap="square" lIns="0" tIns="0" rIns="0" bIns="0" rtlCol="0" anchor="ctr"/>
          <a:lstStyle/>
          <a:p>
            <a:pPr algn="ctr" indent="0" marL="0">
              <a:buNone/>
            </a:pPr>
            <a:r>
              <a:rPr lang="en-US" sz="2200" b="1" dirty="0">
                <a:solidFill>
                  <a:srgbClr val="E8453C"/>
                </a:solidFill>
                <a:latin typeface="Arial" pitchFamily="34" charset="0"/>
                <a:ea typeface="Arial" pitchFamily="34" charset="-122"/>
                <a:cs typeface="Arial" pitchFamily="34" charset="-120"/>
              </a:rPr>
              <a:t>x1,0 → x4,0</a:t>
            </a:r>
            <a:endParaRPr lang="en-US" sz="2200" dirty="0"/>
          </a:p>
        </p:txBody>
      </p:sp>
      <p:sp>
        <p:nvSpPr>
          <p:cNvPr id="9" name="Text 7"/>
          <p:cNvSpPr txBox="1"/>
          <p:nvPr/>
        </p:nvSpPr>
        <p:spPr>
          <a:xfrm>
            <a:off x="3319272" y="2029968"/>
            <a:ext cx="2505456" cy="41148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lực văng tăng tuyến tính theo lượng điện</a:t>
            </a:r>
            <a:endParaRPr lang="en-US" sz="1100" dirty="0"/>
          </a:p>
        </p:txBody>
      </p:sp>
      <p:sp>
        <p:nvSpPr>
          <p:cNvPr id="10" name="card"/>
          <p:cNvSpPr/>
          <p:nvPr/>
        </p:nvSpPr>
        <p:spPr>
          <a:xfrm>
            <a:off x="6080760" y="1371600"/>
            <a:ext cx="2651760" cy="1143000"/>
          </a:xfrm>
          <a:prstGeom prst="roundRect">
            <a:avLst>
              <a:gd name="adj" fmla="val 4800"/>
            </a:avLst>
          </a:prstGeom>
          <a:solidFill>
            <a:srgbClr val="EFF3FA"/>
          </a:solidFill>
          <a:ln w="12700">
            <a:solidFill>
              <a:srgbClr val="C7D2E6"/>
            </a:solidFill>
            <a:prstDash val="solid"/>
          </a:ln>
        </p:spPr>
      </p:sp>
      <p:sp>
        <p:nvSpPr>
          <p:cNvPr id="11" name="Text 9"/>
          <p:cNvSpPr txBox="1"/>
          <p:nvPr/>
        </p:nvSpPr>
        <p:spPr>
          <a:xfrm>
            <a:off x="6080760" y="1463040"/>
            <a:ext cx="2651760" cy="566928"/>
          </a:xfrm>
          <a:prstGeom prst="rect">
            <a:avLst/>
          </a:prstGeom>
          <a:noFill/>
          <a:ln/>
        </p:spPr>
        <p:txBody>
          <a:bodyPr wrap="square" lIns="0" tIns="0" rIns="0" bIns="0" rtlCol="0" anchor="ctr"/>
          <a:lstStyle/>
          <a:p>
            <a:pPr algn="ctr" indent="0" marL="0">
              <a:buNone/>
            </a:pPr>
            <a:r>
              <a:rPr lang="en-US" sz="3000" b="1" dirty="0">
                <a:solidFill>
                  <a:srgbClr val="2E86DE"/>
                </a:solidFill>
                <a:latin typeface="Arial" pitchFamily="34" charset="0"/>
                <a:ea typeface="Arial" pitchFamily="34" charset="-122"/>
                <a:cs typeface="Arial" pitchFamily="34" charset="-120"/>
              </a:rPr>
              <a:t>1</a:t>
            </a:r>
            <a:endParaRPr lang="en-US" sz="3000" dirty="0"/>
          </a:p>
        </p:txBody>
      </p:sp>
      <p:sp>
        <p:nvSpPr>
          <p:cNvPr id="12" name="Text 10"/>
          <p:cNvSpPr txBox="1"/>
          <p:nvPr/>
        </p:nvSpPr>
        <p:spPr>
          <a:xfrm>
            <a:off x="6153912" y="2029968"/>
            <a:ext cx="2505456" cy="41148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cách chết duy nhất: rơi khỏi đảo</a:t>
            </a:r>
            <a:endParaRPr lang="en-US" sz="1100" dirty="0"/>
          </a:p>
        </p:txBody>
      </p:sp>
      <p:sp>
        <p:nvSpPr>
          <p:cNvPr id="13" name="card"/>
          <p:cNvSpPr/>
          <p:nvPr/>
        </p:nvSpPr>
        <p:spPr>
          <a:xfrm>
            <a:off x="411480" y="2697480"/>
            <a:ext cx="4937760" cy="1874520"/>
          </a:xfrm>
          <a:prstGeom prst="roundRect">
            <a:avLst>
              <a:gd name="adj" fmla="val 2927"/>
            </a:avLst>
          </a:prstGeom>
          <a:solidFill>
            <a:srgbClr val="EFF3FA"/>
          </a:solidFill>
          <a:ln w="12700">
            <a:solidFill>
              <a:srgbClr val="C7D2E6"/>
            </a:solidFill>
            <a:prstDash val="solid"/>
          </a:ln>
        </p:spPr>
      </p:sp>
      <p:sp>
        <p:nvSpPr>
          <p:cNvPr id="14" name="Text 12"/>
          <p:cNvSpPr txBox="1"/>
          <p:nvPr/>
        </p:nvSpPr>
        <p:spPr>
          <a:xfrm>
            <a:off x="576072" y="2798064"/>
            <a:ext cx="461772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VÌ SAO ĐẦY ĐIỆN LẠI KHÔNG CHẾT</a:t>
            </a:r>
            <a:endParaRPr lang="en-US" sz="1250" dirty="0"/>
          </a:p>
        </p:txBody>
      </p:sp>
      <p:sp>
        <p:nvSpPr>
          <p:cNvPr id="15" name="Text 13"/>
          <p:cNvSpPr txBox="1"/>
          <p:nvPr/>
        </p:nvSpPr>
        <p:spPr>
          <a:xfrm>
            <a:off x="576072" y="3090672"/>
            <a:ext cx="4617720" cy="86868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Nếu đầy thanh là chết thì đây chỉ là thanh máu chạy ngược, không có gì mới. Để cái chết đến từ VỊ TRÍ mới tạo được căng thẳng thật: đứng giữa sân với 90% điện vẫn an toàn, còn đứng sát rìa với 30% đã là mạo hiểm.</a:t>
            </a:r>
            <a:endParaRPr lang="en-US" sz="1200" dirty="0"/>
          </a:p>
        </p:txBody>
      </p:sp>
      <p:sp>
        <p:nvSpPr>
          <p:cNvPr id="16" name="Text 14"/>
          <p:cNvSpPr txBox="1"/>
          <p:nvPr/>
        </p:nvSpPr>
        <p:spPr>
          <a:xfrm>
            <a:off x="576072" y="4005072"/>
            <a:ext cx="4617720" cy="457200"/>
          </a:xfrm>
          <a:prstGeom prst="rect">
            <a:avLst/>
          </a:prstGeom>
          <a:noFill/>
          <a:ln/>
        </p:spPr>
        <p:txBody>
          <a:bodyPr wrap="square" lIns="0" tIns="0" rIns="0" bIns="0" rtlCol="0" anchor="t"/>
          <a:lstStyle/>
          <a:p>
            <a:pPr indent="0" marL="0">
              <a:buNone/>
            </a:pPr>
            <a:r>
              <a:rPr lang="en-US" sz="1100" i="1" dirty="0">
                <a:solidFill>
                  <a:srgbClr val="5A6478"/>
                </a:solidFill>
                <a:latin typeface="Arial" pitchFamily="34" charset="0"/>
                <a:ea typeface="Arial" pitchFamily="34" charset="-122"/>
                <a:cs typeface="Arial" pitchFamily="34" charset="-120"/>
              </a:rPr>
              <a:t>Hệ quả bắt buộc: pha chiến đấu phải có đồng hồ 5 phút, vì không còn ai chết vì hết máu.</a:t>
            </a:r>
            <a:endParaRPr lang="en-US" sz="1100" dirty="0"/>
          </a:p>
        </p:txBody>
      </p:sp>
      <p:pic>
        <p:nvPicPr>
          <p:cNvPr id="17" name="Image 0" descr="img/shot_hud.png">    </p:cNvPr>
          <p:cNvPicPr>
            <a:picLocks noChangeAspect="1"/>
          </p:cNvPicPr>
          <p:nvPr/>
        </p:nvPicPr>
        <p:blipFill>
          <a:blip r:embed="rId1"/>
          <a:stretch>
            <a:fillRect/>
          </a:stretch>
        </p:blipFill>
        <p:spPr>
          <a:xfrm>
            <a:off x="5577840" y="2762011"/>
            <a:ext cx="3154680" cy="1745458"/>
          </a:xfrm>
          <a:prstGeom prst="rect">
            <a:avLst/>
          </a:prstGeom>
        </p:spPr>
      </p:pic>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MATCH FORMAT</a:t>
            </a:r>
            <a:endParaRPr lang="en-US" sz="1700" dirty="0"/>
          </a:p>
        </p:txBody>
      </p:sp>
      <p:sp>
        <p:nvSpPr>
          <p:cNvPr id="3" name="card"/>
          <p:cNvSpPr/>
          <p:nvPr/>
        </p:nvSpPr>
        <p:spPr>
          <a:xfrm>
            <a:off x="411480" y="868680"/>
            <a:ext cx="1874520" cy="1051560"/>
          </a:xfrm>
          <a:prstGeom prst="roundRect">
            <a:avLst>
              <a:gd name="adj" fmla="val 5217"/>
            </a:avLst>
          </a:prstGeom>
          <a:solidFill>
            <a:srgbClr val="EFF3FA"/>
          </a:solidFill>
          <a:ln w="12700">
            <a:solidFill>
              <a:srgbClr val="C7D2E6"/>
            </a:solidFill>
            <a:prstDash val="solid"/>
          </a:ln>
        </p:spPr>
      </p:sp>
      <p:sp>
        <p:nvSpPr>
          <p:cNvPr id="4" name="Text 2"/>
          <p:cNvSpPr txBox="1"/>
          <p:nvPr/>
        </p:nvSpPr>
        <p:spPr>
          <a:xfrm>
            <a:off x="539496" y="960120"/>
            <a:ext cx="164592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CHUẨN BỊ</a:t>
            </a:r>
            <a:endParaRPr lang="en-US" sz="1150" dirty="0"/>
          </a:p>
        </p:txBody>
      </p:sp>
      <p:sp>
        <p:nvSpPr>
          <p:cNvPr id="5" name="Text 3"/>
          <p:cNvSpPr txBox="1"/>
          <p:nvPr/>
        </p:nvSpPr>
        <p:spPr>
          <a:xfrm>
            <a:off x="539496" y="1216152"/>
            <a:ext cx="1645920" cy="274320"/>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15 giây</a:t>
            </a:r>
            <a:endParaRPr lang="en-US" sz="1500" dirty="0"/>
          </a:p>
        </p:txBody>
      </p:sp>
      <p:sp>
        <p:nvSpPr>
          <p:cNvPr id="6" name="Text 4"/>
          <p:cNvSpPr txBox="1"/>
          <p:nvPr/>
        </p:nvSpPr>
        <p:spPr>
          <a:xfrm>
            <a:off x="539496" y="1508760"/>
            <a:ext cx="1645920" cy="365760"/>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Mua đồ, bị rào chắn giữ lại</a:t>
            </a:r>
            <a:endParaRPr lang="en-US" sz="1000" dirty="0"/>
          </a:p>
        </p:txBody>
      </p:sp>
      <p:sp>
        <p:nvSpPr>
          <p:cNvPr id="7" name="Text 5"/>
          <p:cNvSpPr txBox="1"/>
          <p:nvPr/>
        </p:nvSpPr>
        <p:spPr>
          <a:xfrm>
            <a:off x="2267712" y="1143000"/>
            <a:ext cx="274320" cy="457200"/>
          </a:xfrm>
          <a:prstGeom prst="rect">
            <a:avLst/>
          </a:prstGeom>
          <a:noFill/>
          <a:ln/>
        </p:spPr>
        <p:txBody>
          <a:bodyPr wrap="square" lIns="0" tIns="0" rIns="0" bIns="0" rtlCol="0" anchor="ctr"/>
          <a:lstStyle/>
          <a:p>
            <a:pPr algn="ctr" indent="0" marL="0">
              <a:buNone/>
            </a:pPr>
            <a:r>
              <a:rPr lang="en-US" sz="2400" b="1" dirty="0">
                <a:solidFill>
                  <a:srgbClr val="C7D2E6"/>
                </a:solidFill>
                <a:latin typeface="Arial" pitchFamily="34" charset="0"/>
                <a:ea typeface="Arial" pitchFamily="34" charset="-122"/>
                <a:cs typeface="Arial" pitchFamily="34" charset="-120"/>
              </a:rPr>
              <a:t>›</a:t>
            </a:r>
            <a:endParaRPr lang="en-US" sz="2400" dirty="0"/>
          </a:p>
        </p:txBody>
      </p:sp>
      <p:sp>
        <p:nvSpPr>
          <p:cNvPr id="8" name="card"/>
          <p:cNvSpPr/>
          <p:nvPr/>
        </p:nvSpPr>
        <p:spPr>
          <a:xfrm>
            <a:off x="2532888" y="868680"/>
            <a:ext cx="1874520" cy="1051560"/>
          </a:xfrm>
          <a:prstGeom prst="roundRect">
            <a:avLst>
              <a:gd name="adj" fmla="val 5217"/>
            </a:avLst>
          </a:prstGeom>
          <a:solidFill>
            <a:srgbClr val="EFF3FA"/>
          </a:solidFill>
          <a:ln w="12700">
            <a:solidFill>
              <a:srgbClr val="C7D2E6"/>
            </a:solidFill>
            <a:prstDash val="solid"/>
          </a:ln>
        </p:spPr>
      </p:sp>
      <p:sp>
        <p:nvSpPr>
          <p:cNvPr id="9" name="Text 7"/>
          <p:cNvSpPr txBox="1"/>
          <p:nvPr/>
        </p:nvSpPr>
        <p:spPr>
          <a:xfrm>
            <a:off x="2660904" y="960120"/>
            <a:ext cx="164592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CHIẾN ĐẤU</a:t>
            </a:r>
            <a:endParaRPr lang="en-US" sz="1150" dirty="0"/>
          </a:p>
        </p:txBody>
      </p:sp>
      <p:sp>
        <p:nvSpPr>
          <p:cNvPr id="10" name="Text 8"/>
          <p:cNvSpPr txBox="1"/>
          <p:nvPr/>
        </p:nvSpPr>
        <p:spPr>
          <a:xfrm>
            <a:off x="2660904" y="1216152"/>
            <a:ext cx="1645920" cy="274320"/>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5 phút</a:t>
            </a:r>
            <a:endParaRPr lang="en-US" sz="1500" dirty="0"/>
          </a:p>
        </p:txBody>
      </p:sp>
      <p:sp>
        <p:nvSpPr>
          <p:cNvPr id="11" name="Text 9"/>
          <p:cNvSpPr txBox="1"/>
          <p:nvPr/>
        </p:nvSpPr>
        <p:spPr>
          <a:xfrm>
            <a:off x="2660904" y="1508760"/>
            <a:ext cx="1645920" cy="365760"/>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Rào mở, hai đội giao tranh</a:t>
            </a:r>
            <a:endParaRPr lang="en-US" sz="1000" dirty="0"/>
          </a:p>
        </p:txBody>
      </p:sp>
      <p:sp>
        <p:nvSpPr>
          <p:cNvPr id="12" name="Text 10"/>
          <p:cNvSpPr txBox="1"/>
          <p:nvPr/>
        </p:nvSpPr>
        <p:spPr>
          <a:xfrm>
            <a:off x="4389120" y="1143000"/>
            <a:ext cx="274320" cy="457200"/>
          </a:xfrm>
          <a:prstGeom prst="rect">
            <a:avLst/>
          </a:prstGeom>
          <a:noFill/>
          <a:ln/>
        </p:spPr>
        <p:txBody>
          <a:bodyPr wrap="square" lIns="0" tIns="0" rIns="0" bIns="0" rtlCol="0" anchor="ctr"/>
          <a:lstStyle/>
          <a:p>
            <a:pPr algn="ctr" indent="0" marL="0">
              <a:buNone/>
            </a:pPr>
            <a:r>
              <a:rPr lang="en-US" sz="2400" b="1" dirty="0">
                <a:solidFill>
                  <a:srgbClr val="C7D2E6"/>
                </a:solidFill>
                <a:latin typeface="Arial" pitchFamily="34" charset="0"/>
                <a:ea typeface="Arial" pitchFamily="34" charset="-122"/>
                <a:cs typeface="Arial" pitchFamily="34" charset="-120"/>
              </a:rPr>
              <a:t>›</a:t>
            </a:r>
            <a:endParaRPr lang="en-US" sz="2400" dirty="0"/>
          </a:p>
        </p:txBody>
      </p:sp>
      <p:sp>
        <p:nvSpPr>
          <p:cNvPr id="13" name="card"/>
          <p:cNvSpPr/>
          <p:nvPr/>
        </p:nvSpPr>
        <p:spPr>
          <a:xfrm>
            <a:off x="4654296" y="868680"/>
            <a:ext cx="1874520" cy="1051560"/>
          </a:xfrm>
          <a:prstGeom prst="roundRect">
            <a:avLst>
              <a:gd name="adj" fmla="val 5217"/>
            </a:avLst>
          </a:prstGeom>
          <a:solidFill>
            <a:srgbClr val="EFF3FA"/>
          </a:solidFill>
          <a:ln w="12700">
            <a:solidFill>
              <a:srgbClr val="C7D2E6"/>
            </a:solidFill>
            <a:prstDash val="solid"/>
          </a:ln>
        </p:spPr>
      </p:sp>
      <p:sp>
        <p:nvSpPr>
          <p:cNvPr id="14" name="Text 12"/>
          <p:cNvSpPr txBox="1"/>
          <p:nvPr/>
        </p:nvSpPr>
        <p:spPr>
          <a:xfrm>
            <a:off x="4782312" y="960120"/>
            <a:ext cx="164592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KẾT ROUND</a:t>
            </a:r>
            <a:endParaRPr lang="en-US" sz="1150" dirty="0"/>
          </a:p>
        </p:txBody>
      </p:sp>
      <p:sp>
        <p:nvSpPr>
          <p:cNvPr id="15" name="Text 13"/>
          <p:cNvSpPr txBox="1"/>
          <p:nvPr/>
        </p:nvSpPr>
        <p:spPr>
          <a:xfrm>
            <a:off x="4782312" y="1216152"/>
            <a:ext cx="1645920" cy="274320"/>
          </a:xfrm>
          <a:prstGeom prst="rect">
            <a:avLst/>
          </a:prstGeom>
          <a:noFill/>
          <a:ln/>
        </p:spPr>
        <p:txBody>
          <a:bodyPr wrap="square" lIns="0" tIns="0" rIns="0" bIns="0" rtlCol="0" anchor="ctr"/>
          <a:lstStyle/>
          <a:p>
            <a:pPr indent="0" marL="0">
              <a:buNone/>
            </a:pPr>
            <a:r>
              <a:rPr lang="en-US" sz="1500" b="1" dirty="0">
                <a:solidFill>
                  <a:srgbClr val="E8453C"/>
                </a:solidFill>
                <a:latin typeface="Arial" pitchFamily="34" charset="0"/>
                <a:ea typeface="Arial" pitchFamily="34" charset="-122"/>
                <a:cs typeface="Arial" pitchFamily="34" charset="-120"/>
              </a:rPr>
              <a:t>8 giây</a:t>
            </a:r>
            <a:endParaRPr lang="en-US" sz="1500" dirty="0"/>
          </a:p>
        </p:txBody>
      </p:sp>
      <p:sp>
        <p:nvSpPr>
          <p:cNvPr id="16" name="Text 14"/>
          <p:cNvSpPr txBox="1"/>
          <p:nvPr/>
        </p:nvSpPr>
        <p:spPr>
          <a:xfrm>
            <a:off x="4782312" y="1508760"/>
            <a:ext cx="1645920" cy="365760"/>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Cộng điểm, cộng tiền thưởng</a:t>
            </a:r>
            <a:endParaRPr lang="en-US" sz="1000" dirty="0"/>
          </a:p>
        </p:txBody>
      </p:sp>
      <p:sp>
        <p:nvSpPr>
          <p:cNvPr id="17" name="Text 15"/>
          <p:cNvSpPr txBox="1"/>
          <p:nvPr/>
        </p:nvSpPr>
        <p:spPr>
          <a:xfrm>
            <a:off x="6510528" y="1143000"/>
            <a:ext cx="274320" cy="457200"/>
          </a:xfrm>
          <a:prstGeom prst="rect">
            <a:avLst/>
          </a:prstGeom>
          <a:noFill/>
          <a:ln/>
        </p:spPr>
        <p:txBody>
          <a:bodyPr wrap="square" lIns="0" tIns="0" rIns="0" bIns="0" rtlCol="0" anchor="ctr"/>
          <a:lstStyle/>
          <a:p>
            <a:pPr algn="ctr" indent="0" marL="0">
              <a:buNone/>
            </a:pPr>
            <a:r>
              <a:rPr lang="en-US" sz="2400" b="1" dirty="0">
                <a:solidFill>
                  <a:srgbClr val="C7D2E6"/>
                </a:solidFill>
                <a:latin typeface="Arial" pitchFamily="34" charset="0"/>
                <a:ea typeface="Arial" pitchFamily="34" charset="-122"/>
                <a:cs typeface="Arial" pitchFamily="34" charset="-120"/>
              </a:rPr>
              <a:t>›</a:t>
            </a:r>
            <a:endParaRPr lang="en-US" sz="2400" dirty="0"/>
          </a:p>
        </p:txBody>
      </p:sp>
      <p:sp>
        <p:nvSpPr>
          <p:cNvPr id="18" name="card"/>
          <p:cNvSpPr/>
          <p:nvPr/>
        </p:nvSpPr>
        <p:spPr>
          <a:xfrm>
            <a:off x="6775704" y="868680"/>
            <a:ext cx="1874520" cy="1051560"/>
          </a:xfrm>
          <a:prstGeom prst="roundRect">
            <a:avLst>
              <a:gd name="adj" fmla="val 5217"/>
            </a:avLst>
          </a:prstGeom>
          <a:solidFill>
            <a:srgbClr val="EFF3FA"/>
          </a:solidFill>
          <a:ln w="12700">
            <a:solidFill>
              <a:srgbClr val="C7D2E6"/>
            </a:solidFill>
            <a:prstDash val="solid"/>
          </a:ln>
        </p:spPr>
      </p:sp>
      <p:sp>
        <p:nvSpPr>
          <p:cNvPr id="19" name="Text 17"/>
          <p:cNvSpPr txBox="1"/>
          <p:nvPr/>
        </p:nvSpPr>
        <p:spPr>
          <a:xfrm>
            <a:off x="6903720" y="960120"/>
            <a:ext cx="1645920" cy="25603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ROUND MỚI</a:t>
            </a:r>
            <a:endParaRPr lang="en-US" sz="1150" dirty="0"/>
          </a:p>
        </p:txBody>
      </p:sp>
      <p:sp>
        <p:nvSpPr>
          <p:cNvPr id="20" name="Text 18"/>
          <p:cNvSpPr txBox="1"/>
          <p:nvPr/>
        </p:nvSpPr>
        <p:spPr>
          <a:xfrm>
            <a:off x="6903720" y="1216152"/>
            <a:ext cx="1645920" cy="274320"/>
          </a:xfrm>
          <a:prstGeom prst="rect">
            <a:avLst/>
          </a:prstGeom>
          <a:noFill/>
          <a:ln/>
        </p:spPr>
        <p:txBody>
          <a:bodyPr wrap="square" lIns="0" tIns="0" rIns="0" bIns="0" rtlCol="0" anchor="ctr"/>
          <a:lstStyle/>
          <a:p>
            <a:pPr indent="0" marL="0">
              <a:buNone/>
            </a:pPr>
            <a:r>
              <a:rPr lang="en-US" sz="1500" b="1" dirty="0">
                <a:solidFill>
                  <a:srgbClr val="2E86DE"/>
                </a:solidFill>
                <a:latin typeface="Arial" pitchFamily="34" charset="0"/>
                <a:ea typeface="Arial" pitchFamily="34" charset="-122"/>
                <a:cs typeface="Arial" pitchFamily="34" charset="-120"/>
              </a:rPr>
              <a:t>—</a:t>
            </a:r>
            <a:endParaRPr lang="en-US" sz="1500" dirty="0"/>
          </a:p>
        </p:txBody>
      </p:sp>
      <p:sp>
        <p:nvSpPr>
          <p:cNvPr id="21" name="Text 19"/>
          <p:cNvSpPr txBox="1"/>
          <p:nvPr/>
        </p:nvSpPr>
        <p:spPr>
          <a:xfrm>
            <a:off x="6903720" y="1508760"/>
            <a:ext cx="1645920" cy="365760"/>
          </a:xfrm>
          <a:prstGeom prst="rect">
            <a:avLst/>
          </a:prstGeom>
          <a:noFill/>
          <a:ln/>
        </p:spPr>
        <p:txBody>
          <a:bodyPr wrap="square" lIns="0" tIns="0" rIns="0" bIns="0" rtlCol="0" anchor="t"/>
          <a:lstStyle/>
          <a:p>
            <a:pPr indent="0" marL="0">
              <a:buNone/>
            </a:pPr>
            <a:r>
              <a:rPr lang="en-US" sz="1000" dirty="0">
                <a:solidFill>
                  <a:srgbClr val="5A6478"/>
                </a:solidFill>
                <a:latin typeface="Arial" pitchFamily="34" charset="0"/>
                <a:ea typeface="Arial" pitchFamily="34" charset="-122"/>
                <a:cs typeface="Arial" pitchFamily="34" charset="-120"/>
              </a:rPr>
              <a:t>Hồi sinh, xả sạch điện về 0</a:t>
            </a:r>
            <a:endParaRPr lang="en-US" sz="1000" dirty="0"/>
          </a:p>
        </p:txBody>
      </p:sp>
      <p:sp>
        <p:nvSpPr>
          <p:cNvPr id="22" name="card"/>
          <p:cNvSpPr/>
          <p:nvPr/>
        </p:nvSpPr>
        <p:spPr>
          <a:xfrm>
            <a:off x="411480" y="2212848"/>
            <a:ext cx="4069080" cy="1371600"/>
          </a:xfrm>
          <a:prstGeom prst="roundRect">
            <a:avLst>
              <a:gd name="adj" fmla="val 4000"/>
            </a:avLst>
          </a:prstGeom>
          <a:solidFill>
            <a:srgbClr val="EFF3FA"/>
          </a:solidFill>
          <a:ln w="12700">
            <a:solidFill>
              <a:srgbClr val="C7D2E6"/>
            </a:solidFill>
            <a:prstDash val="solid"/>
          </a:ln>
        </p:spPr>
      </p:sp>
      <p:sp>
        <p:nvSpPr>
          <p:cNvPr id="23" name="Text 21"/>
          <p:cNvSpPr txBox="1"/>
          <p:nvPr/>
        </p:nvSpPr>
        <p:spPr>
          <a:xfrm>
            <a:off x="576072" y="2304288"/>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THẮNG MỘT ROUND — hai đường</a:t>
            </a:r>
            <a:endParaRPr lang="en-US" sz="1200" dirty="0"/>
          </a:p>
        </p:txBody>
      </p:sp>
      <p:sp>
        <p:nvSpPr>
          <p:cNvPr id="24" name="Text 22"/>
          <p:cNvSpPr txBox="1"/>
          <p:nvPr/>
        </p:nvSpPr>
        <p:spPr>
          <a:xfrm>
            <a:off x="576072" y="2596896"/>
            <a:ext cx="3749040" cy="9144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Chiếm giữ khu trung tâm đủ 60 giây — thắng ngay</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Hết giờ 5 phút: đội có tiến độ chiếm cao hơn thắng</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Bằng tiến độ thì hoà, không ai được điểm</a:t>
            </a:r>
            <a:endParaRPr lang="en-US" sz="1150" dirty="0"/>
          </a:p>
        </p:txBody>
      </p:sp>
      <p:sp>
        <p:nvSpPr>
          <p:cNvPr id="25" name="card"/>
          <p:cNvSpPr/>
          <p:nvPr/>
        </p:nvSpPr>
        <p:spPr>
          <a:xfrm>
            <a:off x="4663440" y="2212848"/>
            <a:ext cx="4069080" cy="1371600"/>
          </a:xfrm>
          <a:prstGeom prst="roundRect">
            <a:avLst>
              <a:gd name="adj" fmla="val 4000"/>
            </a:avLst>
          </a:prstGeom>
          <a:solidFill>
            <a:srgbClr val="EFF3FA"/>
          </a:solidFill>
          <a:ln w="12700">
            <a:solidFill>
              <a:srgbClr val="C7D2E6"/>
            </a:solidFill>
            <a:prstDash val="solid"/>
          </a:ln>
        </p:spPr>
      </p:sp>
      <p:sp>
        <p:nvSpPr>
          <p:cNvPr id="26" name="Text 24"/>
          <p:cNvSpPr txBox="1"/>
          <p:nvPr/>
        </p:nvSpPr>
        <p:spPr>
          <a:xfrm>
            <a:off x="4828032" y="2304288"/>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THẮNG CẢ TRẬN</a:t>
            </a:r>
            <a:endParaRPr lang="en-US" sz="1200" dirty="0"/>
          </a:p>
        </p:txBody>
      </p:sp>
      <p:sp>
        <p:nvSpPr>
          <p:cNvPr id="27" name="Text 25"/>
          <p:cNvSpPr txBox="1"/>
          <p:nvPr/>
        </p:nvSpPr>
        <p:spPr>
          <a:xfrm>
            <a:off x="4828032" y="2596896"/>
            <a:ext cx="3749040" cy="9144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Đạt 5 round trước VÀ hơn đối thủ ít nhất 2 round</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Tỉ số 5-4 không kết thúc trận — vào Overtime</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Đấu tiếp tới khi một đội hơn 2 round: 6-4, 7-5...</a:t>
            </a:r>
            <a:endParaRPr lang="en-US" sz="1150" dirty="0"/>
          </a:p>
        </p:txBody>
      </p:sp>
      <p:sp>
        <p:nvSpPr>
          <p:cNvPr id="28" name="card"/>
          <p:cNvSpPr/>
          <p:nvPr/>
        </p:nvSpPr>
        <p:spPr>
          <a:xfrm>
            <a:off x="411480" y="3703320"/>
            <a:ext cx="8321040" cy="868680"/>
          </a:xfrm>
          <a:prstGeom prst="roundRect">
            <a:avLst>
              <a:gd name="adj" fmla="val 6316"/>
            </a:avLst>
          </a:prstGeom>
          <a:solidFill>
            <a:srgbClr val="F3F7FD"/>
          </a:solidFill>
          <a:ln w="12700">
            <a:solidFill>
              <a:srgbClr val="C7D2E6"/>
            </a:solidFill>
            <a:prstDash val="solid"/>
          </a:ln>
        </p:spPr>
      </p:sp>
      <p:sp>
        <p:nvSpPr>
          <p:cNvPr id="29" name="Text 27"/>
          <p:cNvSpPr txBox="1"/>
          <p:nvPr/>
        </p:nvSpPr>
        <p:spPr>
          <a:xfrm>
            <a:off x="576072" y="3785616"/>
            <a:ext cx="1097280" cy="237744"/>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KINH TẾ</a:t>
            </a:r>
            <a:endParaRPr lang="en-US" sz="1150" dirty="0"/>
          </a:p>
        </p:txBody>
      </p:sp>
      <p:sp>
        <p:nvSpPr>
          <p:cNvPr id="30" name="Text 28"/>
          <p:cNvSpPr txBox="1"/>
          <p:nvPr/>
        </p:nvSpPr>
        <p:spPr>
          <a:xfrm>
            <a:off x="576072" y="4041648"/>
            <a:ext cx="8001000" cy="438912"/>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Thắng round +$300  ·  Thua round +$200  ·  Trần ví $750  ·  Cửa hàng 5 vật phẩm: Giáp Cách Điện, Energy Drink, Bộ Xả Điện, Can Xăng, Lõi Tường Chắn</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4. PHÂN TÍCH &amp; THIẾT KẾ — NETCODE</a:t>
            </a:r>
            <a:endParaRPr lang="en-US" sz="1700" dirty="0"/>
          </a:p>
        </p:txBody>
      </p:sp>
      <p:sp>
        <p:nvSpPr>
          <p:cNvPr id="3" name="Text 1"/>
          <p:cNvSpPr txBox="1"/>
          <p:nvPr/>
        </p:nvSpPr>
        <p:spPr>
          <a:xfrm>
            <a:off x="411480" y="868680"/>
            <a:ext cx="8321040" cy="384048"/>
          </a:xfrm>
          <a:prstGeom prst="rect">
            <a:avLst/>
          </a:prstGeom>
          <a:noFill/>
          <a:ln/>
        </p:spPr>
        <p:txBody>
          <a:bodyPr wrap="square" lIns="0" tIns="0" rIns="0" bIns="0" rtlCol="0" anchor="ctr"/>
          <a:lstStyle/>
          <a:p>
            <a:pPr indent="0" marL="0">
              <a:buNone/>
            </a:pPr>
            <a:r>
              <a:rPr lang="en-US" sz="1350" b="1" dirty="0">
                <a:solidFill>
                  <a:srgbClr val="002060"/>
                </a:solidFill>
                <a:latin typeface="Arial" pitchFamily="34" charset="0"/>
                <a:ea typeface="Arial" pitchFamily="34" charset="-122"/>
                <a:cs typeface="Arial" pitchFamily="34" charset="-120"/>
              </a:rPr>
              <a:t>Photon Fusion 2 — Host Mode: một máy giữ quyền quyết định, ba máy kia chỉ gửi phím bấm</a:t>
            </a:r>
            <a:endParaRPr lang="en-US" sz="1350" dirty="0"/>
          </a:p>
        </p:txBody>
      </p:sp>
      <p:sp>
        <p:nvSpPr>
          <p:cNvPr id="4" name="card"/>
          <p:cNvSpPr/>
          <p:nvPr/>
        </p:nvSpPr>
        <p:spPr>
          <a:xfrm>
            <a:off x="1417320" y="2304288"/>
            <a:ext cx="1600200" cy="685800"/>
          </a:xfrm>
          <a:prstGeom prst="roundRect">
            <a:avLst>
              <a:gd name="adj" fmla="val 8000"/>
            </a:avLst>
          </a:prstGeom>
          <a:solidFill>
            <a:srgbClr val="26407D"/>
          </a:solidFill>
          <a:ln w="12700">
            <a:solidFill>
              <a:srgbClr val="26407D"/>
            </a:solidFill>
            <a:prstDash val="solid"/>
          </a:ln>
        </p:spPr>
      </p:sp>
      <p:sp>
        <p:nvSpPr>
          <p:cNvPr id="5" name="Text 3"/>
          <p:cNvSpPr txBox="1"/>
          <p:nvPr/>
        </p:nvSpPr>
        <p:spPr>
          <a:xfrm>
            <a:off x="1417320" y="2304288"/>
            <a:ext cx="1600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HOST</a:t>
            </a:r>
            <a:endParaRPr lang="en-US" sz="1300" dirty="0"/>
          </a:p>
        </p:txBody>
      </p:sp>
      <p:sp>
        <p:nvSpPr>
          <p:cNvPr id="6" name="Text 4"/>
          <p:cNvSpPr txBox="1"/>
          <p:nvPr/>
        </p:nvSpPr>
        <p:spPr>
          <a:xfrm>
            <a:off x="1417320" y="2633472"/>
            <a:ext cx="1600200" cy="274320"/>
          </a:xfrm>
          <a:prstGeom prst="rect">
            <a:avLst/>
          </a:prstGeom>
          <a:noFill/>
          <a:ln/>
        </p:spPr>
        <p:txBody>
          <a:bodyPr wrap="square" lIns="0" tIns="0" rIns="0" bIns="0" rtlCol="0" anchor="ctr"/>
          <a:lstStyle/>
          <a:p>
            <a:pPr algn="ctr" indent="0" marL="0">
              <a:buNone/>
            </a:pPr>
            <a:r>
              <a:rPr lang="en-US" sz="950" dirty="0">
                <a:solidFill>
                  <a:srgbClr val="C8D6EF"/>
                </a:solidFill>
                <a:latin typeface="Arial" pitchFamily="34" charset="0"/>
                <a:ea typeface="Arial" pitchFamily="34" charset="-122"/>
                <a:cs typeface="Arial" pitchFamily="34" charset="-120"/>
              </a:rPr>
              <a:t>StateAuthority</a:t>
            </a:r>
            <a:endParaRPr lang="en-US" sz="950" dirty="0"/>
          </a:p>
        </p:txBody>
      </p:sp>
      <p:sp>
        <p:nvSpPr>
          <p:cNvPr id="7" name="card"/>
          <p:cNvSpPr/>
          <p:nvPr/>
        </p:nvSpPr>
        <p:spPr>
          <a:xfrm>
            <a:off x="457200" y="1389888"/>
            <a:ext cx="1371600" cy="457200"/>
          </a:xfrm>
          <a:prstGeom prst="roundRect">
            <a:avLst>
              <a:gd name="adj" fmla="val 12000"/>
            </a:avLst>
          </a:prstGeom>
          <a:solidFill>
            <a:srgbClr val="EFF3FA"/>
          </a:solidFill>
          <a:ln w="12700">
            <a:solidFill>
              <a:srgbClr val="C7D2E6"/>
            </a:solidFill>
            <a:prstDash val="solid"/>
          </a:ln>
        </p:spPr>
      </p:sp>
      <p:sp>
        <p:nvSpPr>
          <p:cNvPr id="8" name="Text 6"/>
          <p:cNvSpPr txBox="1"/>
          <p:nvPr/>
        </p:nvSpPr>
        <p:spPr>
          <a:xfrm>
            <a:off x="457200" y="1389888"/>
            <a:ext cx="1371600" cy="457200"/>
          </a:xfrm>
          <a:prstGeom prst="rect">
            <a:avLst/>
          </a:prstGeom>
          <a:noFill/>
          <a:ln/>
        </p:spPr>
        <p:txBody>
          <a:bodyPr wrap="square" lIns="0" tIns="0" rIns="0" bIns="0" rtlCol="0" anchor="ctr"/>
          <a:lstStyle/>
          <a:p>
            <a:pPr algn="ctr" indent="0" marL="0">
              <a:buNone/>
            </a:pPr>
            <a:r>
              <a:rPr lang="en-US" sz="1050" b="1" dirty="0">
                <a:solidFill>
                  <a:srgbClr val="002060"/>
                </a:solidFill>
                <a:latin typeface="Arial" pitchFamily="34" charset="0"/>
                <a:ea typeface="Arial" pitchFamily="34" charset="-122"/>
                <a:cs typeface="Arial" pitchFamily="34" charset="-120"/>
              </a:rPr>
              <a:t>CLIENT 1</a:t>
            </a:r>
            <a:endParaRPr lang="en-US" sz="1050" dirty="0"/>
          </a:p>
        </p:txBody>
      </p:sp>
      <p:sp>
        <p:nvSpPr>
          <p:cNvPr id="9" name="card"/>
          <p:cNvSpPr/>
          <p:nvPr/>
        </p:nvSpPr>
        <p:spPr>
          <a:xfrm>
            <a:off x="457200" y="3493008"/>
            <a:ext cx="1371600" cy="457200"/>
          </a:xfrm>
          <a:prstGeom prst="roundRect">
            <a:avLst>
              <a:gd name="adj" fmla="val 12000"/>
            </a:avLst>
          </a:prstGeom>
          <a:solidFill>
            <a:srgbClr val="EFF3FA"/>
          </a:solidFill>
          <a:ln w="12700">
            <a:solidFill>
              <a:srgbClr val="C7D2E6"/>
            </a:solidFill>
            <a:prstDash val="solid"/>
          </a:ln>
        </p:spPr>
      </p:sp>
      <p:sp>
        <p:nvSpPr>
          <p:cNvPr id="10" name="Text 8"/>
          <p:cNvSpPr txBox="1"/>
          <p:nvPr/>
        </p:nvSpPr>
        <p:spPr>
          <a:xfrm>
            <a:off x="457200" y="3493008"/>
            <a:ext cx="1371600" cy="457200"/>
          </a:xfrm>
          <a:prstGeom prst="rect">
            <a:avLst/>
          </a:prstGeom>
          <a:noFill/>
          <a:ln/>
        </p:spPr>
        <p:txBody>
          <a:bodyPr wrap="square" lIns="0" tIns="0" rIns="0" bIns="0" rtlCol="0" anchor="ctr"/>
          <a:lstStyle/>
          <a:p>
            <a:pPr algn="ctr" indent="0" marL="0">
              <a:buNone/>
            </a:pPr>
            <a:r>
              <a:rPr lang="en-US" sz="1050" b="1" dirty="0">
                <a:solidFill>
                  <a:srgbClr val="002060"/>
                </a:solidFill>
                <a:latin typeface="Arial" pitchFamily="34" charset="0"/>
                <a:ea typeface="Arial" pitchFamily="34" charset="-122"/>
                <a:cs typeface="Arial" pitchFamily="34" charset="-120"/>
              </a:rPr>
              <a:t>CLIENT 2</a:t>
            </a:r>
            <a:endParaRPr lang="en-US" sz="1050" dirty="0"/>
          </a:p>
        </p:txBody>
      </p:sp>
      <p:sp>
        <p:nvSpPr>
          <p:cNvPr id="11" name="card"/>
          <p:cNvSpPr/>
          <p:nvPr/>
        </p:nvSpPr>
        <p:spPr>
          <a:xfrm>
            <a:off x="2377440" y="4023360"/>
            <a:ext cx="1371600" cy="457200"/>
          </a:xfrm>
          <a:prstGeom prst="roundRect">
            <a:avLst>
              <a:gd name="adj" fmla="val 12000"/>
            </a:avLst>
          </a:prstGeom>
          <a:solidFill>
            <a:srgbClr val="EFF3FA"/>
          </a:solidFill>
          <a:ln w="12700">
            <a:solidFill>
              <a:srgbClr val="C7D2E6"/>
            </a:solidFill>
            <a:prstDash val="solid"/>
          </a:ln>
        </p:spPr>
      </p:sp>
      <p:sp>
        <p:nvSpPr>
          <p:cNvPr id="12" name="Text 10"/>
          <p:cNvSpPr txBox="1"/>
          <p:nvPr/>
        </p:nvSpPr>
        <p:spPr>
          <a:xfrm>
            <a:off x="2377440" y="4023360"/>
            <a:ext cx="1371600" cy="457200"/>
          </a:xfrm>
          <a:prstGeom prst="rect">
            <a:avLst/>
          </a:prstGeom>
          <a:noFill/>
          <a:ln/>
        </p:spPr>
        <p:txBody>
          <a:bodyPr wrap="square" lIns="0" tIns="0" rIns="0" bIns="0" rtlCol="0" anchor="ctr"/>
          <a:lstStyle/>
          <a:p>
            <a:pPr algn="ctr" indent="0" marL="0">
              <a:buNone/>
            </a:pPr>
            <a:r>
              <a:rPr lang="en-US" sz="1050" b="1" dirty="0">
                <a:solidFill>
                  <a:srgbClr val="002060"/>
                </a:solidFill>
                <a:latin typeface="Arial" pitchFamily="34" charset="0"/>
                <a:ea typeface="Arial" pitchFamily="34" charset="-122"/>
                <a:cs typeface="Arial" pitchFamily="34" charset="-120"/>
              </a:rPr>
              <a:t>CLIENT 3</a:t>
            </a:r>
            <a:endParaRPr lang="en-US" sz="1050" dirty="0"/>
          </a:p>
        </p:txBody>
      </p:sp>
      <p:sp>
        <p:nvSpPr>
          <p:cNvPr id="13" name="Shape 11"/>
          <p:cNvSpPr/>
          <p:nvPr/>
        </p:nvSpPr>
        <p:spPr>
          <a:xfrm>
            <a:off x="1143000" y="1847088"/>
            <a:ext cx="685800" cy="457200"/>
          </a:xfrm>
          <a:prstGeom prst="line">
            <a:avLst/>
          </a:prstGeom>
          <a:noFill/>
          <a:ln w="19050">
            <a:solidFill>
              <a:srgbClr val="C7D2E6"/>
            </a:solidFill>
            <a:prstDash val="dash"/>
          </a:ln>
        </p:spPr>
      </p:sp>
      <p:sp>
        <p:nvSpPr>
          <p:cNvPr id="14" name="Shape 12"/>
          <p:cNvSpPr/>
          <p:nvPr/>
        </p:nvSpPr>
        <p:spPr>
          <a:xfrm>
            <a:off x="1143000" y="2990088"/>
            <a:ext cx="685800" cy="502920"/>
          </a:xfrm>
          <a:prstGeom prst="line">
            <a:avLst/>
          </a:prstGeom>
          <a:noFill/>
          <a:ln w="19050">
            <a:solidFill>
              <a:srgbClr val="C7D2E6"/>
            </a:solidFill>
            <a:prstDash val="dash"/>
          </a:ln>
        </p:spPr>
      </p:sp>
      <p:sp>
        <p:nvSpPr>
          <p:cNvPr id="15" name="Shape 13"/>
          <p:cNvSpPr/>
          <p:nvPr/>
        </p:nvSpPr>
        <p:spPr>
          <a:xfrm>
            <a:off x="2377440" y="2990088"/>
            <a:ext cx="685800" cy="1033272"/>
          </a:xfrm>
          <a:prstGeom prst="line">
            <a:avLst/>
          </a:prstGeom>
          <a:noFill/>
          <a:ln w="19050">
            <a:solidFill>
              <a:srgbClr val="C7D2E6"/>
            </a:solidFill>
            <a:prstDash val="dash"/>
          </a:ln>
        </p:spPr>
      </p:sp>
      <p:sp>
        <p:nvSpPr>
          <p:cNvPr id="16" name="Text 14"/>
          <p:cNvSpPr txBox="1"/>
          <p:nvPr/>
        </p:nvSpPr>
        <p:spPr>
          <a:xfrm>
            <a:off x="457200" y="4480560"/>
            <a:ext cx="3291840" cy="228600"/>
          </a:xfrm>
          <a:prstGeom prst="rect">
            <a:avLst/>
          </a:prstGeom>
          <a:noFill/>
          <a:ln/>
        </p:spPr>
        <p:txBody>
          <a:bodyPr wrap="square" lIns="0" tIns="0" rIns="0" bIns="0" rtlCol="0" anchor="ctr"/>
          <a:lstStyle/>
          <a:p>
            <a:pPr algn="ctr" indent="0" marL="0">
              <a:buNone/>
            </a:pPr>
            <a:r>
              <a:rPr lang="en-US" sz="950" i="1" dirty="0">
                <a:solidFill>
                  <a:srgbClr val="5A6478"/>
                </a:solidFill>
                <a:latin typeface="Arial" pitchFamily="34" charset="0"/>
                <a:ea typeface="Arial" pitchFamily="34" charset="-122"/>
                <a:cs typeface="Arial" pitchFamily="34" charset="-120"/>
              </a:rPr>
              <a:t>phím bấm ↑   ·   trạng thái ↓</a:t>
            </a:r>
            <a:endParaRPr lang="en-US" sz="950" dirty="0"/>
          </a:p>
        </p:txBody>
      </p:sp>
      <p:sp>
        <p:nvSpPr>
          <p:cNvPr id="17" name="card"/>
          <p:cNvSpPr/>
          <p:nvPr/>
        </p:nvSpPr>
        <p:spPr>
          <a:xfrm>
            <a:off x="4023360" y="1371600"/>
            <a:ext cx="4709160" cy="1645920"/>
          </a:xfrm>
          <a:prstGeom prst="roundRect">
            <a:avLst>
              <a:gd name="adj" fmla="val 3333"/>
            </a:avLst>
          </a:prstGeom>
          <a:solidFill>
            <a:srgbClr val="EFF3FA"/>
          </a:solidFill>
          <a:ln w="12700">
            <a:solidFill>
              <a:srgbClr val="C7D2E6"/>
            </a:solidFill>
            <a:prstDash val="solid"/>
          </a:ln>
        </p:spPr>
      </p:sp>
      <p:sp>
        <p:nvSpPr>
          <p:cNvPr id="18" name="Text 16"/>
          <p:cNvSpPr txBox="1"/>
          <p:nvPr/>
        </p:nvSpPr>
        <p:spPr>
          <a:xfrm>
            <a:off x="4187952" y="1463040"/>
            <a:ext cx="438912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VÌ SAO CHỌN HOST MODE</a:t>
            </a:r>
            <a:endParaRPr lang="en-US" sz="1200" dirty="0"/>
          </a:p>
        </p:txBody>
      </p:sp>
      <p:sp>
        <p:nvSpPr>
          <p:cNvPr id="19" name="Text 17"/>
          <p:cNvSpPr txBox="1"/>
          <p:nvPr/>
        </p:nvSpPr>
        <p:spPr>
          <a:xfrm>
            <a:off x="4187952" y="1773936"/>
            <a:ext cx="4389120" cy="1170432"/>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Chỉ một máy tính vật lý nên hai bên không bao giờ thấy hai kết quả khác nhau</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Máy khách không tự quyết định sát thương, nên không gian lận được</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Ổn định hơn Shared Mode khi vật thể va chạm liên tục</a:t>
            </a:r>
            <a:endParaRPr lang="en-US" sz="1150" dirty="0"/>
          </a:p>
        </p:txBody>
      </p:sp>
      <p:sp>
        <p:nvSpPr>
          <p:cNvPr id="20" name="card"/>
          <p:cNvSpPr/>
          <p:nvPr/>
        </p:nvSpPr>
        <p:spPr>
          <a:xfrm>
            <a:off x="4023360" y="3127248"/>
            <a:ext cx="4709160" cy="1463040"/>
          </a:xfrm>
          <a:prstGeom prst="roundRect">
            <a:avLst>
              <a:gd name="adj" fmla="val 3750"/>
            </a:avLst>
          </a:prstGeom>
          <a:solidFill>
            <a:srgbClr val="EFF3FA"/>
          </a:solidFill>
          <a:ln w="12700">
            <a:solidFill>
              <a:srgbClr val="C7D2E6"/>
            </a:solidFill>
            <a:prstDash val="solid"/>
          </a:ln>
        </p:spPr>
      </p:sp>
      <p:sp>
        <p:nvSpPr>
          <p:cNvPr id="21" name="Text 19"/>
          <p:cNvSpPr txBox="1"/>
          <p:nvPr/>
        </p:nvSpPr>
        <p:spPr>
          <a:xfrm>
            <a:off x="4187952" y="3200400"/>
            <a:ext cx="438912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BA NGUYÊN TẮC ĐÃ ÁP DỤNG</a:t>
            </a:r>
            <a:endParaRPr lang="en-US" sz="1200" dirty="0"/>
          </a:p>
        </p:txBody>
      </p:sp>
      <p:sp>
        <p:nvSpPr>
          <p:cNvPr id="22" name="Text 20"/>
          <p:cNvSpPr txBox="1"/>
          <p:nvPr/>
        </p:nvSpPr>
        <p:spPr>
          <a:xfrm>
            <a:off x="4187952" y="3493008"/>
            <a:ext cx="4389120" cy="1042416"/>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50" dirty="0">
                <a:solidFill>
                  <a:srgbClr val="1A1A1A"/>
                </a:solidFill>
                <a:latin typeface="Arial" pitchFamily="34" charset="0"/>
                <a:ea typeface="Arial" pitchFamily="34" charset="-122"/>
                <a:cs typeface="Arial" pitchFamily="34" charset="-120"/>
              </a:rPr>
              <a:t>Chỉ đồng bộ thứ bắt buộc, phần còn lại thì suy ra tại chỗ</a:t>
            </a:r>
            <a:endParaRPr lang="en-US" sz="1050" dirty="0"/>
          </a:p>
          <a:p>
            <a:pPr marL="342900" indent="-342900">
              <a:lnSpc>
                <a:spcPct val="105000"/>
              </a:lnSpc>
              <a:spcAft>
                <a:spcPts val="700"/>
              </a:spcAft>
              <a:buSzPct val="100000"/>
              <a:buChar char="•"/>
            </a:pPr>
            <a:r>
              <a:rPr lang="en-US" sz="1050" dirty="0">
                <a:solidFill>
                  <a:srgbClr val="1A1A1A"/>
                </a:solidFill>
                <a:latin typeface="Arial" pitchFamily="34" charset="0"/>
                <a:ea typeface="Arial" pitchFamily="34" charset="-122"/>
                <a:cs typeface="Arial" pitchFamily="34" charset="-120"/>
              </a:rPr>
              <a:t>Nhưng chỉ suy khi nguồn đáng tin — trên Host, vị trí nhân vật khách thì không</a:t>
            </a:r>
            <a:endParaRPr lang="en-US" sz="1050" dirty="0"/>
          </a:p>
          <a:p>
            <a:pPr marL="342900" indent="-342900">
              <a:lnSpc>
                <a:spcPct val="105000"/>
              </a:lnSpc>
              <a:spcAft>
                <a:spcPts val="700"/>
              </a:spcAft>
              <a:buSzPct val="100000"/>
              <a:buChar char="•"/>
            </a:pPr>
            <a:r>
              <a:rPr lang="en-US" sz="1050" dirty="0">
                <a:solidFill>
                  <a:srgbClr val="1A1A1A"/>
                </a:solidFill>
                <a:latin typeface="Arial" pitchFamily="34" charset="0"/>
                <a:ea typeface="Arial" pitchFamily="34" charset="-122"/>
                <a:cs typeface="Arial" pitchFamily="34" charset="-120"/>
              </a:rPr>
              <a:t>Hiệu ứng và âm thanh phát theo bộ đếm, tránh phát lại khi Fusion tua lại</a:t>
            </a:r>
            <a:endParaRPr lang="en-US" sz="10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5. QUY TRÌNH PHÁT TRIỂN — WORKFLOW</a:t>
            </a:r>
            <a:endParaRPr lang="en-US" sz="1700" dirty="0"/>
          </a:p>
        </p:txBody>
      </p:sp>
      <p:sp>
        <p:nvSpPr>
          <p:cNvPr id="3" name="card"/>
          <p:cNvSpPr/>
          <p:nvPr/>
        </p:nvSpPr>
        <p:spPr>
          <a:xfrm>
            <a:off x="411480" y="868680"/>
            <a:ext cx="1920240" cy="2331720"/>
          </a:xfrm>
          <a:prstGeom prst="roundRect">
            <a:avLst>
              <a:gd name="adj" fmla="val 2857"/>
            </a:avLst>
          </a:prstGeom>
          <a:solidFill>
            <a:srgbClr val="EFF3FA"/>
          </a:solidFill>
          <a:ln w="12700">
            <a:solidFill>
              <a:srgbClr val="C7D2E6"/>
            </a:solidFill>
            <a:prstDash val="solid"/>
          </a:ln>
        </p:spPr>
      </p:sp>
      <p:sp>
        <p:nvSpPr>
          <p:cNvPr id="4" name="Shape 2"/>
          <p:cNvSpPr/>
          <p:nvPr/>
        </p:nvSpPr>
        <p:spPr>
          <a:xfrm>
            <a:off x="411480" y="868680"/>
            <a:ext cx="1920240" cy="310896"/>
          </a:xfrm>
          <a:prstGeom prst="rect">
            <a:avLst/>
          </a:prstGeom>
          <a:solidFill>
            <a:srgbClr val="26407D"/>
          </a:solidFill>
          <a:ln w="12700">
            <a:solidFill>
              <a:srgbClr val="333333"/>
            </a:solidFill>
            <a:prstDash val="solid"/>
          </a:ln>
        </p:spPr>
      </p:sp>
      <p:sp>
        <p:nvSpPr>
          <p:cNvPr id="5" name="Text 3"/>
          <p:cNvSpPr txBox="1"/>
          <p:nvPr/>
        </p:nvSpPr>
        <p:spPr>
          <a:xfrm>
            <a:off x="411480" y="86868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1</a:t>
            </a:r>
            <a:endParaRPr lang="en-US" sz="1050" dirty="0"/>
          </a:p>
        </p:txBody>
      </p:sp>
      <p:sp>
        <p:nvSpPr>
          <p:cNvPr id="6" name="Text 4"/>
          <p:cNvSpPr txBox="1"/>
          <p:nvPr/>
        </p:nvSpPr>
        <p:spPr>
          <a:xfrm>
            <a:off x="521208" y="1252728"/>
            <a:ext cx="1700784" cy="420624"/>
          </a:xfrm>
          <a:prstGeom prst="rect">
            <a:avLst/>
          </a:prstGeom>
          <a:noFill/>
          <a:ln/>
        </p:spPr>
        <p:txBody>
          <a:bodyPr wrap="square" lIns="0" tIns="0" rIns="0" bIns="0" rtlCol="0" anchor="t"/>
          <a:lstStyle/>
          <a:p>
            <a:pPr indent="0" marL="0">
              <a:buNone/>
            </a:pPr>
            <a:r>
              <a:rPr lang="en-US" sz="1150" b="1" dirty="0">
                <a:solidFill>
                  <a:srgbClr val="002060"/>
                </a:solidFill>
                <a:latin typeface="Arial" pitchFamily="34" charset="0"/>
                <a:ea typeface="Arial" pitchFamily="34" charset="-122"/>
                <a:cs typeface="Arial" pitchFamily="34" charset="-120"/>
              </a:rPr>
              <a:t>Gameplay chạy một máy</a:t>
            </a:r>
            <a:endParaRPr lang="en-US" sz="1150" dirty="0"/>
          </a:p>
        </p:txBody>
      </p:sp>
      <p:sp>
        <p:nvSpPr>
          <p:cNvPr id="7" name="Text 5"/>
          <p:cNvSpPr txBox="1"/>
          <p:nvPr/>
        </p:nvSpPr>
        <p:spPr>
          <a:xfrm>
            <a:off x="521208" y="1709928"/>
            <a:ext cx="1700784"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Di chuyển, nhảy, lướt</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Găng tay từ tính, bốn loại vật thể</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Cận chiến, túi đồ</a:t>
            </a:r>
            <a:endParaRPr lang="en-US" sz="1000" dirty="0"/>
          </a:p>
        </p:txBody>
      </p:sp>
      <p:sp>
        <p:nvSpPr>
          <p:cNvPr id="8" name="card"/>
          <p:cNvSpPr/>
          <p:nvPr/>
        </p:nvSpPr>
        <p:spPr>
          <a:xfrm>
            <a:off x="2532888" y="868680"/>
            <a:ext cx="1920240" cy="2331720"/>
          </a:xfrm>
          <a:prstGeom prst="roundRect">
            <a:avLst>
              <a:gd name="adj" fmla="val 2857"/>
            </a:avLst>
          </a:prstGeom>
          <a:solidFill>
            <a:srgbClr val="EFF3FA"/>
          </a:solidFill>
          <a:ln w="12700">
            <a:solidFill>
              <a:srgbClr val="C7D2E6"/>
            </a:solidFill>
            <a:prstDash val="solid"/>
          </a:ln>
        </p:spPr>
      </p:sp>
      <p:sp>
        <p:nvSpPr>
          <p:cNvPr id="9" name="Shape 7"/>
          <p:cNvSpPr/>
          <p:nvPr/>
        </p:nvSpPr>
        <p:spPr>
          <a:xfrm>
            <a:off x="2532888" y="868680"/>
            <a:ext cx="1920240" cy="310896"/>
          </a:xfrm>
          <a:prstGeom prst="rect">
            <a:avLst/>
          </a:prstGeom>
          <a:solidFill>
            <a:srgbClr val="3D5C9E"/>
          </a:solidFill>
          <a:ln w="12700">
            <a:solidFill>
              <a:srgbClr val="333333"/>
            </a:solidFill>
            <a:prstDash val="solid"/>
          </a:ln>
        </p:spPr>
      </p:sp>
      <p:sp>
        <p:nvSpPr>
          <p:cNvPr id="10" name="Text 8"/>
          <p:cNvSpPr txBox="1"/>
          <p:nvPr/>
        </p:nvSpPr>
        <p:spPr>
          <a:xfrm>
            <a:off x="2532888" y="86868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2</a:t>
            </a:r>
            <a:endParaRPr lang="en-US" sz="1050" dirty="0"/>
          </a:p>
        </p:txBody>
      </p:sp>
      <p:sp>
        <p:nvSpPr>
          <p:cNvPr id="11" name="Text 9"/>
          <p:cNvSpPr txBox="1"/>
          <p:nvPr/>
        </p:nvSpPr>
        <p:spPr>
          <a:xfrm>
            <a:off x="2642616" y="1252728"/>
            <a:ext cx="1700784" cy="420624"/>
          </a:xfrm>
          <a:prstGeom prst="rect">
            <a:avLst/>
          </a:prstGeom>
          <a:noFill/>
          <a:ln/>
        </p:spPr>
        <p:txBody>
          <a:bodyPr wrap="square" lIns="0" tIns="0" rIns="0" bIns="0" rtlCol="0" anchor="t"/>
          <a:lstStyle/>
          <a:p>
            <a:pPr indent="0" marL="0">
              <a:buNone/>
            </a:pPr>
            <a:r>
              <a:rPr lang="en-US" sz="1150" b="1" dirty="0">
                <a:solidFill>
                  <a:srgbClr val="002060"/>
                </a:solidFill>
                <a:latin typeface="Arial" pitchFamily="34" charset="0"/>
                <a:ea typeface="Arial" pitchFamily="34" charset="-122"/>
                <a:cs typeface="Arial" pitchFamily="34" charset="-120"/>
              </a:rPr>
              <a:t>Đưa lên mạng</a:t>
            </a:r>
            <a:endParaRPr lang="en-US" sz="1150" dirty="0"/>
          </a:p>
        </p:txBody>
      </p:sp>
      <p:sp>
        <p:nvSpPr>
          <p:cNvPr id="12" name="Text 10"/>
          <p:cNvSpPr txBox="1"/>
          <p:nvPr/>
        </p:nvSpPr>
        <p:spPr>
          <a:xfrm>
            <a:off x="2642616" y="1709928"/>
            <a:ext cx="1700784"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Chuyển sang Fusion Host Mode</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Đồng bộ vật thể có vật lý</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Gỡ các lỗi do tua lại</a:t>
            </a:r>
            <a:endParaRPr lang="en-US" sz="1000" dirty="0"/>
          </a:p>
        </p:txBody>
      </p:sp>
      <p:sp>
        <p:nvSpPr>
          <p:cNvPr id="13" name="card"/>
          <p:cNvSpPr/>
          <p:nvPr/>
        </p:nvSpPr>
        <p:spPr>
          <a:xfrm>
            <a:off x="4654296" y="868680"/>
            <a:ext cx="1920240" cy="2331720"/>
          </a:xfrm>
          <a:prstGeom prst="roundRect">
            <a:avLst>
              <a:gd name="adj" fmla="val 2857"/>
            </a:avLst>
          </a:prstGeom>
          <a:solidFill>
            <a:srgbClr val="EFF3FA"/>
          </a:solidFill>
          <a:ln w="12700">
            <a:solidFill>
              <a:srgbClr val="C7D2E6"/>
            </a:solidFill>
            <a:prstDash val="solid"/>
          </a:ln>
        </p:spPr>
      </p:sp>
      <p:sp>
        <p:nvSpPr>
          <p:cNvPr id="14" name="Shape 12"/>
          <p:cNvSpPr/>
          <p:nvPr/>
        </p:nvSpPr>
        <p:spPr>
          <a:xfrm>
            <a:off x="4654296" y="868680"/>
            <a:ext cx="1920240" cy="310896"/>
          </a:xfrm>
          <a:prstGeom prst="rect">
            <a:avLst/>
          </a:prstGeom>
          <a:solidFill>
            <a:srgbClr val="26407D"/>
          </a:solidFill>
          <a:ln w="12700">
            <a:solidFill>
              <a:srgbClr val="333333"/>
            </a:solidFill>
            <a:prstDash val="solid"/>
          </a:ln>
        </p:spPr>
      </p:sp>
      <p:sp>
        <p:nvSpPr>
          <p:cNvPr id="15" name="Text 13"/>
          <p:cNvSpPr txBox="1"/>
          <p:nvPr/>
        </p:nvSpPr>
        <p:spPr>
          <a:xfrm>
            <a:off x="4654296" y="86868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3</a:t>
            </a:r>
            <a:endParaRPr lang="en-US" sz="1050" dirty="0"/>
          </a:p>
        </p:txBody>
      </p:sp>
      <p:sp>
        <p:nvSpPr>
          <p:cNvPr id="16" name="Text 14"/>
          <p:cNvSpPr txBox="1"/>
          <p:nvPr/>
        </p:nvSpPr>
        <p:spPr>
          <a:xfrm>
            <a:off x="4764024" y="1252728"/>
            <a:ext cx="1700784" cy="420624"/>
          </a:xfrm>
          <a:prstGeom prst="rect">
            <a:avLst/>
          </a:prstGeom>
          <a:noFill/>
          <a:ln/>
        </p:spPr>
        <p:txBody>
          <a:bodyPr wrap="square" lIns="0" tIns="0" rIns="0" bIns="0" rtlCol="0" anchor="t"/>
          <a:lstStyle/>
          <a:p>
            <a:pPr indent="0" marL="0">
              <a:buNone/>
            </a:pPr>
            <a:r>
              <a:rPr lang="en-US" sz="1150" b="1" dirty="0">
                <a:solidFill>
                  <a:srgbClr val="002060"/>
                </a:solidFill>
                <a:latin typeface="Arial" pitchFamily="34" charset="0"/>
                <a:ea typeface="Arial" pitchFamily="34" charset="-122"/>
                <a:cs typeface="Arial" pitchFamily="34" charset="-120"/>
              </a:rPr>
              <a:t>Hoàn thiện vòng trận</a:t>
            </a:r>
            <a:endParaRPr lang="en-US" sz="1150" dirty="0"/>
          </a:p>
        </p:txBody>
      </p:sp>
      <p:sp>
        <p:nvSpPr>
          <p:cNvPr id="17" name="Text 15"/>
          <p:cNvSpPr txBox="1"/>
          <p:nvPr/>
        </p:nvSpPr>
        <p:spPr>
          <a:xfrm>
            <a:off x="4764024" y="1709928"/>
            <a:ext cx="1700784"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Vòng round, kinh tế, cửa hàng</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HUD, menu, cài đặt</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Âm thanh và lồng tiếng</a:t>
            </a:r>
            <a:endParaRPr lang="en-US" sz="1000" dirty="0"/>
          </a:p>
        </p:txBody>
      </p:sp>
      <p:sp>
        <p:nvSpPr>
          <p:cNvPr id="18" name="card"/>
          <p:cNvSpPr/>
          <p:nvPr/>
        </p:nvSpPr>
        <p:spPr>
          <a:xfrm>
            <a:off x="6775704" y="868680"/>
            <a:ext cx="1920240" cy="2331720"/>
          </a:xfrm>
          <a:prstGeom prst="roundRect">
            <a:avLst>
              <a:gd name="adj" fmla="val 2857"/>
            </a:avLst>
          </a:prstGeom>
          <a:solidFill>
            <a:srgbClr val="EFF3FA"/>
          </a:solidFill>
          <a:ln w="12700">
            <a:solidFill>
              <a:srgbClr val="C7D2E6"/>
            </a:solidFill>
            <a:prstDash val="solid"/>
          </a:ln>
        </p:spPr>
      </p:sp>
      <p:sp>
        <p:nvSpPr>
          <p:cNvPr id="19" name="Shape 17"/>
          <p:cNvSpPr/>
          <p:nvPr/>
        </p:nvSpPr>
        <p:spPr>
          <a:xfrm>
            <a:off x="6775704" y="868680"/>
            <a:ext cx="1920240" cy="310896"/>
          </a:xfrm>
          <a:prstGeom prst="rect">
            <a:avLst/>
          </a:prstGeom>
          <a:solidFill>
            <a:srgbClr val="3D5C9E"/>
          </a:solidFill>
          <a:ln w="12700">
            <a:solidFill>
              <a:srgbClr val="333333"/>
            </a:solidFill>
            <a:prstDash val="solid"/>
          </a:ln>
        </p:spPr>
      </p:sp>
      <p:sp>
        <p:nvSpPr>
          <p:cNvPr id="20" name="Text 18"/>
          <p:cNvSpPr txBox="1"/>
          <p:nvPr/>
        </p:nvSpPr>
        <p:spPr>
          <a:xfrm>
            <a:off x="6775704" y="868680"/>
            <a:ext cx="19202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GIAI ĐOẠN 4</a:t>
            </a:r>
            <a:endParaRPr lang="en-US" sz="1050" dirty="0"/>
          </a:p>
        </p:txBody>
      </p:sp>
      <p:sp>
        <p:nvSpPr>
          <p:cNvPr id="21" name="Text 19"/>
          <p:cNvSpPr txBox="1"/>
          <p:nvPr/>
        </p:nvSpPr>
        <p:spPr>
          <a:xfrm>
            <a:off x="6885432" y="1252728"/>
            <a:ext cx="1700784" cy="420624"/>
          </a:xfrm>
          <a:prstGeom prst="rect">
            <a:avLst/>
          </a:prstGeom>
          <a:noFill/>
          <a:ln/>
        </p:spPr>
        <p:txBody>
          <a:bodyPr wrap="square" lIns="0" tIns="0" rIns="0" bIns="0" rtlCol="0" anchor="t"/>
          <a:lstStyle/>
          <a:p>
            <a:pPr indent="0" marL="0">
              <a:buNone/>
            </a:pPr>
            <a:r>
              <a:rPr lang="en-US" sz="1150" b="1" dirty="0">
                <a:solidFill>
                  <a:srgbClr val="002060"/>
                </a:solidFill>
                <a:latin typeface="Arial" pitchFamily="34" charset="0"/>
                <a:ea typeface="Arial" pitchFamily="34" charset="-122"/>
                <a:cs typeface="Arial" pitchFamily="34" charset="-120"/>
              </a:rPr>
              <a:t>Cân bằng và đánh bóng</a:t>
            </a:r>
            <a:endParaRPr lang="en-US" sz="1150" dirty="0"/>
          </a:p>
        </p:txBody>
      </p:sp>
      <p:sp>
        <p:nvSpPr>
          <p:cNvPr id="22" name="Text 20"/>
          <p:cNvSpPr txBox="1"/>
          <p:nvPr/>
        </p:nvSpPr>
        <p:spPr>
          <a:xfrm>
            <a:off x="6885432" y="1709928"/>
            <a:ext cx="1700784" cy="13716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Thử nghiệm hai máy</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Chỉnh số liệu cân bằng</a:t>
            </a:r>
            <a:endParaRPr lang="en-US" sz="1000" dirty="0"/>
          </a:p>
          <a:p>
            <a:pPr marL="342900" indent="-342900">
              <a:lnSpc>
                <a:spcPct val="105000"/>
              </a:lnSpc>
              <a:spcAft>
                <a:spcPts val="700"/>
              </a:spcAft>
              <a:buSzPct val="100000"/>
              <a:buChar char="•"/>
            </a:pPr>
            <a:r>
              <a:rPr lang="en-US" sz="1000" dirty="0">
                <a:solidFill>
                  <a:srgbClr val="5A6478"/>
                </a:solidFill>
                <a:latin typeface="Arial" pitchFamily="34" charset="0"/>
                <a:ea typeface="Arial" pitchFamily="34" charset="-122"/>
                <a:cs typeface="Arial" pitchFamily="34" charset="-120"/>
              </a:rPr>
              <a:t>Sửa lỗi, viết tài liệu</a:t>
            </a:r>
            <a:endParaRPr lang="en-US" sz="1000" dirty="0"/>
          </a:p>
        </p:txBody>
      </p:sp>
      <p:sp>
        <p:nvSpPr>
          <p:cNvPr id="23" name="card"/>
          <p:cNvSpPr/>
          <p:nvPr/>
        </p:nvSpPr>
        <p:spPr>
          <a:xfrm>
            <a:off x="411480" y="3364992"/>
            <a:ext cx="8321040" cy="1188720"/>
          </a:xfrm>
          <a:prstGeom prst="roundRect">
            <a:avLst>
              <a:gd name="adj" fmla="val 4615"/>
            </a:avLst>
          </a:prstGeom>
          <a:solidFill>
            <a:srgbClr val="F3F7FD"/>
          </a:solidFill>
          <a:ln w="12700">
            <a:solidFill>
              <a:srgbClr val="C7D2E6"/>
            </a:solidFill>
            <a:prstDash val="solid"/>
          </a:ln>
        </p:spPr>
      </p:sp>
      <p:sp>
        <p:nvSpPr>
          <p:cNvPr id="24" name="Text 22"/>
          <p:cNvSpPr txBox="1"/>
          <p:nvPr/>
        </p:nvSpPr>
        <p:spPr>
          <a:xfrm>
            <a:off x="576072" y="3456432"/>
            <a:ext cx="2743200" cy="237744"/>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CÁCH KIỂM THỬ</a:t>
            </a:r>
            <a:endParaRPr lang="en-US" sz="1150" dirty="0"/>
          </a:p>
        </p:txBody>
      </p:sp>
      <p:sp>
        <p:nvSpPr>
          <p:cNvPr id="25" name="Text 23"/>
          <p:cNvSpPr txBox="1"/>
          <p:nvPr/>
        </p:nvSpPr>
        <p:spPr>
          <a:xfrm>
            <a:off x="576072" y="3712464"/>
            <a:ext cx="8001000" cy="749808"/>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Dùng ParrelSync nhân bản project để mở hai client trên cùng một máy — nhờ vậy thử được mọi tình huống mạng mà không cần hai máy tính. Những lỗi chỉ xuất hiện khi có độ trễ thật thì kiểm bằng hai máy riêng, kết nối qua khu vực máy chủ asia.</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5. QUY TRÌNH PHÁT TRIỂN — TOP 3 BUGS</a:t>
            </a:r>
            <a:endParaRPr lang="en-US" sz="1700" dirty="0"/>
          </a:p>
        </p:txBody>
      </p:sp>
      <p:sp>
        <p:nvSpPr>
          <p:cNvPr id="3" name="card"/>
          <p:cNvSpPr/>
          <p:nvPr/>
        </p:nvSpPr>
        <p:spPr>
          <a:xfrm>
            <a:off x="411480" y="868680"/>
            <a:ext cx="8321040" cy="1133856"/>
          </a:xfrm>
          <a:prstGeom prst="roundRect">
            <a:avLst>
              <a:gd name="adj" fmla="val 4839"/>
            </a:avLst>
          </a:prstGeom>
          <a:solidFill>
            <a:srgbClr val="EFF3FA"/>
          </a:solidFill>
          <a:ln w="12700">
            <a:solidFill>
              <a:srgbClr val="C7D2E6"/>
            </a:solidFill>
            <a:prstDash val="solid"/>
          </a:ln>
        </p:spPr>
      </p:sp>
      <p:sp>
        <p:nvSpPr>
          <p:cNvPr id="4" name="Shape 2"/>
          <p:cNvSpPr/>
          <p:nvPr/>
        </p:nvSpPr>
        <p:spPr>
          <a:xfrm>
            <a:off x="576072" y="1024128"/>
            <a:ext cx="310896" cy="310896"/>
          </a:xfrm>
          <a:prstGeom prst="ellipse">
            <a:avLst/>
          </a:prstGeom>
          <a:solidFill>
            <a:srgbClr val="E8453C"/>
          </a:solidFill>
          <a:ln w="12700">
            <a:solidFill>
              <a:srgbClr val="333333"/>
            </a:solidFill>
            <a:prstDash val="solid"/>
          </a:ln>
        </p:spPr>
      </p:sp>
      <p:sp>
        <p:nvSpPr>
          <p:cNvPr id="5" name="Text 3"/>
          <p:cNvSpPr txBox="1"/>
          <p:nvPr/>
        </p:nvSpPr>
        <p:spPr>
          <a:xfrm>
            <a:off x="576072" y="10241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996696" y="996696"/>
            <a:ext cx="758952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Nhân vật máy khách chạy nhanh gấp nhiều lần</a:t>
            </a:r>
            <a:endParaRPr lang="en-US" sz="1250" dirty="0"/>
          </a:p>
        </p:txBody>
      </p:sp>
      <p:sp>
        <p:nvSpPr>
          <p:cNvPr id="7" name="Text 5"/>
          <p:cNvSpPr txBox="1"/>
          <p:nvPr/>
        </p:nvSpPr>
        <p:spPr>
          <a:xfrm>
            <a:off x="996696" y="1280160"/>
            <a:ext cx="7589520" cy="658368"/>
          </a:xfrm>
          <a:prstGeom prst="rect">
            <a:avLst/>
          </a:prstGeom>
          <a:noFill/>
          <a:ln/>
        </p:spPr>
        <p:txBody>
          <a:bodyPr wrap="square" lIns="0" tIns="0" rIns="0" bIns="0" rtlCol="0" anchor="t"/>
          <a:lstStyle/>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Nguyên nhân: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Fusion tua lại nhiều lượt mỗi khung hình. Mỗi lượt tua, CharacterController vẫn nhớ vị trí cũ nên quãng đường bị cộng dồn.</a:t>
            </a:r>
            <a:endParaRPr lang="en-US" sz="1050" dirty="0"/>
          </a:p>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Cách chữa: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Tắt rồi bật lại CharacterController ở đầu mỗi chuỗi tua, qua IBeforeAllTicks.</a:t>
            </a:r>
            <a:endParaRPr lang="en-US" sz="1050" dirty="0"/>
          </a:p>
        </p:txBody>
      </p:sp>
      <p:sp>
        <p:nvSpPr>
          <p:cNvPr id="8" name="card"/>
          <p:cNvSpPr/>
          <p:nvPr/>
        </p:nvSpPr>
        <p:spPr>
          <a:xfrm>
            <a:off x="411480" y="2130552"/>
            <a:ext cx="8321040" cy="1133856"/>
          </a:xfrm>
          <a:prstGeom prst="roundRect">
            <a:avLst>
              <a:gd name="adj" fmla="val 4839"/>
            </a:avLst>
          </a:prstGeom>
          <a:solidFill>
            <a:srgbClr val="EFF3FA"/>
          </a:solidFill>
          <a:ln w="12700">
            <a:solidFill>
              <a:srgbClr val="C7D2E6"/>
            </a:solidFill>
            <a:prstDash val="solid"/>
          </a:ln>
        </p:spPr>
      </p:sp>
      <p:sp>
        <p:nvSpPr>
          <p:cNvPr id="9" name="Shape 7"/>
          <p:cNvSpPr/>
          <p:nvPr/>
        </p:nvSpPr>
        <p:spPr>
          <a:xfrm>
            <a:off x="576072" y="2286000"/>
            <a:ext cx="310896" cy="310896"/>
          </a:xfrm>
          <a:prstGeom prst="ellipse">
            <a:avLst/>
          </a:prstGeom>
          <a:solidFill>
            <a:srgbClr val="2E86DE"/>
          </a:solidFill>
          <a:ln w="12700">
            <a:solidFill>
              <a:srgbClr val="333333"/>
            </a:solidFill>
            <a:prstDash val="solid"/>
          </a:ln>
        </p:spPr>
      </p:sp>
      <p:sp>
        <p:nvSpPr>
          <p:cNvPr id="10" name="Text 8"/>
          <p:cNvSpPr txBox="1"/>
          <p:nvPr/>
        </p:nvSpPr>
        <p:spPr>
          <a:xfrm>
            <a:off x="576072" y="22860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996696" y="2258568"/>
            <a:ext cx="758952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Vật tung khỏi tay bay lệch ngẫu nhiên</a:t>
            </a:r>
            <a:endParaRPr lang="en-US" sz="1250" dirty="0"/>
          </a:p>
        </p:txBody>
      </p:sp>
      <p:sp>
        <p:nvSpPr>
          <p:cNvPr id="12" name="Text 10"/>
          <p:cNvSpPr txBox="1"/>
          <p:nvPr/>
        </p:nvSpPr>
        <p:spPr>
          <a:xfrm>
            <a:off x="996696" y="2542032"/>
            <a:ext cx="7589520" cy="658368"/>
          </a:xfrm>
          <a:prstGeom prst="rect">
            <a:avLst/>
          </a:prstGeom>
          <a:noFill/>
          <a:ln/>
        </p:spPr>
        <p:txBody>
          <a:bodyPr wrap="square" lIns="0" tIns="0" rIns="0" bIns="0" rtlCol="0" anchor="t"/>
          <a:lstStyle/>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Nguyên nhân: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Vật cầm trên tay bị thu nhỏ. Trả lại cỡ thật ngay trong người làm hai khối chồng nhau, PhysX bắn ra lực gỡ kẹt mạnh hơn cả lực tung.</a:t>
            </a:r>
            <a:endParaRPr lang="en-US" sz="1050" dirty="0"/>
          </a:p>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Cách chữa: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Dời vật ra khỏi người theo phương ngang trước, rồi mới bật va chạm và trả vật lý.</a:t>
            </a:r>
            <a:endParaRPr lang="en-US" sz="1050" dirty="0"/>
          </a:p>
        </p:txBody>
      </p:sp>
      <p:sp>
        <p:nvSpPr>
          <p:cNvPr id="13" name="card"/>
          <p:cNvSpPr/>
          <p:nvPr/>
        </p:nvSpPr>
        <p:spPr>
          <a:xfrm>
            <a:off x="411480" y="3392424"/>
            <a:ext cx="8321040" cy="1133856"/>
          </a:xfrm>
          <a:prstGeom prst="roundRect">
            <a:avLst>
              <a:gd name="adj" fmla="val 4839"/>
            </a:avLst>
          </a:prstGeom>
          <a:solidFill>
            <a:srgbClr val="EFF3FA"/>
          </a:solidFill>
          <a:ln w="12700">
            <a:solidFill>
              <a:srgbClr val="C7D2E6"/>
            </a:solidFill>
            <a:prstDash val="solid"/>
          </a:ln>
        </p:spPr>
      </p:sp>
      <p:sp>
        <p:nvSpPr>
          <p:cNvPr id="14" name="Shape 12"/>
          <p:cNvSpPr/>
          <p:nvPr/>
        </p:nvSpPr>
        <p:spPr>
          <a:xfrm>
            <a:off x="576072" y="3547872"/>
            <a:ext cx="310896" cy="310896"/>
          </a:xfrm>
          <a:prstGeom prst="ellipse">
            <a:avLst/>
          </a:prstGeom>
          <a:solidFill>
            <a:srgbClr val="002060"/>
          </a:solidFill>
          <a:ln w="12700">
            <a:solidFill>
              <a:srgbClr val="333333"/>
            </a:solidFill>
            <a:prstDash val="solid"/>
          </a:ln>
        </p:spPr>
      </p:sp>
      <p:sp>
        <p:nvSpPr>
          <p:cNvPr id="15" name="Text 13"/>
          <p:cNvSpPr txBox="1"/>
          <p:nvPr/>
        </p:nvSpPr>
        <p:spPr>
          <a:xfrm>
            <a:off x="576072" y="35478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996696" y="3520440"/>
            <a:ext cx="7589520" cy="274320"/>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Game tắt đột ngột khi kết thúc trận</a:t>
            </a:r>
            <a:endParaRPr lang="en-US" sz="1250" dirty="0"/>
          </a:p>
        </p:txBody>
      </p:sp>
      <p:sp>
        <p:nvSpPr>
          <p:cNvPr id="17" name="Text 15"/>
          <p:cNvSpPr txBox="1"/>
          <p:nvPr/>
        </p:nvSpPr>
        <p:spPr>
          <a:xfrm>
            <a:off x="996696" y="3803904"/>
            <a:ext cx="7589520" cy="658368"/>
          </a:xfrm>
          <a:prstGeom prst="rect">
            <a:avLst/>
          </a:prstGeom>
          <a:noFill/>
          <a:ln/>
        </p:spPr>
        <p:txBody>
          <a:bodyPr wrap="square" lIns="0" tIns="0" rIns="0" bIns="0" rtlCol="0" anchor="t"/>
          <a:lstStyle/>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Nguyên nhân: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Lệnh tắt kết nối được gọi từ bên trong hàm mô phỏng của Fusion — tức là tự huỷ chính thứ đang chạy mình.</a:t>
            </a:r>
            <a:endParaRPr lang="en-US" sz="1050" dirty="0"/>
          </a:p>
          <a:p>
            <a:pPr indent="0" marL="0">
              <a:lnSpc>
                <a:spcPct val="100000"/>
              </a:lnSpc>
              <a:buNone/>
            </a:pPr>
            <a:r>
              <a:rPr lang="en-US" sz="1050" b="1" dirty="0">
                <a:solidFill>
                  <a:srgbClr val="5A6478"/>
                </a:solidFill>
                <a:latin typeface="Arial" pitchFamily="34" charset="0"/>
                <a:ea typeface="Arial" pitchFamily="34" charset="-122"/>
                <a:cs typeface="Arial" pitchFamily="34" charset="-120"/>
              </a:rPr>
              <a:t>Cách chữa: </a:t>
            </a:r>
            <a:pPr indent="0" marL="0">
              <a:lnSpc>
                <a:spcPct val="100000"/>
              </a:lnSpc>
              <a:buNone/>
            </a:pPr>
            <a:r>
              <a:rPr lang="en-US" sz="1050" dirty="0">
                <a:solidFill>
                  <a:srgbClr val="1A1A1A"/>
                </a:solidFill>
                <a:latin typeface="Arial" pitchFamily="34" charset="0"/>
                <a:ea typeface="Arial" pitchFamily="34" charset="-122"/>
                <a:cs typeface="Arial" pitchFamily="34" charset="-120"/>
              </a:rPr>
              <a:t>Hoãn lệnh tắt sang khung hình sau bằng coroutine, để thoát khỏi ngăn xếp mô phỏng.</a:t>
            </a:r>
            <a:endParaRPr lang="en-US" sz="10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7. KẾT QUẢ ĐẠT ĐƯỢC</a:t>
            </a:r>
            <a:endParaRPr lang="en-US" sz="1700" dirty="0"/>
          </a:p>
        </p:txBody>
      </p:sp>
      <p:sp>
        <p:nvSpPr>
          <p:cNvPr id="3" name="card"/>
          <p:cNvSpPr/>
          <p:nvPr/>
        </p:nvSpPr>
        <p:spPr>
          <a:xfrm>
            <a:off x="411480" y="868680"/>
            <a:ext cx="2011680" cy="1005840"/>
          </a:xfrm>
          <a:prstGeom prst="roundRect">
            <a:avLst>
              <a:gd name="adj" fmla="val 5455"/>
            </a:avLst>
          </a:prstGeom>
          <a:solidFill>
            <a:srgbClr val="EFF3FA"/>
          </a:solidFill>
          <a:ln w="12700">
            <a:solidFill>
              <a:srgbClr val="C7D2E6"/>
            </a:solidFill>
            <a:prstDash val="solid"/>
          </a:ln>
        </p:spPr>
      </p:sp>
      <p:sp>
        <p:nvSpPr>
          <p:cNvPr id="4" name="Text 2"/>
          <p:cNvSpPr txBox="1"/>
          <p:nvPr/>
        </p:nvSpPr>
        <p:spPr>
          <a:xfrm>
            <a:off x="411480" y="960120"/>
            <a:ext cx="201168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85</a:t>
            </a:r>
            <a:endParaRPr lang="en-US" sz="3000" dirty="0"/>
          </a:p>
        </p:txBody>
      </p:sp>
      <p:sp>
        <p:nvSpPr>
          <p:cNvPr id="5" name="Text 3"/>
          <p:cNvSpPr txBox="1"/>
          <p:nvPr/>
        </p:nvSpPr>
        <p:spPr>
          <a:xfrm>
            <a:off x="484632" y="1527048"/>
            <a:ext cx="186537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khung hình/giây, bản build 1920x1080</a:t>
            </a:r>
            <a:endParaRPr lang="en-US" sz="1100" dirty="0"/>
          </a:p>
        </p:txBody>
      </p:sp>
      <p:sp>
        <p:nvSpPr>
          <p:cNvPr id="6" name="card"/>
          <p:cNvSpPr/>
          <p:nvPr/>
        </p:nvSpPr>
        <p:spPr>
          <a:xfrm>
            <a:off x="2606040" y="868680"/>
            <a:ext cx="2011680" cy="1005840"/>
          </a:xfrm>
          <a:prstGeom prst="roundRect">
            <a:avLst>
              <a:gd name="adj" fmla="val 5455"/>
            </a:avLst>
          </a:prstGeom>
          <a:solidFill>
            <a:srgbClr val="EFF3FA"/>
          </a:solidFill>
          <a:ln w="12700">
            <a:solidFill>
              <a:srgbClr val="C7D2E6"/>
            </a:solidFill>
            <a:prstDash val="solid"/>
          </a:ln>
        </p:spPr>
      </p:sp>
      <p:sp>
        <p:nvSpPr>
          <p:cNvPr id="7" name="Text 5"/>
          <p:cNvSpPr txBox="1"/>
          <p:nvPr/>
        </p:nvSpPr>
        <p:spPr>
          <a:xfrm>
            <a:off x="2606040" y="960120"/>
            <a:ext cx="2011680" cy="566928"/>
          </a:xfrm>
          <a:prstGeom prst="rect">
            <a:avLst/>
          </a:prstGeom>
          <a:noFill/>
          <a:ln/>
        </p:spPr>
        <p:txBody>
          <a:bodyPr wrap="square" lIns="0" tIns="0" rIns="0" bIns="0" rtlCol="0" anchor="ctr"/>
          <a:lstStyle/>
          <a:p>
            <a:pPr algn="ctr" indent="0" marL="0">
              <a:buNone/>
            </a:pPr>
            <a:r>
              <a:rPr lang="en-US" sz="2600" b="1" dirty="0">
                <a:solidFill>
                  <a:srgbClr val="002060"/>
                </a:solidFill>
                <a:latin typeface="Arial" pitchFamily="34" charset="0"/>
                <a:ea typeface="Arial" pitchFamily="34" charset="-122"/>
                <a:cs typeface="Arial" pitchFamily="34" charset="-120"/>
              </a:rPr>
              <a:t>16 ms</a:t>
            </a:r>
            <a:endParaRPr lang="en-US" sz="2600" dirty="0"/>
          </a:p>
        </p:txBody>
      </p:sp>
      <p:sp>
        <p:nvSpPr>
          <p:cNvPr id="8" name="Text 6"/>
          <p:cNvSpPr txBox="1"/>
          <p:nvPr/>
        </p:nvSpPr>
        <p:spPr>
          <a:xfrm>
            <a:off x="2679192" y="1527048"/>
            <a:ext cx="186537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độ trễ tới máy chủ khu vực asia</a:t>
            </a:r>
            <a:endParaRPr lang="en-US" sz="1100" dirty="0"/>
          </a:p>
        </p:txBody>
      </p:sp>
      <p:sp>
        <p:nvSpPr>
          <p:cNvPr id="9" name="card"/>
          <p:cNvSpPr/>
          <p:nvPr/>
        </p:nvSpPr>
        <p:spPr>
          <a:xfrm>
            <a:off x="4800600" y="868680"/>
            <a:ext cx="1874520" cy="1005840"/>
          </a:xfrm>
          <a:prstGeom prst="roundRect">
            <a:avLst>
              <a:gd name="adj" fmla="val 5455"/>
            </a:avLst>
          </a:prstGeom>
          <a:solidFill>
            <a:srgbClr val="EFF3FA"/>
          </a:solidFill>
          <a:ln w="12700">
            <a:solidFill>
              <a:srgbClr val="C7D2E6"/>
            </a:solidFill>
            <a:prstDash val="solid"/>
          </a:ln>
        </p:spPr>
      </p:sp>
      <p:sp>
        <p:nvSpPr>
          <p:cNvPr id="10" name="Text 8"/>
          <p:cNvSpPr txBox="1"/>
          <p:nvPr/>
        </p:nvSpPr>
        <p:spPr>
          <a:xfrm>
            <a:off x="4800600" y="960120"/>
            <a:ext cx="187452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53</a:t>
            </a:r>
            <a:endParaRPr lang="en-US" sz="3000" dirty="0"/>
          </a:p>
        </p:txBody>
      </p:sp>
      <p:sp>
        <p:nvSpPr>
          <p:cNvPr id="11" name="Text 9"/>
          <p:cNvSpPr txBox="1"/>
          <p:nvPr/>
        </p:nvSpPr>
        <p:spPr>
          <a:xfrm>
            <a:off x="4873752" y="1527048"/>
            <a:ext cx="172821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tệp mã nguồn tự viết</a:t>
            </a:r>
            <a:endParaRPr lang="en-US" sz="1100" dirty="0"/>
          </a:p>
        </p:txBody>
      </p:sp>
      <p:sp>
        <p:nvSpPr>
          <p:cNvPr id="12" name="card"/>
          <p:cNvSpPr/>
          <p:nvPr/>
        </p:nvSpPr>
        <p:spPr>
          <a:xfrm>
            <a:off x="6858000" y="868680"/>
            <a:ext cx="1874520" cy="1005840"/>
          </a:xfrm>
          <a:prstGeom prst="roundRect">
            <a:avLst>
              <a:gd name="adj" fmla="val 5455"/>
            </a:avLst>
          </a:prstGeom>
          <a:solidFill>
            <a:srgbClr val="EFF3FA"/>
          </a:solidFill>
          <a:ln w="12700">
            <a:solidFill>
              <a:srgbClr val="C7D2E6"/>
            </a:solidFill>
            <a:prstDash val="solid"/>
          </a:ln>
        </p:spPr>
      </p:sp>
      <p:sp>
        <p:nvSpPr>
          <p:cNvPr id="13" name="Text 11"/>
          <p:cNvSpPr txBox="1"/>
          <p:nvPr/>
        </p:nvSpPr>
        <p:spPr>
          <a:xfrm>
            <a:off x="6858000" y="960120"/>
            <a:ext cx="1874520" cy="566928"/>
          </a:xfrm>
          <a:prstGeom prst="rect">
            <a:avLst/>
          </a:prstGeom>
          <a:noFill/>
          <a:ln/>
        </p:spPr>
        <p:txBody>
          <a:bodyPr wrap="square" lIns="0" tIns="0" rIns="0" bIns="0" rtlCol="0" anchor="ctr"/>
          <a:lstStyle/>
          <a:p>
            <a:pPr algn="ctr" indent="0" marL="0">
              <a:buNone/>
            </a:pPr>
            <a:r>
              <a:rPr lang="en-US" sz="3000" b="1" dirty="0">
                <a:solidFill>
                  <a:srgbClr val="002060"/>
                </a:solidFill>
                <a:latin typeface="Arial" pitchFamily="34" charset="0"/>
                <a:ea typeface="Arial" pitchFamily="34" charset="-122"/>
                <a:cs typeface="Arial" pitchFamily="34" charset="-120"/>
              </a:rPr>
              <a:t>4</a:t>
            </a:r>
            <a:endParaRPr lang="en-US" sz="3000" dirty="0"/>
          </a:p>
        </p:txBody>
      </p:sp>
      <p:sp>
        <p:nvSpPr>
          <p:cNvPr id="14" name="Text 12"/>
          <p:cNvSpPr txBox="1"/>
          <p:nvPr/>
        </p:nvSpPr>
        <p:spPr>
          <a:xfrm>
            <a:off x="6931152" y="1527048"/>
            <a:ext cx="1728216" cy="274320"/>
          </a:xfrm>
          <a:prstGeom prst="rect">
            <a:avLst/>
          </a:prstGeom>
          <a:noFill/>
          <a:ln/>
        </p:spPr>
        <p:txBody>
          <a:bodyPr wrap="square" lIns="0" tIns="0" rIns="0" bIns="0" rtlCol="0" anchor="t"/>
          <a:lstStyle/>
          <a:p>
            <a:pPr algn="ctr" indent="0" marL="0">
              <a:buNone/>
            </a:pPr>
            <a:r>
              <a:rPr lang="en-US" sz="1100" dirty="0">
                <a:solidFill>
                  <a:srgbClr val="5A6478"/>
                </a:solidFill>
                <a:latin typeface="Arial" pitchFamily="34" charset="0"/>
                <a:ea typeface="Arial" pitchFamily="34" charset="-122"/>
                <a:cs typeface="Arial" pitchFamily="34" charset="-120"/>
              </a:rPr>
              <a:t>chương báo cáo, 53 trang</a:t>
            </a:r>
            <a:endParaRPr lang="en-US" sz="1100" dirty="0"/>
          </a:p>
        </p:txBody>
      </p:sp>
      <p:sp>
        <p:nvSpPr>
          <p:cNvPr id="15" name="card"/>
          <p:cNvSpPr/>
          <p:nvPr/>
        </p:nvSpPr>
        <p:spPr>
          <a:xfrm>
            <a:off x="411480" y="2029968"/>
            <a:ext cx="4069080" cy="2542032"/>
          </a:xfrm>
          <a:prstGeom prst="roundRect">
            <a:avLst>
              <a:gd name="adj" fmla="val 2158"/>
            </a:avLst>
          </a:prstGeom>
          <a:solidFill>
            <a:srgbClr val="EFF3FA"/>
          </a:solidFill>
          <a:ln w="12700">
            <a:solidFill>
              <a:srgbClr val="C7D2E6"/>
            </a:solidFill>
            <a:prstDash val="solid"/>
          </a:ln>
        </p:spPr>
      </p:sp>
      <p:sp>
        <p:nvSpPr>
          <p:cNvPr id="16" name="Text 14"/>
          <p:cNvSpPr txBox="1"/>
          <p:nvPr/>
        </p:nvSpPr>
        <p:spPr>
          <a:xfrm>
            <a:off x="576072" y="2121408"/>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TÍNH NĂNG ĐÃ HOÀN THÀNH</a:t>
            </a:r>
            <a:endParaRPr lang="en-US" sz="1200" dirty="0"/>
          </a:p>
        </p:txBody>
      </p:sp>
      <p:sp>
        <p:nvSpPr>
          <p:cNvPr id="17" name="Text 15"/>
          <p:cNvSpPr txBox="1"/>
          <p:nvPr/>
        </p:nvSpPr>
        <p:spPr>
          <a:xfrm>
            <a:off x="576072" y="2414016"/>
            <a:ext cx="3749040" cy="20574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Trận 2v2 đầy đủ qua mạng, có thắng thua và Overtime</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Bốn loại đạn, cận chiến, kéo áp sát, túi đồ</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Chế độ Quá Tải thay thanh máu</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Khu chiếm đóng, kinh tế, cửa hàng 5 vật phẩm</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HUD, menu, phòng chờ, cài đặt, bảng kết quả</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Âm thanh, nhạc nền, lồng tiếng thông báo</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Chế độ quan sát khi bị loại khỏi round</a:t>
            </a:r>
            <a:endParaRPr lang="en-US" sz="1150" dirty="0"/>
          </a:p>
        </p:txBody>
      </p:sp>
      <p:sp>
        <p:nvSpPr>
          <p:cNvPr id="18" name="card"/>
          <p:cNvSpPr/>
          <p:nvPr/>
        </p:nvSpPr>
        <p:spPr>
          <a:xfrm>
            <a:off x="4663440" y="2029968"/>
            <a:ext cx="4069080" cy="2542032"/>
          </a:xfrm>
          <a:prstGeom prst="roundRect">
            <a:avLst>
              <a:gd name="adj" fmla="val 2158"/>
            </a:avLst>
          </a:prstGeom>
          <a:solidFill>
            <a:srgbClr val="EFF3FA"/>
          </a:solidFill>
          <a:ln w="12700">
            <a:solidFill>
              <a:srgbClr val="C7D2E6"/>
            </a:solidFill>
            <a:prstDash val="solid"/>
          </a:ln>
        </p:spPr>
      </p:sp>
      <p:sp>
        <p:nvSpPr>
          <p:cNvPr id="19" name="Text 17"/>
          <p:cNvSpPr txBox="1"/>
          <p:nvPr/>
        </p:nvSpPr>
        <p:spPr>
          <a:xfrm>
            <a:off x="4828032" y="2121408"/>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VỀ MẶT KỸ THUẬT</a:t>
            </a:r>
            <a:endParaRPr lang="en-US" sz="1200" dirty="0"/>
          </a:p>
        </p:txBody>
      </p:sp>
      <p:sp>
        <p:nvSpPr>
          <p:cNvPr id="20" name="Text 18"/>
          <p:cNvSpPr txBox="1"/>
          <p:nvPr/>
        </p:nvSpPr>
        <p:spPr>
          <a:xfrm>
            <a:off x="4828032" y="2414016"/>
            <a:ext cx="3749040" cy="20574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Đồng bộ được vật thể có vật lý qua mạng — phần khó nhất của đề tài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Xử lý dứt điểm ba lớp lỗi đặc trưng của mô hình tua lại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Không còn lỗi treo hay tắt đột ngột sau khi sửa</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Người chơi thoát giữa trận không làm hỏng trận đấu</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Toàn bộ tài nguyên bên thứ ba đều được khai báo và kiểm giấy phép</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8. HƯỚNG PHÁT TRIỂN  ·  9. KẾT LUẬN</a:t>
            </a:r>
            <a:endParaRPr lang="en-US" sz="1700" dirty="0"/>
          </a:p>
        </p:txBody>
      </p:sp>
      <p:sp>
        <p:nvSpPr>
          <p:cNvPr id="3" name="card"/>
          <p:cNvSpPr/>
          <p:nvPr/>
        </p:nvSpPr>
        <p:spPr>
          <a:xfrm>
            <a:off x="411480" y="868680"/>
            <a:ext cx="4069080" cy="1783080"/>
          </a:xfrm>
          <a:prstGeom prst="roundRect">
            <a:avLst>
              <a:gd name="adj" fmla="val 3077"/>
            </a:avLst>
          </a:prstGeom>
          <a:solidFill>
            <a:srgbClr val="EFF3FA"/>
          </a:solidFill>
          <a:ln w="12700">
            <a:solidFill>
              <a:srgbClr val="C7D2E6"/>
            </a:solidFill>
            <a:prstDash val="solid"/>
          </a:ln>
        </p:spPr>
      </p:sp>
      <p:sp>
        <p:nvSpPr>
          <p:cNvPr id="4" name="Text 2"/>
          <p:cNvSpPr txBox="1"/>
          <p:nvPr/>
        </p:nvSpPr>
        <p:spPr>
          <a:xfrm>
            <a:off x="576072" y="960120"/>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HẠN CHẾ CÒN LẠI</a:t>
            </a:r>
            <a:endParaRPr lang="en-US" sz="1200" dirty="0"/>
          </a:p>
        </p:txBody>
      </p:sp>
      <p:sp>
        <p:nvSpPr>
          <p:cNvPr id="5" name="Text 3"/>
          <p:cNvSpPr txBox="1"/>
          <p:nvPr/>
        </p:nvSpPr>
        <p:spPr>
          <a:xfrm>
            <a:off x="576072" y="1252728"/>
            <a:ext cx="3749040" cy="13258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Mới có một bản đồ, nên lối chơi dễ lặp lại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Chưa có bot máy, bắt buộc đủ người thật</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Chặn người vào giữa trận, không thay thế được người thoát</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Chưa có hệ thống tiến trình giữa các trận</a:t>
            </a:r>
            <a:endParaRPr lang="en-US" sz="1150" dirty="0"/>
          </a:p>
        </p:txBody>
      </p:sp>
      <p:sp>
        <p:nvSpPr>
          <p:cNvPr id="6" name="card"/>
          <p:cNvSpPr/>
          <p:nvPr/>
        </p:nvSpPr>
        <p:spPr>
          <a:xfrm>
            <a:off x="4663440" y="868680"/>
            <a:ext cx="4069080" cy="1783080"/>
          </a:xfrm>
          <a:prstGeom prst="roundRect">
            <a:avLst>
              <a:gd name="adj" fmla="val 3077"/>
            </a:avLst>
          </a:prstGeom>
          <a:solidFill>
            <a:srgbClr val="EFF3FA"/>
          </a:solidFill>
          <a:ln w="12700">
            <a:solidFill>
              <a:srgbClr val="C7D2E6"/>
            </a:solidFill>
            <a:prstDash val="solid"/>
          </a:ln>
        </p:spPr>
      </p:sp>
      <p:sp>
        <p:nvSpPr>
          <p:cNvPr id="7" name="Text 5"/>
          <p:cNvSpPr txBox="1"/>
          <p:nvPr/>
        </p:nvSpPr>
        <p:spPr>
          <a:xfrm>
            <a:off x="4828032" y="960120"/>
            <a:ext cx="3749040" cy="256032"/>
          </a:xfrm>
          <a:prstGeom prst="rect">
            <a:avLst/>
          </a:prstGeom>
          <a:noFill/>
          <a:ln/>
        </p:spPr>
        <p:txBody>
          <a:bodyPr wrap="square" lIns="0" tIns="0" rIns="0" bIns="0" rtlCol="0" anchor="ctr"/>
          <a:lstStyle/>
          <a:p>
            <a:pPr indent="0" marL="0">
              <a:buNone/>
            </a:pPr>
            <a:r>
              <a:rPr lang="en-US" sz="1200" b="1" dirty="0">
                <a:solidFill>
                  <a:srgbClr val="002060"/>
                </a:solidFill>
                <a:latin typeface="Arial" pitchFamily="34" charset="0"/>
                <a:ea typeface="Arial" pitchFamily="34" charset="-122"/>
                <a:cs typeface="Arial" pitchFamily="34" charset="-120"/>
              </a:rPr>
              <a:t>HƯỚNG PHÁT TRIỂN</a:t>
            </a:r>
            <a:endParaRPr lang="en-US" sz="1200" dirty="0"/>
          </a:p>
        </p:txBody>
      </p:sp>
      <p:sp>
        <p:nvSpPr>
          <p:cNvPr id="8" name="Text 6"/>
          <p:cNvSpPr txBox="1"/>
          <p:nvPr/>
        </p:nvSpPr>
        <p:spPr>
          <a:xfrm>
            <a:off x="4828032" y="1252728"/>
            <a:ext cx="3749040" cy="13258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Thêm bản đồ và thêm loại vật thể từ tính mới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Mở rộng quy mô lên 3v3 hoặc 4v4</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Chuyển sang máy chủ chuyên dụng thay cho Host Mode</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Bổ sung hệ thống tiến trình, giao diện tuỳ biến</a:t>
            </a:r>
            <a:endParaRPr lang="en-US" sz="1150" dirty="0"/>
          </a:p>
        </p:txBody>
      </p:sp>
      <p:sp>
        <p:nvSpPr>
          <p:cNvPr id="9" name="card"/>
          <p:cNvSpPr/>
          <p:nvPr/>
        </p:nvSpPr>
        <p:spPr>
          <a:xfrm>
            <a:off x="411480" y="2834640"/>
            <a:ext cx="8321040" cy="1737360"/>
          </a:xfrm>
          <a:prstGeom prst="roundRect">
            <a:avLst>
              <a:gd name="adj" fmla="val 3158"/>
            </a:avLst>
          </a:prstGeom>
          <a:solidFill>
            <a:srgbClr val="F3F7FD"/>
          </a:solidFill>
          <a:ln w="12700">
            <a:solidFill>
              <a:srgbClr val="C7D2E6"/>
            </a:solidFill>
            <a:prstDash val="solid"/>
          </a:ln>
        </p:spPr>
      </p:sp>
      <p:sp>
        <p:nvSpPr>
          <p:cNvPr id="10" name="Text 8"/>
          <p:cNvSpPr txBox="1"/>
          <p:nvPr/>
        </p:nvSpPr>
        <p:spPr>
          <a:xfrm>
            <a:off x="576072" y="2926080"/>
            <a:ext cx="2743200" cy="256032"/>
          </a:xfrm>
          <a:prstGeom prst="rect">
            <a:avLst/>
          </a:prstGeom>
          <a:noFill/>
          <a:ln/>
        </p:spPr>
        <p:txBody>
          <a:bodyPr wrap="square" lIns="0" tIns="0" rIns="0" bIns="0" rtlCol="0" anchor="ctr"/>
          <a:lstStyle/>
          <a:p>
            <a:pPr indent="0" marL="0">
              <a:buNone/>
            </a:pPr>
            <a:r>
              <a:rPr lang="en-US" sz="1250" b="1" dirty="0">
                <a:solidFill>
                  <a:srgbClr val="002060"/>
                </a:solidFill>
                <a:latin typeface="Arial" pitchFamily="34" charset="0"/>
                <a:ea typeface="Arial" pitchFamily="34" charset="-122"/>
                <a:cs typeface="Arial" pitchFamily="34" charset="-120"/>
              </a:rPr>
              <a:t>KẾT LUẬN</a:t>
            </a:r>
            <a:endParaRPr lang="en-US" sz="1250" dirty="0"/>
          </a:p>
        </p:txBody>
      </p:sp>
      <p:sp>
        <p:nvSpPr>
          <p:cNvPr id="11" name="Text 9"/>
          <p:cNvSpPr txBox="1"/>
          <p:nvPr/>
        </p:nvSpPr>
        <p:spPr>
          <a:xfrm>
            <a:off x="576072" y="3218688"/>
            <a:ext cx="8001000" cy="128016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Đã hoàn thành một game FPS đối kháng 2v2 chơi qua mạng, có đầy đủ vòng trận, điều kiện thắng thua, giao diện, hình ảnh và âm thanh</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Đã nắm được cách vận hành của mô hình mạng dự đoán và tua lại — gồm cả những cái bẫy mà tài liệu chính thức không nói tới</a:t>
            </a:r>
            <a:endParaRPr lang="en-US" sz="1150" dirty="0"/>
          </a:p>
          <a:p>
            <a:pPr marL="342900" indent="-342900">
              <a:lnSpc>
                <a:spcPct val="105000"/>
              </a:lnSpc>
              <a:spcAft>
                <a:spcPts val="700"/>
              </a:spcAft>
              <a:buSzPct val="100000"/>
              <a:buChar char="•"/>
            </a:pPr>
            <a:r>
              <a:rPr lang="en-US" sz="1150" dirty="0">
                <a:solidFill>
                  <a:srgbClr val="1A1A1A"/>
                </a:solidFill>
                <a:latin typeface="Arial" pitchFamily="34" charset="0"/>
                <a:ea typeface="Arial" pitchFamily="34" charset="-122"/>
                <a:cs typeface="Arial" pitchFamily="34" charset="-120"/>
              </a:rPr>
              <a:t>Đã chứng minh được rằng một cơ chế thay thế thanh máu là khả thi và tạo ra lối chơi khác biệt, không chỉ là ý tưởng trên giấy</a:t>
            </a:r>
            <a:endParaRPr lang="en-US" sz="11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874520"/>
            <a:ext cx="8046720" cy="68580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CẢM ƠN HỘI ĐỒNG ĐÃ LẮNG NGHE</a:t>
            </a:r>
            <a:endParaRPr lang="en-US" sz="3400" dirty="0"/>
          </a:p>
        </p:txBody>
      </p:sp>
      <p:sp>
        <p:nvSpPr>
          <p:cNvPr id="3" name="Text 1"/>
          <p:cNvSpPr txBox="1"/>
          <p:nvPr/>
        </p:nvSpPr>
        <p:spPr>
          <a:xfrm>
            <a:off x="548640" y="2606040"/>
            <a:ext cx="8046720" cy="365760"/>
          </a:xfrm>
          <a:prstGeom prst="rect">
            <a:avLst/>
          </a:prstGeom>
          <a:noFill/>
          <a:ln/>
        </p:spPr>
        <p:txBody>
          <a:bodyPr wrap="square" lIns="0" tIns="0" rIns="0" bIns="0" rtlCol="0" anchor="ctr"/>
          <a:lstStyle/>
          <a:p>
            <a:pPr algn="ctr" indent="0" marL="0">
              <a:buNone/>
            </a:pPr>
            <a:r>
              <a:rPr lang="en-US" sz="1500" dirty="0">
                <a:solidFill>
                  <a:srgbClr val="C8D6EF"/>
                </a:solidFill>
                <a:latin typeface="Arial" pitchFamily="34" charset="0"/>
                <a:ea typeface="Arial" pitchFamily="34" charset="-122"/>
                <a:cs typeface="Arial" pitchFamily="34" charset="-120"/>
              </a:rPr>
              <a:t>Rất mong nhận được câu hỏi và góp ý từ hội đồng</a:t>
            </a:r>
            <a:endParaRPr lang="en-US" sz="1500" dirty="0"/>
          </a:p>
        </p:txBody>
      </p:sp>
      <p:sp>
        <p:nvSpPr>
          <p:cNvPr id="4" name="Shape 2"/>
          <p:cNvSpPr/>
          <p:nvPr/>
        </p:nvSpPr>
        <p:spPr>
          <a:xfrm>
            <a:off x="4315968" y="3200400"/>
            <a:ext cx="164592" cy="164592"/>
          </a:xfrm>
          <a:prstGeom prst="ellipse">
            <a:avLst/>
          </a:prstGeom>
          <a:solidFill>
            <a:srgbClr val="E8453C"/>
          </a:solidFill>
          <a:ln w="12700">
            <a:solidFill>
              <a:srgbClr val="333333"/>
            </a:solidFill>
            <a:prstDash val="solid"/>
          </a:ln>
        </p:spPr>
      </p:sp>
      <p:sp>
        <p:nvSpPr>
          <p:cNvPr id="5" name="Shape 3"/>
          <p:cNvSpPr/>
          <p:nvPr/>
        </p:nvSpPr>
        <p:spPr>
          <a:xfrm>
            <a:off x="4663440" y="3200400"/>
            <a:ext cx="164592" cy="164592"/>
          </a:xfrm>
          <a:prstGeom prst="ellipse">
            <a:avLst/>
          </a:prstGeom>
          <a:solidFill>
            <a:srgbClr val="2E86DE"/>
          </a:solidFill>
          <a:ln w="12700">
            <a:solidFill>
              <a:srgbClr val="333333"/>
            </a:solidFill>
            <a:prstDash val="solid"/>
          </a:ln>
        </p:spPr>
      </p:sp>
      <p:sp>
        <p:nvSpPr>
          <p:cNvPr id="6" name="Text 4"/>
          <p:cNvSpPr txBox="1"/>
          <p:nvPr/>
        </p:nvSpPr>
        <p:spPr>
          <a:xfrm>
            <a:off x="548640" y="3931920"/>
            <a:ext cx="8046720" cy="274320"/>
          </a:xfrm>
          <a:prstGeom prst="rect">
            <a:avLst/>
          </a:prstGeom>
          <a:noFill/>
          <a:ln/>
        </p:spPr>
        <p:txBody>
          <a:bodyPr wrap="square" lIns="0" tIns="0" rIns="0" bIns="0" rtlCol="0" anchor="ctr"/>
          <a:lstStyle/>
          <a:p>
            <a:pPr algn="ctr" indent="0" marL="0">
              <a:buNone/>
            </a:pPr>
            <a:r>
              <a:rPr lang="en-US" sz="1100" dirty="0">
                <a:solidFill>
                  <a:srgbClr val="9FB5DA"/>
                </a:solidFill>
                <a:latin typeface="Arial" pitchFamily="34" charset="0"/>
                <a:ea typeface="Arial" pitchFamily="34" charset="-122"/>
                <a:cs typeface="Arial" pitchFamily="34" charset="-120"/>
              </a:rPr>
              <a:t>MAGNETO-DOME  ·  Nguyễn Hoàng Gia Khiêm  ·  K24M-GAME1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TIMELINE</a:t>
            </a:r>
            <a:endParaRPr lang="en-US" sz="1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463040"/>
                <a:gridCol w="5120640"/>
                <a:gridCol w="1737360"/>
              </a:tblGrid>
              <a:tr h="475488">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Mốc</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Nội dung chính</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Kết quả</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475488">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Giai đoạn 1</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Gameplay chạy một máy: di chuyển, găng tay từ tính, vật thể, cận chiến</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Chơi được offline</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475488">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Giai đoạn 2</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Chuyển toàn bộ sang Photon Fusion 2 Host Mode, đồng bộ vật lý</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Hai máy chơi được</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475488">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Giai đoạn 3</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Vòng round, kinh tế, cửa hàng, HUD, menu, âm thanh, cài đặt</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Trận đấu hoàn chỉnh</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475488">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Giai đoạn 4</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Cân bằng số liệu, kiểm thử hai máy, sửa lỗi, viết báo cáo</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50" dirty="0">
                          <a:solidFill>
                            <a:srgbClr val="1A1A1A"/>
                          </a:solidFill>
                          <a:latin typeface="Arial" pitchFamily="34" charset="0"/>
                          <a:ea typeface="Arial" pitchFamily="34" charset="-122"/>
                          <a:cs typeface="Arial" pitchFamily="34" charset="-120"/>
                        </a:rPr>
                        <a:t>Sẵn sàng bảo vệ</a:t>
                      </a:r>
                      <a:endParaRPr lang="en-US" sz="115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4" name="card"/>
          <p:cNvSpPr/>
          <p:nvPr/>
        </p:nvSpPr>
        <p:spPr>
          <a:xfrm>
            <a:off x="411480" y="3566160"/>
            <a:ext cx="8321040" cy="914400"/>
          </a:xfrm>
          <a:prstGeom prst="roundRect">
            <a:avLst>
              <a:gd name="adj" fmla="val 6000"/>
            </a:avLst>
          </a:prstGeom>
          <a:solidFill>
            <a:srgbClr val="F3F7FD"/>
          </a:solidFill>
          <a:ln w="12700">
            <a:solidFill>
              <a:srgbClr val="C7D2E6"/>
            </a:solidFill>
            <a:prstDash val="solid"/>
          </a:ln>
        </p:spPr>
      </p:sp>
      <p:sp>
        <p:nvSpPr>
          <p:cNvPr id="5" name="Text 2"/>
          <p:cNvSpPr txBox="1"/>
          <p:nvPr/>
        </p:nvSpPr>
        <p:spPr>
          <a:xfrm>
            <a:off x="576072" y="3730752"/>
            <a:ext cx="8001000" cy="64008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Toàn bộ đồ án do một người thực hiện: thiết kế lối chơi, lập trình, dựng cảnh, xử lý âm thanh và viết tài liệu. Không có thành viên nào khác.</a:t>
            </a:r>
            <a:endParaRPr lang="en-US" sz="12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BALANCE SHEET</a:t>
            </a:r>
            <a:endParaRPr lang="en-US" sz="1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2651760"/>
                <a:gridCol w="1508760"/>
                <a:gridCol w="2651760"/>
                <a:gridCol w="1508760"/>
              </a:tblGrid>
              <a:tr h="36576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Hạng mục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Giá trị</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Hạng mục</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Giá trị</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Thang điện tích tối đa</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Pha chuẩn bị</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15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Hệ số lực văng khi đầy điện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x4,0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Pha chiến đấu</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300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Hệ số nhân điện tích nhận vào</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x1,5</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Chiếm khu để thắng</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60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Điện tích: Normal / Heavy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10 / 20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Hồi sinh sau khi rơi</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5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Điện tích: Spike / TNT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25 / 35</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Bất tử sau hồi sinh</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2 giây</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Bán kính nổ TNT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6 mét</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Thắng trận</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5 round, cách biệt 2</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365760">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Thưởng thắng / thua round</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$300 / $200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Trần ví</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$750</a:t>
                      </a:r>
                      <a:endParaRPr lang="en-US" sz="11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CODE ARCHITECTURE</a:t>
            </a:r>
            <a:endParaRPr lang="en-US" sz="1700" dirty="0"/>
          </a:p>
        </p:txBody>
      </p:sp>
      <p:sp>
        <p:nvSpPr>
          <p:cNvPr id="3" name="card"/>
          <p:cNvSpPr/>
          <p:nvPr/>
        </p:nvSpPr>
        <p:spPr>
          <a:xfrm>
            <a:off x="411480" y="978408"/>
            <a:ext cx="8321040" cy="576072"/>
          </a:xfrm>
          <a:prstGeom prst="roundRect">
            <a:avLst>
              <a:gd name="adj" fmla="val 9524"/>
            </a:avLst>
          </a:prstGeom>
          <a:solidFill>
            <a:srgbClr val="EFF3FA"/>
          </a:solidFill>
          <a:ln w="12700">
            <a:solidFill>
              <a:srgbClr val="C7D2E6"/>
            </a:solidFill>
            <a:prstDash val="solid"/>
          </a:ln>
        </p:spPr>
      </p:sp>
      <p:sp>
        <p:nvSpPr>
          <p:cNvPr id="4" name="Shape 2"/>
          <p:cNvSpPr/>
          <p:nvPr/>
        </p:nvSpPr>
        <p:spPr>
          <a:xfrm>
            <a:off x="557784" y="1170432"/>
            <a:ext cx="182880" cy="182880"/>
          </a:xfrm>
          <a:prstGeom prst="ellipse">
            <a:avLst/>
          </a:prstGeom>
          <a:solidFill>
            <a:srgbClr val="2E86DE"/>
          </a:solidFill>
          <a:ln w="12700">
            <a:solidFill>
              <a:srgbClr val="333333"/>
            </a:solidFill>
            <a:prstDash val="solid"/>
          </a:ln>
        </p:spPr>
      </p:sp>
      <p:sp>
        <p:nvSpPr>
          <p:cNvPr id="5" name="Text 3"/>
          <p:cNvSpPr txBox="1"/>
          <p:nvPr/>
        </p:nvSpPr>
        <p:spPr>
          <a:xfrm>
            <a:off x="832104" y="97840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Người chơi</a:t>
            </a:r>
            <a:endParaRPr lang="en-US" sz="1150" dirty="0"/>
          </a:p>
        </p:txBody>
      </p:sp>
      <p:sp>
        <p:nvSpPr>
          <p:cNvPr id="6" name="Text 4"/>
          <p:cNvSpPr txBox="1"/>
          <p:nvPr/>
        </p:nvSpPr>
        <p:spPr>
          <a:xfrm>
            <a:off x="2240280" y="97840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FPSMovement, PlayerHealth, PlayerMagnetController, InventorySystem, PlayerEconomy, PlayerVisuals</a:t>
            </a:r>
            <a:endParaRPr lang="en-US" sz="1050" dirty="0"/>
          </a:p>
        </p:txBody>
      </p:sp>
      <p:sp>
        <p:nvSpPr>
          <p:cNvPr id="7" name="card"/>
          <p:cNvSpPr/>
          <p:nvPr/>
        </p:nvSpPr>
        <p:spPr>
          <a:xfrm>
            <a:off x="411480" y="1618488"/>
            <a:ext cx="8321040" cy="576072"/>
          </a:xfrm>
          <a:prstGeom prst="roundRect">
            <a:avLst>
              <a:gd name="adj" fmla="val 9524"/>
            </a:avLst>
          </a:prstGeom>
          <a:solidFill>
            <a:srgbClr val="EFF3FA"/>
          </a:solidFill>
          <a:ln w="12700">
            <a:solidFill>
              <a:srgbClr val="C7D2E6"/>
            </a:solidFill>
            <a:prstDash val="solid"/>
          </a:ln>
        </p:spPr>
      </p:sp>
      <p:sp>
        <p:nvSpPr>
          <p:cNvPr id="8" name="Shape 6"/>
          <p:cNvSpPr/>
          <p:nvPr/>
        </p:nvSpPr>
        <p:spPr>
          <a:xfrm>
            <a:off x="557784" y="1810512"/>
            <a:ext cx="182880" cy="182880"/>
          </a:xfrm>
          <a:prstGeom prst="ellipse">
            <a:avLst/>
          </a:prstGeom>
          <a:solidFill>
            <a:srgbClr val="E8453C"/>
          </a:solidFill>
          <a:ln w="12700">
            <a:solidFill>
              <a:srgbClr val="333333"/>
            </a:solidFill>
            <a:prstDash val="solid"/>
          </a:ln>
        </p:spPr>
      </p:sp>
      <p:sp>
        <p:nvSpPr>
          <p:cNvPr id="9" name="Text 7"/>
          <p:cNvSpPr txBox="1"/>
          <p:nvPr/>
        </p:nvSpPr>
        <p:spPr>
          <a:xfrm>
            <a:off x="832104" y="161848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Vật thể</a:t>
            </a:r>
            <a:endParaRPr lang="en-US" sz="1150" dirty="0"/>
          </a:p>
        </p:txBody>
      </p:sp>
      <p:sp>
        <p:nvSpPr>
          <p:cNvPr id="10" name="Text 8"/>
          <p:cNvSpPr txBox="1"/>
          <p:nvPr/>
        </p:nvSpPr>
        <p:spPr>
          <a:xfrm>
            <a:off x="2240280" y="161848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MagneticObject (gộp cả bốn loại trong một lớp, phân biệt bằng enum), MagneticAura, CombatVFX</a:t>
            </a:r>
            <a:endParaRPr lang="en-US" sz="1050" dirty="0"/>
          </a:p>
        </p:txBody>
      </p:sp>
      <p:sp>
        <p:nvSpPr>
          <p:cNvPr id="11" name="card"/>
          <p:cNvSpPr/>
          <p:nvPr/>
        </p:nvSpPr>
        <p:spPr>
          <a:xfrm>
            <a:off x="411480" y="2258568"/>
            <a:ext cx="8321040" cy="576072"/>
          </a:xfrm>
          <a:prstGeom prst="roundRect">
            <a:avLst>
              <a:gd name="adj" fmla="val 9524"/>
            </a:avLst>
          </a:prstGeom>
          <a:solidFill>
            <a:srgbClr val="EFF3FA"/>
          </a:solidFill>
          <a:ln w="12700">
            <a:solidFill>
              <a:srgbClr val="C7D2E6"/>
            </a:solidFill>
            <a:prstDash val="solid"/>
          </a:ln>
        </p:spPr>
      </p:sp>
      <p:sp>
        <p:nvSpPr>
          <p:cNvPr id="12" name="Shape 10"/>
          <p:cNvSpPr/>
          <p:nvPr/>
        </p:nvSpPr>
        <p:spPr>
          <a:xfrm>
            <a:off x="557784" y="2450592"/>
            <a:ext cx="182880" cy="182880"/>
          </a:xfrm>
          <a:prstGeom prst="ellipse">
            <a:avLst/>
          </a:prstGeom>
          <a:solidFill>
            <a:srgbClr val="002060"/>
          </a:solidFill>
          <a:ln w="12700">
            <a:solidFill>
              <a:srgbClr val="333333"/>
            </a:solidFill>
            <a:prstDash val="solid"/>
          </a:ln>
        </p:spPr>
      </p:sp>
      <p:sp>
        <p:nvSpPr>
          <p:cNvPr id="13" name="Text 11"/>
          <p:cNvSpPr txBox="1"/>
          <p:nvPr/>
        </p:nvSpPr>
        <p:spPr>
          <a:xfrm>
            <a:off x="832104" y="225856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Điều phối trận</a:t>
            </a:r>
            <a:endParaRPr lang="en-US" sz="1150" dirty="0"/>
          </a:p>
        </p:txBody>
      </p:sp>
      <p:sp>
        <p:nvSpPr>
          <p:cNvPr id="14" name="Text 12"/>
          <p:cNvSpPr txBox="1"/>
          <p:nvPr/>
        </p:nvSpPr>
        <p:spPr>
          <a:xfrm>
            <a:off x="2240280" y="225856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GameManager (vòng round, Overtime, vùng chết), ControlZone, ShopManager</a:t>
            </a:r>
            <a:endParaRPr lang="en-US" sz="1050" dirty="0"/>
          </a:p>
        </p:txBody>
      </p:sp>
      <p:sp>
        <p:nvSpPr>
          <p:cNvPr id="15" name="card"/>
          <p:cNvSpPr/>
          <p:nvPr/>
        </p:nvSpPr>
        <p:spPr>
          <a:xfrm>
            <a:off x="411480" y="2898648"/>
            <a:ext cx="8321040" cy="576072"/>
          </a:xfrm>
          <a:prstGeom prst="roundRect">
            <a:avLst>
              <a:gd name="adj" fmla="val 9524"/>
            </a:avLst>
          </a:prstGeom>
          <a:solidFill>
            <a:srgbClr val="EFF3FA"/>
          </a:solidFill>
          <a:ln w="12700">
            <a:solidFill>
              <a:srgbClr val="C7D2E6"/>
            </a:solidFill>
            <a:prstDash val="solid"/>
          </a:ln>
        </p:spPr>
      </p:sp>
      <p:sp>
        <p:nvSpPr>
          <p:cNvPr id="16" name="Shape 14"/>
          <p:cNvSpPr/>
          <p:nvPr/>
        </p:nvSpPr>
        <p:spPr>
          <a:xfrm>
            <a:off x="557784" y="3090672"/>
            <a:ext cx="182880" cy="182880"/>
          </a:xfrm>
          <a:prstGeom prst="ellipse">
            <a:avLst/>
          </a:prstGeom>
          <a:solidFill>
            <a:srgbClr val="26407D"/>
          </a:solidFill>
          <a:ln w="12700">
            <a:solidFill>
              <a:srgbClr val="333333"/>
            </a:solidFill>
            <a:prstDash val="solid"/>
          </a:ln>
        </p:spPr>
      </p:sp>
      <p:sp>
        <p:nvSpPr>
          <p:cNvPr id="17" name="Text 15"/>
          <p:cNvSpPr txBox="1"/>
          <p:nvPr/>
        </p:nvSpPr>
        <p:spPr>
          <a:xfrm>
            <a:off x="832104" y="289864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Mạng</a:t>
            </a:r>
            <a:endParaRPr lang="en-US" sz="1150" dirty="0"/>
          </a:p>
        </p:txBody>
      </p:sp>
      <p:sp>
        <p:nvSpPr>
          <p:cNvPr id="18" name="Text 16"/>
          <p:cNvSpPr txBox="1"/>
          <p:nvPr/>
        </p:nvSpPr>
        <p:spPr>
          <a:xfrm>
            <a:off x="2240280" y="289864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NetworkRunnerHandler (khởi tạo Fusion, tạo và vào phòng), RoomPlayer, NetworkInputData</a:t>
            </a:r>
            <a:endParaRPr lang="en-US" sz="1050" dirty="0"/>
          </a:p>
        </p:txBody>
      </p:sp>
      <p:sp>
        <p:nvSpPr>
          <p:cNvPr id="19" name="card"/>
          <p:cNvSpPr/>
          <p:nvPr/>
        </p:nvSpPr>
        <p:spPr>
          <a:xfrm>
            <a:off x="411480" y="3538728"/>
            <a:ext cx="8321040" cy="576072"/>
          </a:xfrm>
          <a:prstGeom prst="roundRect">
            <a:avLst>
              <a:gd name="adj" fmla="val 9524"/>
            </a:avLst>
          </a:prstGeom>
          <a:solidFill>
            <a:srgbClr val="EFF3FA"/>
          </a:solidFill>
          <a:ln w="12700">
            <a:solidFill>
              <a:srgbClr val="C7D2E6"/>
            </a:solidFill>
            <a:prstDash val="solid"/>
          </a:ln>
        </p:spPr>
      </p:sp>
      <p:sp>
        <p:nvSpPr>
          <p:cNvPr id="20" name="Shape 18"/>
          <p:cNvSpPr/>
          <p:nvPr/>
        </p:nvSpPr>
        <p:spPr>
          <a:xfrm>
            <a:off x="557784" y="3730752"/>
            <a:ext cx="182880" cy="182880"/>
          </a:xfrm>
          <a:prstGeom prst="ellipse">
            <a:avLst/>
          </a:prstGeom>
          <a:solidFill>
            <a:srgbClr val="5A6478"/>
          </a:solidFill>
          <a:ln w="12700">
            <a:solidFill>
              <a:srgbClr val="333333"/>
            </a:solidFill>
            <a:prstDash val="solid"/>
          </a:ln>
        </p:spPr>
      </p:sp>
      <p:sp>
        <p:nvSpPr>
          <p:cNvPr id="21" name="Text 19"/>
          <p:cNvSpPr txBox="1"/>
          <p:nvPr/>
        </p:nvSpPr>
        <p:spPr>
          <a:xfrm>
            <a:off x="832104" y="3538728"/>
            <a:ext cx="1417320" cy="576072"/>
          </a:xfrm>
          <a:prstGeom prst="rect">
            <a:avLst/>
          </a:prstGeom>
          <a:noFill/>
          <a:ln/>
        </p:spPr>
        <p:txBody>
          <a:bodyPr wrap="square" lIns="0" tIns="0" rIns="0" bIns="0" rtlCol="0" anchor="ctr"/>
          <a:lstStyle/>
          <a:p>
            <a:pPr indent="0" marL="0">
              <a:buNone/>
            </a:pPr>
            <a:r>
              <a:rPr lang="en-US" sz="1150" b="1" dirty="0">
                <a:solidFill>
                  <a:srgbClr val="002060"/>
                </a:solidFill>
                <a:latin typeface="Arial" pitchFamily="34" charset="0"/>
                <a:ea typeface="Arial" pitchFamily="34" charset="-122"/>
                <a:cs typeface="Arial" pitchFamily="34" charset="-120"/>
              </a:rPr>
              <a:t>Giao diện</a:t>
            </a:r>
            <a:endParaRPr lang="en-US" sz="1150" dirty="0"/>
          </a:p>
        </p:txBody>
      </p:sp>
      <p:sp>
        <p:nvSpPr>
          <p:cNvPr id="22" name="Text 20"/>
          <p:cNvSpPr txBox="1"/>
          <p:nvPr/>
        </p:nvSpPr>
        <p:spPr>
          <a:xfrm>
            <a:off x="2240280" y="3538728"/>
            <a:ext cx="6355080" cy="57607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HUDController, MatchResultPanel, LoadingScreen, ControlsOverlay, SettingsUI, RadialMenuController</a:t>
            </a:r>
            <a:endParaRPr lang="en-US" sz="1050" dirty="0"/>
          </a:p>
        </p:txBody>
      </p:sp>
      <p:sp>
        <p:nvSpPr>
          <p:cNvPr id="23" name="Text 21"/>
          <p:cNvSpPr txBox="1"/>
          <p:nvPr/>
        </p:nvSpPr>
        <p:spPr>
          <a:xfrm>
            <a:off x="411480" y="4206240"/>
            <a:ext cx="7498080" cy="219456"/>
          </a:xfrm>
          <a:prstGeom prst="rect">
            <a:avLst/>
          </a:prstGeom>
          <a:noFill/>
          <a:ln/>
        </p:spPr>
        <p:txBody>
          <a:bodyPr wrap="square" lIns="0" tIns="0" rIns="0" bIns="0" rtlCol="0" anchor="ctr"/>
          <a:lstStyle/>
          <a:p>
            <a:pPr indent="0" marL="0">
              <a:buNone/>
            </a:pPr>
            <a:r>
              <a:rPr lang="en-US" sz="950" i="1" dirty="0">
                <a:solidFill>
                  <a:srgbClr val="5A6478"/>
                </a:solidFill>
                <a:latin typeface="Arial" pitchFamily="34" charset="0"/>
                <a:ea typeface="Arial" pitchFamily="34" charset="-122"/>
                <a:cs typeface="Arial" pitchFamily="34" charset="-120"/>
              </a:rPr>
              <a:t>53 tệp mã nguồn, khoảng 24.000 dòng do học viên tự viết — chưa tính thư viện Photon và các gói bên thứ ba.</a:t>
            </a:r>
            <a:endParaRPr lang="en-US" sz="95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274320" y="343814"/>
            <a:ext cx="6400800" cy="336499"/>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CREDITS</a:t>
            </a:r>
            <a:endParaRPr lang="en-US" sz="1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2743200"/>
                <a:gridCol w="3291840"/>
                <a:gridCol w="2286000"/>
              </a:tblGrid>
              <a:tr h="283464">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Hạng mục</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Nguồn</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Giấy phép</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solidFill>
                      <a:srgbClr val="26407D"/>
                    </a:solidFill>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Mã nguồn, lối chơi, hiệu ứng, giao diện</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Học viên tự làm</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Khung mạng Photon Fusion 2</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Photon Engine</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Miễn phí dưới 100 CCU</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Mô hình hòn đảo</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Sinh bằng Meshy AI</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Có ghi nguồn Meshy</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Nhân vật và hoạt ảnh</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Mixamo — Adobe</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Miễn phí, dùng thương mại</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Đá, cây</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Asset Store: Manufactura K4, Pixel Games</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Giấy phép Asset Store</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Cỏ, hoa, bụi cây</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Quaternius</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CC0, dùng tự do</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Bầu trời</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Asset Store: Render Knight</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Gói miễn phí</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Nhạc nền</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Pixabay</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Pixabay Content License</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Hiệu ứng âm thanh</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Freesound, Kenney, Pixabay</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CC0 / CC BY (ghi tác giả)</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r h="2834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Giọng thông báo</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Sinh bằng ElevenLabs</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Có ghi nguồn elevenlabs.io</a:t>
                      </a:r>
                      <a:endParaRPr lang="en-US" sz="1000" dirty="0">
                        <a:latin typeface="Arial" charset="0"/>
                        <a:ea typeface="Arial" charset="0"/>
                        <a:cs typeface="Arial" charset="0"/>
                      </a:endParaRPr>
                    </a:p>
                  </a:txBody>
                  <a:tcPr marL="88900" marR="88900" marT="38100" marB="38100" anchor="ctr">
                    <a:lnL w="12700" cap="flat" cmpd="sng" algn="ctr">
                      <a:solidFill>
                        <a:srgbClr val="C7D2E6"/>
                      </a:solidFill>
                      <a:prstDash val="solid"/>
                      <a:round/>
                      <a:headEnd type="none" w="med" len="med"/>
                      <a:tailEnd type="none" w="med" len="med"/>
                    </a:lnL>
                    <a:lnR w="12700" cap="flat" cmpd="sng" algn="ctr">
                      <a:solidFill>
                        <a:srgbClr val="C7D2E6"/>
                      </a:solidFill>
                      <a:prstDash val="solid"/>
                      <a:round/>
                      <a:headEnd type="none" w="med" len="med"/>
                      <a:tailEnd type="none" w="med" len="med"/>
                    </a:lnR>
                    <a:lnT w="12700" cap="flat" cmpd="sng" algn="ctr">
                      <a:solidFill>
                        <a:srgbClr val="C7D2E6"/>
                      </a:solidFill>
                      <a:prstDash val="solid"/>
                      <a:round/>
                      <a:headEnd type="none" w="med" len="med"/>
                      <a:tailEnd type="none" w="med" len="med"/>
                    </a:lnT>
                    <a:lnB w="12700" cap="flat" cmpd="sng" algn="ctr">
                      <a:solidFill>
                        <a:srgbClr val="C7D2E6"/>
                      </a:solidFill>
                      <a:prstDash val="solid"/>
                      <a:round/>
                      <a:headEnd type="none" w="med" len="med"/>
                      <a:tailEnd type="none" w="med" len="med"/>
                    </a:lnB>
                  </a:tcPr>
                </a:tc>
              </a:tr>
            </a:tbl>
          </a:graphicData>
        </a:graphic>
      </p:graphicFrame>
      <p:sp>
        <p:nvSpPr>
          <p:cNvPr id="4" name="card"/>
          <p:cNvSpPr/>
          <p:nvPr/>
        </p:nvSpPr>
        <p:spPr>
          <a:xfrm>
            <a:off x="411480" y="4160520"/>
            <a:ext cx="8321040" cy="457200"/>
          </a:xfrm>
          <a:prstGeom prst="roundRect">
            <a:avLst>
              <a:gd name="adj" fmla="val 12000"/>
            </a:avLst>
          </a:prstGeom>
          <a:solidFill>
            <a:srgbClr val="F3F7FD"/>
          </a:solidFill>
          <a:ln w="12700">
            <a:solidFill>
              <a:srgbClr val="C7D2E6"/>
            </a:solidFill>
            <a:prstDash val="solid"/>
          </a:ln>
        </p:spPr>
      </p:sp>
      <p:sp>
        <p:nvSpPr>
          <p:cNvPr id="5" name="Text 2"/>
          <p:cNvSpPr txBox="1"/>
          <p:nvPr/>
        </p:nvSpPr>
        <p:spPr>
          <a:xfrm>
            <a:off x="576072" y="4160520"/>
            <a:ext cx="8001000" cy="457200"/>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Danh sách đầy đủ nằm ở Phụ lục B của báo cáo và trong tệp CREDITS.md kèm theo mã nguồn.</a:t>
            </a:r>
            <a:endParaRPr lang="en-US" sz="1100" dirty="0"/>
          </a:p>
        </p:txBody>
      </p:sp>
      <p:sp>
        <p:nvSpPr>
          <p:cNvPr id="25" name="Slide Number Placeholder 0"/>
          <p:cNvSpPr>
            <a:spLocks noGrp="1"/>
          </p:cNvSpPr>
          <p:nvPr>
            <p:ph type="sldNum" sz="quarter" idx="4294967295"/>
          </p:nvPr>
        </p:nvSpPr>
        <p:spPr>
          <a:xfrm>
            <a:off x="84582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478"/>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Magneto-Dome - Bao cao do an tot nghiep</dc:title>
  <dc:subject>PptxGenJS Presentation</dc:subject>
  <dc:creator>Nguyen Hoang Gia Khiem</dc:creator>
  <cp:lastModifiedBy>Nguyen Hoang Gia Khiem</cp:lastModifiedBy>
  <cp:revision>1</cp:revision>
  <dcterms:created xsi:type="dcterms:W3CDTF">2026-10-19T15:40:09Z</dcterms:created>
  <dcterms:modified xsi:type="dcterms:W3CDTF">2026-10-19T15:40:09Z</dcterms:modified>
</cp:coreProperties>
</file>