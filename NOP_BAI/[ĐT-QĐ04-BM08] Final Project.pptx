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o dau" id="{FA34DD48-BFFD-C231-2008-01DD98103D92}">
          <p14:sldIdLst>
            <p14:sldId id="256"/>
            <p14:sldId id="257"/>
          </p14:sldIdLst>
        </p14:section>
        <p14:section name="1. Gioi thieu de tai" id="{A774BB95-9FA7-B14D-5E22-DEB6568569D9}">
          <p14:sldIdLst>
            <p14:sldId id="258"/>
          </p14:sldIdLst>
        </p14:section>
        <p14:section name="2. Muc tieu" id="{8FCB3110-2052-37AD-7FED-CFEBFA6D23B2}">
          <p14:sldIdLst>
            <p14:sldId id="259"/>
          </p14:sldIdLst>
        </p14:section>
        <p14:section name="3. Cong nghe va cong cu" id="{52CC7DF8-76F0-8F36-7C07-061E7274D8CB}">
          <p14:sldIdLst>
            <p14:sldId id="260"/>
          </p14:sldIdLst>
        </p14:section>
        <p14:section name="4. Phan tich va thiet ke" id="{4A554E8C-378E-3706-4A6E-5E4FEC83A01B}">
          <p14:sldIdLst>
            <p14:sldId id="261"/>
            <p14:sldId id="262"/>
            <p14:sldId id="263"/>
            <p14:sldId id="264"/>
            <p14:sldId id="265"/>
          </p14:sldIdLst>
        </p14:section>
        <p14:section name="5. Quy trinh phat trien" id="{FB1CEEA5-FCAA-B0A9-DD44-C8E3F62B8D88}">
          <p14:sldIdLst>
            <p14:sldId id="266"/>
            <p14:sldId id="267"/>
          </p14:sldIdLst>
        </p14:section>
        <p14:section name="6. Demo" id="{DFDE5AD9-8D16-8170-4CA3-ED8E8FC2617C}">
          <p14:sldIdLst>
            <p14:sldId id="268"/>
          </p14:sldIdLst>
        </p14:section>
        <p14:section name="7. Ket qua dat duoc" id="{817A4728-5BF3-F298-387C-0C29204065C9}">
          <p14:sldIdLst>
            <p14:sldId id="269"/>
          </p14:sldIdLst>
        </p14:section>
        <p14:section name="8-9. Huong phat trien va ket luan" id="{42C86CFD-6F6D-643C-8BCF-01482AD29AD0}">
          <p14:sldIdLst>
            <p14:sldId id="270"/>
          </p14:sldIdLst>
        </p14:section>
        <p14:section name="Cam on" id="{946BFFCA-4ACA-F24D-6AC1-22559EF29AA1}">
          <p14:sldIdLst>
            <p14:sldId id="271"/>
          </p14:sldIdLst>
        </p14:section>
        <p14:section name="Du phong" id="{063828C7-8C54-081E-A304-535545F1057E}">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7" d="100"/>
          <a:sy n="137" d="100"/>
        </p:scale>
        <p:origin x="828"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7078934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0:00-0:15 — Chào hội đồng, giới thiệu tên đề tài và bản thân. Không đọc lại slide.</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0:15-0:35 — Đọc lướt 9 mục, dừng lại ở mục 4 và 6 vì đó là hai phần chính.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0:35-1:25 — Nói một câu duy nhất về cái mới: không súng, không thanh máu. Đừng kể cốt truyện.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1:25-2:00 — CÓ THỂ BỎ SLIDE NÀY nếu đang chậm giờ. Nói nhanh phạm vi để hội đồng không hỏi về bot.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2:00-2:35 — Nhấn mạnh Fusion 2 Host Mode vì phần sau sẽ quay lại. Đọc nhanh phần còn lại.</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2:35-3:35 — Slide nặng nhất về luật chơi. Chỉ vào bảng, nói ba dòng giữa. Không đọc hết bảng.</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3:35-4:15 — Nhấn vào cặp Heavy/Spike: đây là chỗ thể hiện tư duy thiết kế, không phải chỉ lập trình.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4:15-5:35 — SLIDE QUAN TRỌNG NHẤT. Nói chậm. Nếu hội đồng chỉ nhớ một điều, phải là điều này.</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5:35-6:10 — Lướt nhanh. Hội đồng chỉ cần thấy trận đấu có cấu trúc và có điểm dừng rõ ràng.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6:10-7:10 — Phần kỹ thuật nặng nhất. Nói nguyên tắc 1 và 2 — đó là bài học thật, không phải lý thuyết sách.</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7:10-7:40 — CÓ THỂ BỎ SLIDE NÀY nếu chậm giờ. Nhưng đừng bỏ phần ParrelSync, hội đồng hay hỏi cách test.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7:40-8:40 — Slide ghi điểm với hội đồng kỹ thuật. Kể lỗi số 2 như một câu chuyện, nó dễ hình dung nhất.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8:40-9:20 — Để video chạy, nói ít. Mỗi mốc một câu ngắn.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9:20-9:45 — Hai ô đỏ phải đo và điền trước khi bảo vệ. Đừng nói số nếu chưa đo.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9:45-10:00 — Kết bằng câu thứ ba: cơ chế mới là khả thi. Đó là đóng góp của đề tài.</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Dừng lại ở đây. Bốn slide sau là slide dự phòng, chỉ mở khi hội đồng hỏi đúng chủ đề đó.</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TC_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icPr>
            <a:picLocks noChangeAspect="1"/>
          </p:cNvPicPr>
          <p:nvPr/>
        </p:nvPicPr>
        <p:blipFill>
          <a:blip r:embed="rId3"/>
          <a:stretch>
            <a:fillRect/>
          </a:stretch>
        </p:blipFill>
        <p:spPr>
          <a:xfrm>
            <a:off x="411480" y="274320"/>
            <a:ext cx="2103120" cy="384048"/>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TC_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TC_CLOSING">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image21.png"/>
          <p:cNvPicPr>
            <a:picLocks noChangeAspect="1"/>
          </p:cNvPicPr>
          <p:nvPr/>
        </p:nvPicPr>
        <p:blipFill>
          <a:blip r:embed="rId3"/>
          <a:stretch>
            <a:fillRect/>
          </a:stretch>
        </p:blipFill>
        <p:spPr>
          <a:xfrm>
            <a:off x="411480" y="274320"/>
            <a:ext cx="2103120" cy="384048"/>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11480" y="1051560"/>
            <a:ext cx="6035040" cy="274320"/>
          </a:xfrm>
          <a:prstGeom prst="rect">
            <a:avLst/>
          </a:prstGeom>
          <a:noFill/>
          <a:ln/>
        </p:spPr>
        <p:txBody>
          <a:bodyPr wrap="square" lIns="0" tIns="0" rIns="0" bIns="0" rtlCol="0" anchor="ctr"/>
          <a:lstStyle/>
          <a:p>
            <a:pPr marL="0" indent="0">
              <a:buNone/>
            </a:pPr>
            <a:r>
              <a:rPr lang="en-US" sz="1400" b="1" kern="0" spc="200" dirty="0">
                <a:solidFill>
                  <a:srgbClr val="BFD0EA"/>
                </a:solidFill>
                <a:latin typeface="Arial" pitchFamily="34" charset="0"/>
                <a:ea typeface="Arial" pitchFamily="34" charset="-122"/>
                <a:cs typeface="Arial" pitchFamily="34" charset="-120"/>
              </a:rPr>
              <a:t>BÁO CÁO ĐỒ ÁN TỐT NGHIỆP</a:t>
            </a:r>
            <a:endParaRPr lang="en-US" sz="1400" dirty="0"/>
          </a:p>
        </p:txBody>
      </p:sp>
      <p:sp>
        <p:nvSpPr>
          <p:cNvPr id="3" name="Text 1"/>
          <p:cNvSpPr txBox="1"/>
          <p:nvPr/>
        </p:nvSpPr>
        <p:spPr>
          <a:xfrm>
            <a:off x="411480" y="1325880"/>
            <a:ext cx="6035040" cy="713232"/>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MAGNETO-DOME</a:t>
            </a:r>
            <a:endParaRPr lang="en-US" sz="4400" dirty="0"/>
          </a:p>
        </p:txBody>
      </p:sp>
      <p:sp>
        <p:nvSpPr>
          <p:cNvPr id="4" name="Text 2"/>
          <p:cNvSpPr txBox="1"/>
          <p:nvPr/>
        </p:nvSpPr>
        <p:spPr>
          <a:xfrm>
            <a:off x="411480" y="2066544"/>
            <a:ext cx="5349240" cy="566928"/>
          </a:xfrm>
          <a:prstGeom prst="rect">
            <a:avLst/>
          </a:prstGeom>
          <a:noFill/>
          <a:ln/>
        </p:spPr>
        <p:txBody>
          <a:bodyPr wrap="square" lIns="0" tIns="0" rIns="0" bIns="0" rtlCol="0" anchor="ctr"/>
          <a:lstStyle/>
          <a:p>
            <a:pPr marL="0" indent="0">
              <a:buNone/>
            </a:pPr>
            <a:r>
              <a:rPr lang="en-US" sz="1500" b="1" dirty="0">
                <a:solidFill>
                  <a:srgbClr val="DCE6F7"/>
                </a:solidFill>
                <a:latin typeface="Arial" pitchFamily="34" charset="0"/>
                <a:ea typeface="Arial" pitchFamily="34" charset="-122"/>
                <a:cs typeface="Arial" pitchFamily="34" charset="-120"/>
              </a:rPr>
              <a:t>GAME FPS ĐỐI KHÁNG 2V2 TRÊN NỀN UNITY VÀ PHOTON FUSION 2</a:t>
            </a:r>
            <a:endParaRPr lang="en-US" sz="1500" dirty="0"/>
          </a:p>
        </p:txBody>
      </p:sp>
      <p:sp>
        <p:nvSpPr>
          <p:cNvPr id="5" name="Shape 3"/>
          <p:cNvSpPr/>
          <p:nvPr/>
        </p:nvSpPr>
        <p:spPr>
          <a:xfrm>
            <a:off x="429768" y="2724912"/>
            <a:ext cx="146304" cy="146304"/>
          </a:xfrm>
          <a:prstGeom prst="ellipse">
            <a:avLst/>
          </a:prstGeom>
          <a:solidFill>
            <a:srgbClr val="E8453C"/>
          </a:solidFill>
          <a:ln w="12700">
            <a:solidFill>
              <a:srgbClr val="333333"/>
            </a:solidFill>
            <a:prstDash val="solid"/>
          </a:ln>
        </p:spPr>
        <p:txBody>
          <a:bodyPr/>
          <a:lstStyle/>
          <a:p>
            <a:endParaRPr lang="en-US"/>
          </a:p>
        </p:txBody>
      </p:sp>
      <p:sp>
        <p:nvSpPr>
          <p:cNvPr id="6" name="Shape 4"/>
          <p:cNvSpPr/>
          <p:nvPr/>
        </p:nvSpPr>
        <p:spPr>
          <a:xfrm>
            <a:off x="649224" y="2724912"/>
            <a:ext cx="146304" cy="146304"/>
          </a:xfrm>
          <a:prstGeom prst="ellipse">
            <a:avLst/>
          </a:prstGeom>
          <a:solidFill>
            <a:srgbClr val="2E86DE"/>
          </a:solidFill>
          <a:ln w="12700">
            <a:solidFill>
              <a:srgbClr val="333333"/>
            </a:solidFill>
            <a:prstDash val="solid"/>
          </a:ln>
        </p:spPr>
        <p:txBody>
          <a:bodyPr/>
          <a:lstStyle/>
          <a:p>
            <a:endParaRPr lang="en-US"/>
          </a:p>
        </p:txBody>
      </p:sp>
      <p:sp>
        <p:nvSpPr>
          <p:cNvPr id="7" name="Text 5"/>
          <p:cNvSpPr txBox="1"/>
          <p:nvPr/>
        </p:nvSpPr>
        <p:spPr>
          <a:xfrm>
            <a:off x="411480" y="3154680"/>
            <a:ext cx="4754880" cy="1371600"/>
          </a:xfrm>
          <a:prstGeom prst="rect">
            <a:avLst/>
          </a:prstGeom>
          <a:noFill/>
          <a:ln/>
        </p:spPr>
        <p:txBody>
          <a:bodyPr wrap="square" lIns="0" tIns="0" rIns="0" bIns="0" rtlCol="0" anchor="ctr"/>
          <a:lstStyle/>
          <a:p>
            <a:pPr marL="0" indent="0">
              <a:spcAft>
                <a:spcPts val="400"/>
              </a:spcAft>
              <a:buNone/>
            </a:pPr>
            <a:r>
              <a:rPr lang="en-US" sz="1300" dirty="0">
                <a:solidFill>
                  <a:srgbClr val="BFD0EA"/>
                </a:solidFill>
                <a:latin typeface="Arial" pitchFamily="34" charset="0"/>
                <a:ea typeface="Arial" pitchFamily="34" charset="-122"/>
                <a:cs typeface="Arial" pitchFamily="34" charset="-120"/>
              </a:rPr>
              <a:t>Sinh viên thực hiện: </a:t>
            </a:r>
            <a:r>
              <a:rPr lang="en-US" sz="1300" b="1" dirty="0">
                <a:solidFill>
                  <a:srgbClr val="FFFFFF"/>
                </a:solidFill>
                <a:latin typeface="Arial" pitchFamily="34" charset="0"/>
                <a:ea typeface="Arial" pitchFamily="34" charset="-122"/>
                <a:cs typeface="Arial" pitchFamily="34" charset="-120"/>
              </a:rPr>
              <a:t>Nguyễn Hoàng Gia Khiêm</a:t>
            </a:r>
            <a:endParaRPr lang="en-US" sz="1300" dirty="0"/>
          </a:p>
          <a:p>
            <a:pPr marL="0" indent="0">
              <a:spcAft>
                <a:spcPts val="400"/>
              </a:spcAft>
              <a:buNone/>
            </a:pPr>
            <a:r>
              <a:rPr lang="en-US" sz="1300" dirty="0">
                <a:solidFill>
                  <a:srgbClr val="BFD0EA"/>
                </a:solidFill>
                <a:latin typeface="Arial" pitchFamily="34" charset="0"/>
                <a:ea typeface="Arial" pitchFamily="34" charset="-122"/>
                <a:cs typeface="Arial" pitchFamily="34" charset="-120"/>
              </a:rPr>
              <a:t>Giảng viên hướng dẫn: </a:t>
            </a:r>
            <a:r>
              <a:rPr lang="en-US" sz="1300" b="1" dirty="0">
                <a:solidFill>
                  <a:srgbClr val="FFFFFF"/>
                </a:solidFill>
                <a:latin typeface="Arial" pitchFamily="34" charset="0"/>
                <a:ea typeface="Arial" pitchFamily="34" charset="-122"/>
                <a:cs typeface="Arial" pitchFamily="34" charset="-120"/>
              </a:rPr>
              <a:t>………………………</a:t>
            </a:r>
            <a:endParaRPr lang="en-US" sz="1300" dirty="0"/>
          </a:p>
          <a:p>
            <a:pPr marL="0" indent="0">
              <a:spcAft>
                <a:spcPts val="400"/>
              </a:spcAft>
              <a:buNone/>
            </a:pPr>
            <a:r>
              <a:rPr lang="en-US" sz="1300" dirty="0">
                <a:solidFill>
                  <a:srgbClr val="BFD0EA"/>
                </a:solidFill>
                <a:latin typeface="Arial" pitchFamily="34" charset="0"/>
                <a:ea typeface="Arial" pitchFamily="34" charset="-122"/>
                <a:cs typeface="Arial" pitchFamily="34" charset="-120"/>
              </a:rPr>
              <a:t>Lớp: </a:t>
            </a:r>
            <a:r>
              <a:rPr lang="en-US" sz="1300" b="1" dirty="0">
                <a:solidFill>
                  <a:srgbClr val="FFFFFF"/>
                </a:solidFill>
                <a:latin typeface="Arial" pitchFamily="34" charset="0"/>
                <a:ea typeface="Arial" pitchFamily="34" charset="-122"/>
                <a:cs typeface="Arial" pitchFamily="34" charset="-120"/>
              </a:rPr>
              <a:t>K24M-GAME1</a:t>
            </a:r>
            <a:endParaRPr lang="en-US" sz="1300" dirty="0"/>
          </a:p>
          <a:p>
            <a:pPr marL="0" indent="0">
              <a:spcAft>
                <a:spcPts val="400"/>
              </a:spcAft>
              <a:buNone/>
            </a:pPr>
            <a:r>
              <a:rPr lang="en-US" sz="1300" dirty="0">
                <a:solidFill>
                  <a:srgbClr val="BFD0EA"/>
                </a:solidFill>
                <a:latin typeface="Arial" pitchFamily="34" charset="0"/>
                <a:ea typeface="Arial" pitchFamily="34" charset="-122"/>
                <a:cs typeface="Arial" pitchFamily="34" charset="-120"/>
              </a:rPr>
              <a:t>Khóa: </a:t>
            </a:r>
            <a:r>
              <a:rPr lang="en-US" sz="1300" b="1" dirty="0">
                <a:solidFill>
                  <a:srgbClr val="FFFFFF"/>
                </a:solidFill>
                <a:latin typeface="Arial" pitchFamily="34" charset="0"/>
                <a:ea typeface="Arial" pitchFamily="34" charset="-122"/>
                <a:cs typeface="Arial" pitchFamily="34" charset="-120"/>
              </a:rPr>
              <a:t>2024 - 2026</a:t>
            </a:r>
            <a:endParaRPr lang="en-US" sz="1300" dirty="0"/>
          </a:p>
        </p:txBody>
      </p:sp>
      <p:pic>
        <p:nvPicPr>
          <p:cNvPr id="8" name="Image 0" descr="img/icon.png"/>
          <p:cNvPicPr>
            <a:picLocks noChangeAspect="1"/>
          </p:cNvPicPr>
          <p:nvPr/>
        </p:nvPicPr>
        <p:blipFill>
          <a:blip r:embed="rId3"/>
          <a:stretch>
            <a:fillRect/>
          </a:stretch>
        </p:blipFill>
        <p:spPr>
          <a:xfrm>
            <a:off x="5897880" y="1372223"/>
            <a:ext cx="2834640" cy="274195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NỘI DUNG</a:t>
            </a:r>
            <a:endParaRPr lang="en-US" sz="1700" dirty="0"/>
          </a:p>
        </p:txBody>
      </p:sp>
      <p:sp>
        <p:nvSpPr>
          <p:cNvPr id="3" name="muc1"/>
          <p:cNvSpPr/>
          <p:nvPr/>
        </p:nvSpPr>
        <p:spPr>
          <a:xfrm>
            <a:off x="411480" y="1078992"/>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4" name="Text 2"/>
          <p:cNvSpPr txBox="1"/>
          <p:nvPr/>
        </p:nvSpPr>
        <p:spPr>
          <a:xfrm>
            <a:off x="539496" y="1152144"/>
            <a:ext cx="548640" cy="292608"/>
          </a:xfrm>
          <a:prstGeom prst="rect">
            <a:avLst/>
          </a:prstGeom>
          <a:noFill/>
          <a:ln/>
        </p:spPr>
        <p:txBody>
          <a:bodyPr wrap="square" lIns="0" tIns="0" rIns="0" bIns="0" rtlCol="0" anchor="ctr"/>
          <a:lstStyle/>
          <a:p>
            <a:pPr marL="0" indent="0">
              <a:buNone/>
            </a:pPr>
            <a:r>
              <a:rPr lang="en-US" sz="1500" b="1" dirty="0">
                <a:solidFill>
                  <a:srgbClr val="E8453C"/>
                </a:solidFill>
                <a:latin typeface="Arial" pitchFamily="34" charset="0"/>
                <a:ea typeface="Arial" pitchFamily="34" charset="-122"/>
                <a:cs typeface="Arial" pitchFamily="34" charset="-120"/>
              </a:rPr>
              <a:t>01</a:t>
            </a:r>
            <a:endParaRPr lang="en-US" sz="1500" dirty="0"/>
          </a:p>
        </p:txBody>
      </p:sp>
      <p:sp>
        <p:nvSpPr>
          <p:cNvPr id="5" name="Text 3"/>
          <p:cNvSpPr txBox="1"/>
          <p:nvPr/>
        </p:nvSpPr>
        <p:spPr>
          <a:xfrm>
            <a:off x="539496" y="1463040"/>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GIỚI THIỆU ĐỀ TÀI</a:t>
            </a:r>
            <a:endParaRPr lang="en-US" sz="1300" dirty="0"/>
          </a:p>
        </p:txBody>
      </p:sp>
      <p:sp>
        <p:nvSpPr>
          <p:cNvPr id="6" name="muc2"/>
          <p:cNvSpPr/>
          <p:nvPr/>
        </p:nvSpPr>
        <p:spPr>
          <a:xfrm>
            <a:off x="3346704" y="1078992"/>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7" name="Text 5"/>
          <p:cNvSpPr txBox="1"/>
          <p:nvPr/>
        </p:nvSpPr>
        <p:spPr>
          <a:xfrm>
            <a:off x="3474720" y="1152144"/>
            <a:ext cx="548640" cy="292608"/>
          </a:xfrm>
          <a:prstGeom prst="rect">
            <a:avLst/>
          </a:prstGeom>
          <a:noFill/>
          <a:ln/>
        </p:spPr>
        <p:txBody>
          <a:bodyPr wrap="square" lIns="0" tIns="0" rIns="0" bIns="0" rtlCol="0" anchor="ctr"/>
          <a:lstStyle/>
          <a:p>
            <a:pPr marL="0" indent="0">
              <a:buNone/>
            </a:pPr>
            <a:r>
              <a:rPr lang="en-US" sz="1500" b="1" dirty="0">
                <a:solidFill>
                  <a:srgbClr val="2E86DE"/>
                </a:solidFill>
                <a:latin typeface="Arial" pitchFamily="34" charset="0"/>
                <a:ea typeface="Arial" pitchFamily="34" charset="-122"/>
                <a:cs typeface="Arial" pitchFamily="34" charset="-120"/>
              </a:rPr>
              <a:t>02</a:t>
            </a:r>
            <a:endParaRPr lang="en-US" sz="1500" dirty="0"/>
          </a:p>
        </p:txBody>
      </p:sp>
      <p:sp>
        <p:nvSpPr>
          <p:cNvPr id="8" name="Text 6"/>
          <p:cNvSpPr txBox="1"/>
          <p:nvPr/>
        </p:nvSpPr>
        <p:spPr>
          <a:xfrm>
            <a:off x="3474720" y="1463040"/>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MỤC TIÊU</a:t>
            </a:r>
            <a:endParaRPr lang="en-US" sz="1300" dirty="0"/>
          </a:p>
        </p:txBody>
      </p:sp>
      <p:sp>
        <p:nvSpPr>
          <p:cNvPr id="9" name="muc3"/>
          <p:cNvSpPr/>
          <p:nvPr/>
        </p:nvSpPr>
        <p:spPr>
          <a:xfrm>
            <a:off x="6281928" y="1078992"/>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10" name="Text 8"/>
          <p:cNvSpPr txBox="1"/>
          <p:nvPr/>
        </p:nvSpPr>
        <p:spPr>
          <a:xfrm>
            <a:off x="6409944" y="1152144"/>
            <a:ext cx="548640" cy="292608"/>
          </a:xfrm>
          <a:prstGeom prst="rect">
            <a:avLst/>
          </a:prstGeom>
          <a:noFill/>
          <a:ln/>
        </p:spPr>
        <p:txBody>
          <a:bodyPr wrap="square" lIns="0" tIns="0" rIns="0" bIns="0" rtlCol="0" anchor="ctr"/>
          <a:lstStyle/>
          <a:p>
            <a:pPr marL="0" indent="0">
              <a:buNone/>
            </a:pPr>
            <a:r>
              <a:rPr lang="en-US" sz="1500" b="1" dirty="0">
                <a:solidFill>
                  <a:srgbClr val="E8453C"/>
                </a:solidFill>
                <a:latin typeface="Arial" pitchFamily="34" charset="0"/>
                <a:ea typeface="Arial" pitchFamily="34" charset="-122"/>
                <a:cs typeface="Arial" pitchFamily="34" charset="-120"/>
              </a:rPr>
              <a:t>03</a:t>
            </a:r>
            <a:endParaRPr lang="en-US" sz="1500" dirty="0"/>
          </a:p>
        </p:txBody>
      </p:sp>
      <p:sp>
        <p:nvSpPr>
          <p:cNvPr id="11" name="Text 9"/>
          <p:cNvSpPr txBox="1"/>
          <p:nvPr/>
        </p:nvSpPr>
        <p:spPr>
          <a:xfrm>
            <a:off x="6409944" y="1463040"/>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CÔNG NGHỆ &amp; CÔNG CỤ</a:t>
            </a:r>
            <a:endParaRPr lang="en-US" sz="1300" dirty="0"/>
          </a:p>
        </p:txBody>
      </p:sp>
      <p:sp>
        <p:nvSpPr>
          <p:cNvPr id="12" name="muc4"/>
          <p:cNvSpPr/>
          <p:nvPr/>
        </p:nvSpPr>
        <p:spPr>
          <a:xfrm>
            <a:off x="411480" y="2286000"/>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13" name="Text 11"/>
          <p:cNvSpPr txBox="1"/>
          <p:nvPr/>
        </p:nvSpPr>
        <p:spPr>
          <a:xfrm>
            <a:off x="539496" y="2359152"/>
            <a:ext cx="548640" cy="292608"/>
          </a:xfrm>
          <a:prstGeom prst="rect">
            <a:avLst/>
          </a:prstGeom>
          <a:noFill/>
          <a:ln/>
        </p:spPr>
        <p:txBody>
          <a:bodyPr wrap="square" lIns="0" tIns="0" rIns="0" bIns="0" rtlCol="0" anchor="ctr"/>
          <a:lstStyle/>
          <a:p>
            <a:pPr marL="0" indent="0">
              <a:buNone/>
            </a:pPr>
            <a:r>
              <a:rPr lang="en-US" sz="1500" b="1" dirty="0">
                <a:solidFill>
                  <a:srgbClr val="2E86DE"/>
                </a:solidFill>
                <a:latin typeface="Arial" pitchFamily="34" charset="0"/>
                <a:ea typeface="Arial" pitchFamily="34" charset="-122"/>
                <a:cs typeface="Arial" pitchFamily="34" charset="-120"/>
              </a:rPr>
              <a:t>04</a:t>
            </a:r>
            <a:endParaRPr lang="en-US" sz="1500" dirty="0"/>
          </a:p>
        </p:txBody>
      </p:sp>
      <p:sp>
        <p:nvSpPr>
          <p:cNvPr id="14" name="Text 12"/>
          <p:cNvSpPr txBox="1"/>
          <p:nvPr/>
        </p:nvSpPr>
        <p:spPr>
          <a:xfrm>
            <a:off x="539496" y="2670048"/>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PHÂN TÍCH &amp; THIẾT KẾ</a:t>
            </a:r>
            <a:endParaRPr lang="en-US" sz="1300" dirty="0"/>
          </a:p>
        </p:txBody>
      </p:sp>
      <p:sp>
        <p:nvSpPr>
          <p:cNvPr id="15" name="muc5"/>
          <p:cNvSpPr/>
          <p:nvPr/>
        </p:nvSpPr>
        <p:spPr>
          <a:xfrm>
            <a:off x="3346704" y="2286000"/>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16" name="Text 14"/>
          <p:cNvSpPr txBox="1"/>
          <p:nvPr/>
        </p:nvSpPr>
        <p:spPr>
          <a:xfrm>
            <a:off x="3474720" y="2359152"/>
            <a:ext cx="548640" cy="292608"/>
          </a:xfrm>
          <a:prstGeom prst="rect">
            <a:avLst/>
          </a:prstGeom>
          <a:noFill/>
          <a:ln/>
        </p:spPr>
        <p:txBody>
          <a:bodyPr wrap="square" lIns="0" tIns="0" rIns="0" bIns="0" rtlCol="0" anchor="ctr"/>
          <a:lstStyle/>
          <a:p>
            <a:pPr marL="0" indent="0">
              <a:buNone/>
            </a:pPr>
            <a:r>
              <a:rPr lang="en-US" sz="1500" b="1" dirty="0">
                <a:solidFill>
                  <a:srgbClr val="E8453C"/>
                </a:solidFill>
                <a:latin typeface="Arial" pitchFamily="34" charset="0"/>
                <a:ea typeface="Arial" pitchFamily="34" charset="-122"/>
                <a:cs typeface="Arial" pitchFamily="34" charset="-120"/>
              </a:rPr>
              <a:t>05</a:t>
            </a:r>
            <a:endParaRPr lang="en-US" sz="1500" dirty="0"/>
          </a:p>
        </p:txBody>
      </p:sp>
      <p:sp>
        <p:nvSpPr>
          <p:cNvPr id="17" name="Text 15"/>
          <p:cNvSpPr txBox="1"/>
          <p:nvPr/>
        </p:nvSpPr>
        <p:spPr>
          <a:xfrm>
            <a:off x="3474720" y="2670048"/>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QUY TRÌNH PHÁT TRIỂN</a:t>
            </a:r>
            <a:endParaRPr lang="en-US" sz="1300" dirty="0"/>
          </a:p>
        </p:txBody>
      </p:sp>
      <p:sp>
        <p:nvSpPr>
          <p:cNvPr id="18" name="muc6"/>
          <p:cNvSpPr/>
          <p:nvPr/>
        </p:nvSpPr>
        <p:spPr>
          <a:xfrm>
            <a:off x="6281928" y="2286000"/>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19" name="Text 17"/>
          <p:cNvSpPr txBox="1"/>
          <p:nvPr/>
        </p:nvSpPr>
        <p:spPr>
          <a:xfrm>
            <a:off x="6409944" y="2359152"/>
            <a:ext cx="548640" cy="292608"/>
          </a:xfrm>
          <a:prstGeom prst="rect">
            <a:avLst/>
          </a:prstGeom>
          <a:noFill/>
          <a:ln/>
        </p:spPr>
        <p:txBody>
          <a:bodyPr wrap="square" lIns="0" tIns="0" rIns="0" bIns="0" rtlCol="0" anchor="ctr"/>
          <a:lstStyle/>
          <a:p>
            <a:pPr marL="0" indent="0">
              <a:buNone/>
            </a:pPr>
            <a:r>
              <a:rPr lang="en-US" sz="1500" b="1" dirty="0">
                <a:solidFill>
                  <a:srgbClr val="2E86DE"/>
                </a:solidFill>
                <a:latin typeface="Arial" pitchFamily="34" charset="0"/>
                <a:ea typeface="Arial" pitchFamily="34" charset="-122"/>
                <a:cs typeface="Arial" pitchFamily="34" charset="-120"/>
              </a:rPr>
              <a:t>06</a:t>
            </a:r>
            <a:endParaRPr lang="en-US" sz="1500" dirty="0"/>
          </a:p>
        </p:txBody>
      </p:sp>
      <p:sp>
        <p:nvSpPr>
          <p:cNvPr id="20" name="Text 18"/>
          <p:cNvSpPr txBox="1"/>
          <p:nvPr/>
        </p:nvSpPr>
        <p:spPr>
          <a:xfrm>
            <a:off x="6409944" y="2670048"/>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DEMO / HÌNH ẢNH</a:t>
            </a:r>
            <a:endParaRPr lang="en-US" sz="1300" dirty="0"/>
          </a:p>
        </p:txBody>
      </p:sp>
      <p:sp>
        <p:nvSpPr>
          <p:cNvPr id="21" name="muc7"/>
          <p:cNvSpPr/>
          <p:nvPr/>
        </p:nvSpPr>
        <p:spPr>
          <a:xfrm>
            <a:off x="411480" y="3493008"/>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22" name="Text 20"/>
          <p:cNvSpPr txBox="1"/>
          <p:nvPr/>
        </p:nvSpPr>
        <p:spPr>
          <a:xfrm>
            <a:off x="539496" y="3566160"/>
            <a:ext cx="548640" cy="292608"/>
          </a:xfrm>
          <a:prstGeom prst="rect">
            <a:avLst/>
          </a:prstGeom>
          <a:noFill/>
          <a:ln/>
        </p:spPr>
        <p:txBody>
          <a:bodyPr wrap="square" lIns="0" tIns="0" rIns="0" bIns="0" rtlCol="0" anchor="ctr"/>
          <a:lstStyle/>
          <a:p>
            <a:pPr marL="0" indent="0">
              <a:buNone/>
            </a:pPr>
            <a:r>
              <a:rPr lang="en-US" sz="1500" b="1" dirty="0">
                <a:solidFill>
                  <a:srgbClr val="E8453C"/>
                </a:solidFill>
                <a:latin typeface="Arial" pitchFamily="34" charset="0"/>
                <a:ea typeface="Arial" pitchFamily="34" charset="-122"/>
                <a:cs typeface="Arial" pitchFamily="34" charset="-120"/>
              </a:rPr>
              <a:t>07</a:t>
            </a:r>
            <a:endParaRPr lang="en-US" sz="1500" dirty="0"/>
          </a:p>
        </p:txBody>
      </p:sp>
      <p:sp>
        <p:nvSpPr>
          <p:cNvPr id="23" name="Text 21"/>
          <p:cNvSpPr txBox="1"/>
          <p:nvPr/>
        </p:nvSpPr>
        <p:spPr>
          <a:xfrm>
            <a:off x="539496" y="3877056"/>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KẾT QUẢ ĐẠT ĐƯỢC</a:t>
            </a:r>
            <a:endParaRPr lang="en-US" sz="1300" dirty="0"/>
          </a:p>
        </p:txBody>
      </p:sp>
      <p:sp>
        <p:nvSpPr>
          <p:cNvPr id="24" name="muc8"/>
          <p:cNvSpPr/>
          <p:nvPr/>
        </p:nvSpPr>
        <p:spPr>
          <a:xfrm>
            <a:off x="3346704" y="3493008"/>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25" name="Text 23"/>
          <p:cNvSpPr txBox="1"/>
          <p:nvPr/>
        </p:nvSpPr>
        <p:spPr>
          <a:xfrm>
            <a:off x="3474720" y="3566160"/>
            <a:ext cx="548640" cy="292608"/>
          </a:xfrm>
          <a:prstGeom prst="rect">
            <a:avLst/>
          </a:prstGeom>
          <a:noFill/>
          <a:ln/>
        </p:spPr>
        <p:txBody>
          <a:bodyPr wrap="square" lIns="0" tIns="0" rIns="0" bIns="0" rtlCol="0" anchor="ctr"/>
          <a:lstStyle/>
          <a:p>
            <a:pPr marL="0" indent="0">
              <a:buNone/>
            </a:pPr>
            <a:r>
              <a:rPr lang="en-US" sz="1500" b="1" dirty="0">
                <a:solidFill>
                  <a:srgbClr val="2E86DE"/>
                </a:solidFill>
                <a:latin typeface="Arial" pitchFamily="34" charset="0"/>
                <a:ea typeface="Arial" pitchFamily="34" charset="-122"/>
                <a:cs typeface="Arial" pitchFamily="34" charset="-120"/>
              </a:rPr>
              <a:t>08</a:t>
            </a:r>
            <a:endParaRPr lang="en-US" sz="1500" dirty="0"/>
          </a:p>
        </p:txBody>
      </p:sp>
      <p:sp>
        <p:nvSpPr>
          <p:cNvPr id="26" name="Text 24"/>
          <p:cNvSpPr txBox="1"/>
          <p:nvPr/>
        </p:nvSpPr>
        <p:spPr>
          <a:xfrm>
            <a:off x="3474720" y="3877056"/>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HƯỚNG PHÁT TRIỂN</a:t>
            </a:r>
            <a:endParaRPr lang="en-US" sz="1300" dirty="0"/>
          </a:p>
        </p:txBody>
      </p:sp>
      <p:sp>
        <p:nvSpPr>
          <p:cNvPr id="27" name="muc9"/>
          <p:cNvSpPr/>
          <p:nvPr/>
        </p:nvSpPr>
        <p:spPr>
          <a:xfrm>
            <a:off x="6281928" y="3493008"/>
            <a:ext cx="2697480" cy="1024128"/>
          </a:xfrm>
          <a:prstGeom prst="roundRect">
            <a:avLst>
              <a:gd name="adj" fmla="val 5357"/>
            </a:avLst>
          </a:prstGeom>
          <a:solidFill>
            <a:srgbClr val="EFF3FA"/>
          </a:solidFill>
          <a:ln w="12700">
            <a:solidFill>
              <a:srgbClr val="C7D2E6"/>
            </a:solidFill>
            <a:prstDash val="solid"/>
          </a:ln>
        </p:spPr>
        <p:txBody>
          <a:bodyPr/>
          <a:lstStyle/>
          <a:p>
            <a:endParaRPr lang="en-US"/>
          </a:p>
        </p:txBody>
      </p:sp>
      <p:sp>
        <p:nvSpPr>
          <p:cNvPr id="28" name="Text 26"/>
          <p:cNvSpPr txBox="1"/>
          <p:nvPr/>
        </p:nvSpPr>
        <p:spPr>
          <a:xfrm>
            <a:off x="6409944" y="3566160"/>
            <a:ext cx="548640" cy="292608"/>
          </a:xfrm>
          <a:prstGeom prst="rect">
            <a:avLst/>
          </a:prstGeom>
          <a:noFill/>
          <a:ln/>
        </p:spPr>
        <p:txBody>
          <a:bodyPr wrap="square" lIns="0" tIns="0" rIns="0" bIns="0" rtlCol="0" anchor="ctr"/>
          <a:lstStyle/>
          <a:p>
            <a:pPr marL="0" indent="0">
              <a:buNone/>
            </a:pPr>
            <a:r>
              <a:rPr lang="en-US" sz="1500" b="1" dirty="0">
                <a:solidFill>
                  <a:srgbClr val="E8453C"/>
                </a:solidFill>
                <a:latin typeface="Arial" pitchFamily="34" charset="0"/>
                <a:ea typeface="Arial" pitchFamily="34" charset="-122"/>
                <a:cs typeface="Arial" pitchFamily="34" charset="-120"/>
              </a:rPr>
              <a:t>09</a:t>
            </a:r>
            <a:endParaRPr lang="en-US" sz="1500" dirty="0"/>
          </a:p>
        </p:txBody>
      </p:sp>
      <p:sp>
        <p:nvSpPr>
          <p:cNvPr id="29" name="Text 27"/>
          <p:cNvSpPr txBox="1"/>
          <p:nvPr/>
        </p:nvSpPr>
        <p:spPr>
          <a:xfrm>
            <a:off x="6409944" y="3877056"/>
            <a:ext cx="2441448" cy="530352"/>
          </a:xfrm>
          <a:prstGeom prst="rect">
            <a:avLst/>
          </a:prstGeom>
          <a:noFill/>
          <a:ln/>
        </p:spPr>
        <p:txBody>
          <a:bodyPr wrap="square" lIns="0" tIns="0" rIns="0" bIns="0" rtlCol="0" anchor="t"/>
          <a:lstStyle/>
          <a:p>
            <a:pPr marL="0" indent="0">
              <a:buNone/>
            </a:pPr>
            <a:r>
              <a:rPr lang="en-US" sz="1300" b="1" dirty="0">
                <a:solidFill>
                  <a:srgbClr val="002060"/>
                </a:solidFill>
                <a:latin typeface="Arial" pitchFamily="34" charset="0"/>
                <a:ea typeface="Arial" pitchFamily="34" charset="-122"/>
                <a:cs typeface="Arial" pitchFamily="34" charset="-120"/>
              </a:rPr>
              <a:t>KẾT LUẬN</a:t>
            </a:r>
            <a:endParaRPr lang="en-US" sz="1300" dirty="0"/>
          </a:p>
        </p:txBody>
      </p:sp>
      <p:sp>
        <p:nvSpPr>
          <p:cNvPr id="30"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1. GIỚI THIỆU ĐỀ TÀI</a:t>
            </a:r>
            <a:endParaRPr lang="en-US" sz="1700" dirty="0"/>
          </a:p>
        </p:txBody>
      </p:sp>
      <p:sp>
        <p:nvSpPr>
          <p:cNvPr id="3" name="Text 1"/>
          <p:cNvSpPr txBox="1"/>
          <p:nvPr/>
        </p:nvSpPr>
        <p:spPr>
          <a:xfrm>
            <a:off x="411480" y="868680"/>
            <a:ext cx="8321040" cy="658368"/>
          </a:xfrm>
          <a:prstGeom prst="rect">
            <a:avLst/>
          </a:prstGeom>
          <a:noFill/>
          <a:ln/>
        </p:spPr>
        <p:txBody>
          <a:bodyPr wrap="square" lIns="0" tIns="0" rIns="0" bIns="0" rtlCol="0" anchor="t"/>
          <a:lstStyle/>
          <a:p>
            <a:pPr marL="0" indent="0">
              <a:buNone/>
            </a:pPr>
            <a:r>
              <a:rPr lang="en-US" sz="1400" b="1" dirty="0">
                <a:solidFill>
                  <a:srgbClr val="002060"/>
                </a:solidFill>
                <a:latin typeface="Arial" pitchFamily="34" charset="0"/>
                <a:ea typeface="Arial" pitchFamily="34" charset="-122"/>
                <a:cs typeface="Arial" pitchFamily="34" charset="-120"/>
              </a:rPr>
              <a:t>Magneto-Dome</a:t>
            </a:r>
            <a:r>
              <a:rPr lang="en-US" sz="1400" dirty="0">
                <a:solidFill>
                  <a:srgbClr val="1A1A1A"/>
                </a:solidFill>
                <a:latin typeface="Arial" pitchFamily="34" charset="0"/>
                <a:ea typeface="Arial" pitchFamily="34" charset="-122"/>
                <a:cs typeface="Arial" pitchFamily="34" charset="-120"/>
              </a:rPr>
              <a:t> là game bắn súng góc nhìn thứ nhất 2 đấu 2 theo vòng, diễn ra trên một hòn đảo lơ lửng. Người chơi </a:t>
            </a:r>
            <a:r>
              <a:rPr lang="en-US" sz="1400" b="1" dirty="0">
                <a:solidFill>
                  <a:srgbClr val="E8453C"/>
                </a:solidFill>
                <a:latin typeface="Arial" pitchFamily="34" charset="0"/>
                <a:ea typeface="Arial" pitchFamily="34" charset="-122"/>
                <a:cs typeface="Arial" pitchFamily="34" charset="-120"/>
              </a:rPr>
              <a:t>không có súng</a:t>
            </a:r>
            <a:r>
              <a:rPr lang="en-US" sz="1400" dirty="0">
                <a:solidFill>
                  <a:srgbClr val="1A1A1A"/>
                </a:solidFill>
                <a:latin typeface="Arial" pitchFamily="34" charset="0"/>
                <a:ea typeface="Arial" pitchFamily="34" charset="-122"/>
                <a:cs typeface="Arial" pitchFamily="34" charset="-120"/>
              </a:rPr>
              <a:t> — họ dùng găng tay từ tính nạp điện cho đồ vật trong đấu trường rồi bắn chính những đồ vật đó.</a:t>
            </a:r>
            <a:endParaRPr lang="en-US" sz="1400" dirty="0"/>
          </a:p>
        </p:txBody>
      </p:sp>
      <p:sp>
        <p:nvSpPr>
          <p:cNvPr id="4" name="card"/>
          <p:cNvSpPr/>
          <p:nvPr/>
        </p:nvSpPr>
        <p:spPr>
          <a:xfrm>
            <a:off x="411480" y="1645920"/>
            <a:ext cx="4160520" cy="877824"/>
          </a:xfrm>
          <a:prstGeom prst="roundRect">
            <a:avLst>
              <a:gd name="adj" fmla="val 6250"/>
            </a:avLst>
          </a:prstGeom>
          <a:solidFill>
            <a:srgbClr val="EFF3FA"/>
          </a:solidFill>
          <a:ln w="12700">
            <a:solidFill>
              <a:srgbClr val="C7D2E6"/>
            </a:solidFill>
            <a:prstDash val="solid"/>
          </a:ln>
        </p:spPr>
        <p:txBody>
          <a:bodyPr/>
          <a:lstStyle/>
          <a:p>
            <a:endParaRPr lang="en-US"/>
          </a:p>
        </p:txBody>
      </p:sp>
      <p:sp>
        <p:nvSpPr>
          <p:cNvPr id="5" name="Shape 3"/>
          <p:cNvSpPr/>
          <p:nvPr/>
        </p:nvSpPr>
        <p:spPr>
          <a:xfrm>
            <a:off x="557784" y="1783080"/>
            <a:ext cx="182880" cy="182880"/>
          </a:xfrm>
          <a:prstGeom prst="ellipse">
            <a:avLst/>
          </a:prstGeom>
          <a:solidFill>
            <a:srgbClr val="E8453C"/>
          </a:solidFill>
          <a:ln w="12700">
            <a:solidFill>
              <a:srgbClr val="333333"/>
            </a:solidFill>
            <a:prstDash val="solid"/>
          </a:ln>
        </p:spPr>
        <p:txBody>
          <a:bodyPr/>
          <a:lstStyle/>
          <a:p>
            <a:endParaRPr lang="en-US"/>
          </a:p>
        </p:txBody>
      </p:sp>
      <p:sp>
        <p:nvSpPr>
          <p:cNvPr id="6" name="Text 4"/>
          <p:cNvSpPr txBox="1"/>
          <p:nvPr/>
        </p:nvSpPr>
        <p:spPr>
          <a:xfrm>
            <a:off x="822960" y="1719072"/>
            <a:ext cx="356616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KHÔNG SÚNG ĐẠN</a:t>
            </a:r>
            <a:endParaRPr lang="en-US" sz="1250" dirty="0"/>
          </a:p>
        </p:txBody>
      </p:sp>
      <p:sp>
        <p:nvSpPr>
          <p:cNvPr id="7" name="Text 5"/>
          <p:cNvSpPr txBox="1"/>
          <p:nvPr/>
        </p:nvSpPr>
        <p:spPr>
          <a:xfrm>
            <a:off x="557784" y="2011680"/>
            <a:ext cx="3886200" cy="457200"/>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Vũ khí là bàn, ghế, cây, đá có sẵn trong map. Hết đồ quanh mình là hết đạn.</a:t>
            </a:r>
            <a:endParaRPr lang="en-US" sz="1100" dirty="0"/>
          </a:p>
        </p:txBody>
      </p:sp>
      <p:sp>
        <p:nvSpPr>
          <p:cNvPr id="8" name="card"/>
          <p:cNvSpPr/>
          <p:nvPr/>
        </p:nvSpPr>
        <p:spPr>
          <a:xfrm>
            <a:off x="411480" y="2615184"/>
            <a:ext cx="4160520" cy="877824"/>
          </a:xfrm>
          <a:prstGeom prst="roundRect">
            <a:avLst>
              <a:gd name="adj" fmla="val 6250"/>
            </a:avLst>
          </a:prstGeom>
          <a:solidFill>
            <a:srgbClr val="EFF3FA"/>
          </a:solidFill>
          <a:ln w="12700">
            <a:solidFill>
              <a:srgbClr val="C7D2E6"/>
            </a:solidFill>
            <a:prstDash val="solid"/>
          </a:ln>
        </p:spPr>
        <p:txBody>
          <a:bodyPr/>
          <a:lstStyle/>
          <a:p>
            <a:endParaRPr lang="en-US"/>
          </a:p>
        </p:txBody>
      </p:sp>
      <p:sp>
        <p:nvSpPr>
          <p:cNvPr id="9" name="Shape 7"/>
          <p:cNvSpPr/>
          <p:nvPr/>
        </p:nvSpPr>
        <p:spPr>
          <a:xfrm>
            <a:off x="557784" y="2752344"/>
            <a:ext cx="182880" cy="182880"/>
          </a:xfrm>
          <a:prstGeom prst="ellipse">
            <a:avLst/>
          </a:prstGeom>
          <a:solidFill>
            <a:srgbClr val="2E86DE"/>
          </a:solidFill>
          <a:ln w="12700">
            <a:solidFill>
              <a:srgbClr val="333333"/>
            </a:solidFill>
            <a:prstDash val="solid"/>
          </a:ln>
        </p:spPr>
        <p:txBody>
          <a:bodyPr/>
          <a:lstStyle/>
          <a:p>
            <a:endParaRPr lang="en-US"/>
          </a:p>
        </p:txBody>
      </p:sp>
      <p:sp>
        <p:nvSpPr>
          <p:cNvPr id="10" name="Text 8"/>
          <p:cNvSpPr txBox="1"/>
          <p:nvPr/>
        </p:nvSpPr>
        <p:spPr>
          <a:xfrm>
            <a:off x="822960" y="2688336"/>
            <a:ext cx="356616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KHÔNG THANH MÁU</a:t>
            </a:r>
            <a:endParaRPr lang="en-US" sz="1250" dirty="0"/>
          </a:p>
        </p:txBody>
      </p:sp>
      <p:sp>
        <p:nvSpPr>
          <p:cNvPr id="11" name="Text 9"/>
          <p:cNvSpPr txBox="1"/>
          <p:nvPr/>
        </p:nvSpPr>
        <p:spPr>
          <a:xfrm>
            <a:off x="557784" y="2980944"/>
            <a:ext cx="3886200" cy="457200"/>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Trúng đòn không mất máu mà bị nạp điện. Càng nhiễm điện càng bị hất xa.</a:t>
            </a:r>
            <a:endParaRPr lang="en-US" sz="1100" dirty="0"/>
          </a:p>
        </p:txBody>
      </p:sp>
      <p:sp>
        <p:nvSpPr>
          <p:cNvPr id="12" name="card"/>
          <p:cNvSpPr/>
          <p:nvPr/>
        </p:nvSpPr>
        <p:spPr>
          <a:xfrm>
            <a:off x="411480" y="3584448"/>
            <a:ext cx="4160520" cy="877824"/>
          </a:xfrm>
          <a:prstGeom prst="roundRect">
            <a:avLst>
              <a:gd name="adj" fmla="val 6250"/>
            </a:avLst>
          </a:prstGeom>
          <a:solidFill>
            <a:srgbClr val="EFF3FA"/>
          </a:solidFill>
          <a:ln w="12700">
            <a:solidFill>
              <a:srgbClr val="C7D2E6"/>
            </a:solidFill>
            <a:prstDash val="solid"/>
          </a:ln>
        </p:spPr>
        <p:txBody>
          <a:bodyPr/>
          <a:lstStyle/>
          <a:p>
            <a:endParaRPr lang="en-US"/>
          </a:p>
        </p:txBody>
      </p:sp>
      <p:sp>
        <p:nvSpPr>
          <p:cNvPr id="13" name="Shape 11"/>
          <p:cNvSpPr/>
          <p:nvPr/>
        </p:nvSpPr>
        <p:spPr>
          <a:xfrm>
            <a:off x="557784" y="3721608"/>
            <a:ext cx="182880" cy="182880"/>
          </a:xfrm>
          <a:prstGeom prst="ellipse">
            <a:avLst/>
          </a:prstGeom>
          <a:solidFill>
            <a:srgbClr val="002060"/>
          </a:solidFill>
          <a:ln w="12700">
            <a:solidFill>
              <a:srgbClr val="333333"/>
            </a:solidFill>
            <a:prstDash val="solid"/>
          </a:ln>
        </p:spPr>
        <p:txBody>
          <a:bodyPr/>
          <a:lstStyle/>
          <a:p>
            <a:endParaRPr lang="en-US"/>
          </a:p>
        </p:txBody>
      </p:sp>
      <p:sp>
        <p:nvSpPr>
          <p:cNvPr id="14" name="Text 12"/>
          <p:cNvSpPr txBox="1"/>
          <p:nvPr/>
        </p:nvSpPr>
        <p:spPr>
          <a:xfrm>
            <a:off x="822960" y="3657600"/>
            <a:ext cx="356616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CHẾT DO VỊ TRÍ</a:t>
            </a:r>
            <a:endParaRPr lang="en-US" sz="1250" dirty="0"/>
          </a:p>
        </p:txBody>
      </p:sp>
      <p:sp>
        <p:nvSpPr>
          <p:cNvPr id="15" name="Text 13"/>
          <p:cNvSpPr txBox="1"/>
          <p:nvPr/>
        </p:nvSpPr>
        <p:spPr>
          <a:xfrm>
            <a:off x="557784" y="3950208"/>
            <a:ext cx="3886200" cy="457200"/>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Cách chết duy nhất là rơi khỏi đảo. Đứng ở đâu quan trọng hơn còn bao nhiêu máu.</a:t>
            </a:r>
            <a:endParaRPr lang="en-US" sz="1100" dirty="0"/>
          </a:p>
        </p:txBody>
      </p:sp>
      <p:pic>
        <p:nvPicPr>
          <p:cNvPr id="16" name="Image 0" descr="img/shot_dao.png"/>
          <p:cNvPicPr>
            <a:picLocks noChangeAspect="1"/>
          </p:cNvPicPr>
          <p:nvPr/>
        </p:nvPicPr>
        <p:blipFill>
          <a:blip r:embed="rId3"/>
          <a:stretch>
            <a:fillRect/>
          </a:stretch>
        </p:blipFill>
        <p:spPr>
          <a:xfrm>
            <a:off x="4800600" y="1751937"/>
            <a:ext cx="3931920" cy="2549454"/>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2. MỤC TIÊU</a:t>
            </a:r>
            <a:endParaRPr lang="en-US" sz="1700" dirty="0"/>
          </a:p>
        </p:txBody>
      </p:sp>
      <p:sp>
        <p:nvSpPr>
          <p:cNvPr id="3" name="card"/>
          <p:cNvSpPr/>
          <p:nvPr/>
        </p:nvSpPr>
        <p:spPr>
          <a:xfrm>
            <a:off x="411480" y="868680"/>
            <a:ext cx="4023360" cy="2103120"/>
          </a:xfrm>
          <a:prstGeom prst="roundRect">
            <a:avLst>
              <a:gd name="adj" fmla="val 2609"/>
            </a:avLst>
          </a:prstGeom>
          <a:solidFill>
            <a:srgbClr val="EFF3FA"/>
          </a:solidFill>
          <a:ln w="12700">
            <a:solidFill>
              <a:srgbClr val="C7D2E6"/>
            </a:solidFill>
            <a:prstDash val="solid"/>
          </a:ln>
        </p:spPr>
        <p:txBody>
          <a:bodyPr/>
          <a:lstStyle/>
          <a:p>
            <a:endParaRPr lang="en-US"/>
          </a:p>
        </p:txBody>
      </p:sp>
      <p:sp>
        <p:nvSpPr>
          <p:cNvPr id="4" name="Text 2"/>
          <p:cNvSpPr txBox="1"/>
          <p:nvPr/>
        </p:nvSpPr>
        <p:spPr>
          <a:xfrm>
            <a:off x="594360" y="978408"/>
            <a:ext cx="365760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MỤC TIÊU ĐỀ TÀI</a:t>
            </a:r>
            <a:endParaRPr lang="en-US" sz="1250" dirty="0"/>
          </a:p>
        </p:txBody>
      </p:sp>
      <p:sp>
        <p:nvSpPr>
          <p:cNvPr id="5" name="Text 3"/>
          <p:cNvSpPr txBox="1"/>
          <p:nvPr/>
        </p:nvSpPr>
        <p:spPr>
          <a:xfrm>
            <a:off x="59436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Xây dựng một game FPS đối kháng 2v2 chơi qua mạng hoàn chỉnh, có thắng thua rõ ràng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Nghiên cứu và áp dụng Photon Fusion 2 ở chế độ Host Mode</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Thiết kế một cơ chế chiến đấu thay thế hoàn toàn thanh máu truyền thống</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200" dirty="0"/>
          </a:p>
        </p:txBody>
      </p:sp>
      <p:sp>
        <p:nvSpPr>
          <p:cNvPr id="6" name="card"/>
          <p:cNvSpPr/>
          <p:nvPr/>
        </p:nvSpPr>
        <p:spPr>
          <a:xfrm>
            <a:off x="4709160" y="868680"/>
            <a:ext cx="4023360" cy="2103120"/>
          </a:xfrm>
          <a:prstGeom prst="roundRect">
            <a:avLst>
              <a:gd name="adj" fmla="val 2609"/>
            </a:avLst>
          </a:prstGeom>
          <a:solidFill>
            <a:srgbClr val="EFF3FA"/>
          </a:solidFill>
          <a:ln w="12700">
            <a:solidFill>
              <a:srgbClr val="C7D2E6"/>
            </a:solidFill>
            <a:prstDash val="solid"/>
          </a:ln>
        </p:spPr>
        <p:txBody>
          <a:bodyPr/>
          <a:lstStyle/>
          <a:p>
            <a:endParaRPr lang="en-US"/>
          </a:p>
        </p:txBody>
      </p:sp>
      <p:sp>
        <p:nvSpPr>
          <p:cNvPr id="7" name="Text 5"/>
          <p:cNvSpPr txBox="1"/>
          <p:nvPr/>
        </p:nvSpPr>
        <p:spPr>
          <a:xfrm>
            <a:off x="4892040" y="978408"/>
            <a:ext cx="365760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PHẠM VI</a:t>
            </a:r>
            <a:endParaRPr lang="en-US" sz="1250" dirty="0"/>
          </a:p>
        </p:txBody>
      </p:sp>
      <p:sp>
        <p:nvSpPr>
          <p:cNvPr id="8" name="Text 6"/>
          <p:cNvSpPr txBox="1"/>
          <p:nvPr/>
        </p:nvSpPr>
        <p:spPr>
          <a:xfrm>
            <a:off x="4892040" y="1307592"/>
            <a:ext cx="3657600" cy="15544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Nền tảng: PC chạy Windows</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Một chế độ chơi, một bản đồ, đúng 4 người mỗi trận</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bot máy — mọi người chơi đều là người thật</a:t>
            </a:r>
            <a:endParaRPr lang="en-US" sz="1200" dirty="0"/>
          </a:p>
          <a:p>
            <a:pPr marL="342900" indent="-342900">
              <a:lnSpc>
                <a:spcPct val="105000"/>
              </a:lnSpc>
              <a:spcAft>
                <a:spcPts val="700"/>
              </a:spcAft>
              <a:buSzPct val="100000"/>
              <a:buChar char="•"/>
            </a:pPr>
            <a:r>
              <a:rPr lang="en-US" sz="1200" dirty="0">
                <a:solidFill>
                  <a:srgbClr val="1A1A1A"/>
                </a:solidFill>
                <a:latin typeface="Arial" pitchFamily="34" charset="0"/>
                <a:ea typeface="Arial" pitchFamily="34" charset="-122"/>
                <a:cs typeface="Arial" pitchFamily="34" charset="-120"/>
              </a:rPr>
              <a:t>Không làm tài khoản, không lưu tiến trình giữa các trận</a:t>
            </a:r>
            <a:endParaRPr lang="en-US" sz="1200" dirty="0"/>
          </a:p>
        </p:txBody>
      </p:sp>
      <p:sp>
        <p:nvSpPr>
          <p:cNvPr id="9" name="Text 7"/>
          <p:cNvSpPr txBox="1"/>
          <p:nvPr/>
        </p:nvSpPr>
        <p:spPr>
          <a:xfrm>
            <a:off x="411480" y="3154680"/>
            <a:ext cx="365760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CHỈ TIÊU KỸ THUẬT</a:t>
            </a:r>
            <a:endParaRPr lang="en-US" sz="1250" dirty="0"/>
          </a:p>
        </p:txBody>
      </p:sp>
      <p:sp>
        <p:nvSpPr>
          <p:cNvPr id="10" name="card"/>
          <p:cNvSpPr/>
          <p:nvPr/>
        </p:nvSpPr>
        <p:spPr>
          <a:xfrm>
            <a:off x="411480" y="3474720"/>
            <a:ext cx="201168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11" name="Text 9"/>
          <p:cNvSpPr txBox="1"/>
          <p:nvPr/>
        </p:nvSpPr>
        <p:spPr>
          <a:xfrm>
            <a:off x="411480" y="3566160"/>
            <a:ext cx="2011680" cy="566928"/>
          </a:xfrm>
          <a:prstGeom prst="rect">
            <a:avLst/>
          </a:prstGeom>
          <a:noFill/>
          <a:ln/>
        </p:spPr>
        <p:txBody>
          <a:bodyPr wrap="square" lIns="0" tIns="0" rIns="0" bIns="0" rtlCol="0" anchor="ctr"/>
          <a:lstStyle/>
          <a:p>
            <a:pPr marL="0" indent="0" algn="ctr">
              <a:buNone/>
            </a:pPr>
            <a:r>
              <a:rPr lang="en-US" sz="3000" b="1" dirty="0">
                <a:solidFill>
                  <a:srgbClr val="002060"/>
                </a:solidFill>
                <a:latin typeface="Arial" pitchFamily="34" charset="0"/>
                <a:ea typeface="Arial" pitchFamily="34" charset="-122"/>
                <a:cs typeface="Arial" pitchFamily="34" charset="-120"/>
              </a:rPr>
              <a:t>60+</a:t>
            </a:r>
            <a:endParaRPr lang="en-US" sz="3000" dirty="0"/>
          </a:p>
        </p:txBody>
      </p:sp>
      <p:sp>
        <p:nvSpPr>
          <p:cNvPr id="12" name="Text 10"/>
          <p:cNvSpPr txBox="1"/>
          <p:nvPr/>
        </p:nvSpPr>
        <p:spPr>
          <a:xfrm>
            <a:off x="484632" y="4133088"/>
            <a:ext cx="186537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khung hình/giây ở 1920x1080</a:t>
            </a:r>
            <a:endParaRPr lang="en-US" sz="1100" dirty="0"/>
          </a:p>
        </p:txBody>
      </p:sp>
      <p:sp>
        <p:nvSpPr>
          <p:cNvPr id="13" name="card"/>
          <p:cNvSpPr/>
          <p:nvPr/>
        </p:nvSpPr>
        <p:spPr>
          <a:xfrm>
            <a:off x="2606040" y="3474720"/>
            <a:ext cx="201168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14" name="Text 12"/>
          <p:cNvSpPr txBox="1"/>
          <p:nvPr/>
        </p:nvSpPr>
        <p:spPr>
          <a:xfrm>
            <a:off x="2606040" y="3566160"/>
            <a:ext cx="2011680" cy="566928"/>
          </a:xfrm>
          <a:prstGeom prst="rect">
            <a:avLst/>
          </a:prstGeom>
          <a:noFill/>
          <a:ln/>
        </p:spPr>
        <p:txBody>
          <a:bodyPr wrap="square" lIns="0" tIns="0" rIns="0" bIns="0" rtlCol="0" anchor="ctr"/>
          <a:lstStyle/>
          <a:p>
            <a:pPr marL="0" indent="0" algn="ctr">
              <a:buNone/>
            </a:pPr>
            <a:r>
              <a:rPr lang="en-US" sz="2200" b="1" dirty="0">
                <a:solidFill>
                  <a:srgbClr val="002060"/>
                </a:solidFill>
                <a:latin typeface="Arial" pitchFamily="34" charset="0"/>
                <a:ea typeface="Arial" pitchFamily="34" charset="-122"/>
                <a:cs typeface="Arial" pitchFamily="34" charset="-120"/>
              </a:rPr>
              <a:t>&lt;100ms</a:t>
            </a:r>
            <a:endParaRPr lang="en-US" sz="2200" dirty="0"/>
          </a:p>
        </p:txBody>
      </p:sp>
      <p:sp>
        <p:nvSpPr>
          <p:cNvPr id="15" name="Text 13"/>
          <p:cNvSpPr txBox="1"/>
          <p:nvPr/>
        </p:nvSpPr>
        <p:spPr>
          <a:xfrm>
            <a:off x="2679192" y="4133088"/>
            <a:ext cx="186537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độ trễ mạng, khu vực asia</a:t>
            </a:r>
            <a:endParaRPr lang="en-US" sz="1100" dirty="0"/>
          </a:p>
        </p:txBody>
      </p:sp>
      <p:sp>
        <p:nvSpPr>
          <p:cNvPr id="16" name="card"/>
          <p:cNvSpPr/>
          <p:nvPr/>
        </p:nvSpPr>
        <p:spPr>
          <a:xfrm>
            <a:off x="4800600" y="3474720"/>
            <a:ext cx="187452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17" name="Text 15"/>
          <p:cNvSpPr txBox="1"/>
          <p:nvPr/>
        </p:nvSpPr>
        <p:spPr>
          <a:xfrm>
            <a:off x="4800600" y="3566160"/>
            <a:ext cx="1874520" cy="566928"/>
          </a:xfrm>
          <a:prstGeom prst="rect">
            <a:avLst/>
          </a:prstGeom>
          <a:noFill/>
          <a:ln/>
        </p:spPr>
        <p:txBody>
          <a:bodyPr wrap="square" lIns="0" tIns="0" rIns="0" bIns="0" rtlCol="0" anchor="ctr"/>
          <a:lstStyle/>
          <a:p>
            <a:pPr marL="0" indent="0" algn="ctr">
              <a:buNone/>
            </a:pPr>
            <a:r>
              <a:rPr lang="en-US" sz="3000" b="1" dirty="0">
                <a:solidFill>
                  <a:srgbClr val="E8453C"/>
                </a:solidFill>
                <a:latin typeface="Arial" pitchFamily="34" charset="0"/>
                <a:ea typeface="Arial" pitchFamily="34" charset="-122"/>
                <a:cs typeface="Arial" pitchFamily="34" charset="-120"/>
              </a:rPr>
              <a:t>4</a:t>
            </a:r>
            <a:endParaRPr lang="en-US" sz="3000" dirty="0"/>
          </a:p>
        </p:txBody>
      </p:sp>
      <p:sp>
        <p:nvSpPr>
          <p:cNvPr id="18" name="Text 16"/>
          <p:cNvSpPr txBox="1"/>
          <p:nvPr/>
        </p:nvSpPr>
        <p:spPr>
          <a:xfrm>
            <a:off x="4873752" y="4133088"/>
            <a:ext cx="172821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người chơi mỗi trận</a:t>
            </a:r>
            <a:endParaRPr lang="en-US" sz="1100" dirty="0"/>
          </a:p>
        </p:txBody>
      </p:sp>
      <p:sp>
        <p:nvSpPr>
          <p:cNvPr id="19" name="card"/>
          <p:cNvSpPr/>
          <p:nvPr/>
        </p:nvSpPr>
        <p:spPr>
          <a:xfrm>
            <a:off x="6858000" y="3474720"/>
            <a:ext cx="187452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20" name="Text 18"/>
          <p:cNvSpPr txBox="1"/>
          <p:nvPr/>
        </p:nvSpPr>
        <p:spPr>
          <a:xfrm>
            <a:off x="6858000" y="3566160"/>
            <a:ext cx="1874520" cy="566928"/>
          </a:xfrm>
          <a:prstGeom prst="rect">
            <a:avLst/>
          </a:prstGeom>
          <a:noFill/>
          <a:ln/>
        </p:spPr>
        <p:txBody>
          <a:bodyPr wrap="square" lIns="0" tIns="0" rIns="0" bIns="0" rtlCol="0" anchor="ctr"/>
          <a:lstStyle/>
          <a:p>
            <a:pPr marL="0" indent="0" algn="ctr">
              <a:buNone/>
            </a:pPr>
            <a:r>
              <a:rPr lang="en-US" sz="3000" b="1" dirty="0">
                <a:solidFill>
                  <a:srgbClr val="2E86DE"/>
                </a:solidFill>
                <a:latin typeface="Arial" pitchFamily="34" charset="0"/>
                <a:ea typeface="Arial" pitchFamily="34" charset="-122"/>
                <a:cs typeface="Arial" pitchFamily="34" charset="-120"/>
              </a:rPr>
              <a:t>2v2</a:t>
            </a:r>
            <a:endParaRPr lang="en-US" sz="3000" dirty="0"/>
          </a:p>
        </p:txBody>
      </p:sp>
      <p:sp>
        <p:nvSpPr>
          <p:cNvPr id="21" name="Text 19"/>
          <p:cNvSpPr txBox="1"/>
          <p:nvPr/>
        </p:nvSpPr>
        <p:spPr>
          <a:xfrm>
            <a:off x="6931152" y="4133088"/>
            <a:ext cx="172821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chia hai đội Đỏ - Xanh</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3. CÔNG NGHỆ &amp; CÔNG CỤ</a:t>
            </a:r>
            <a:endParaRPr lang="en-US" sz="1700" dirty="0"/>
          </a:p>
        </p:txBody>
      </p:sp>
      <p:sp>
        <p:nvSpPr>
          <p:cNvPr id="3" name="card"/>
          <p:cNvSpPr/>
          <p:nvPr/>
        </p:nvSpPr>
        <p:spPr>
          <a:xfrm>
            <a:off x="411480" y="868680"/>
            <a:ext cx="2697480" cy="1078992"/>
          </a:xfrm>
          <a:prstGeom prst="roundRect">
            <a:avLst>
              <a:gd name="adj" fmla="val 5085"/>
            </a:avLst>
          </a:prstGeom>
          <a:solidFill>
            <a:srgbClr val="EFF3FA"/>
          </a:solidFill>
          <a:ln w="12700">
            <a:solidFill>
              <a:srgbClr val="C7D2E6"/>
            </a:solidFill>
            <a:prstDash val="solid"/>
          </a:ln>
        </p:spPr>
        <p:txBody>
          <a:bodyPr/>
          <a:lstStyle/>
          <a:p>
            <a:endParaRPr lang="en-US"/>
          </a:p>
        </p:txBody>
      </p:sp>
      <p:sp>
        <p:nvSpPr>
          <p:cNvPr id="4" name="Text 2"/>
          <p:cNvSpPr txBox="1"/>
          <p:nvPr/>
        </p:nvSpPr>
        <p:spPr>
          <a:xfrm>
            <a:off x="557784" y="978408"/>
            <a:ext cx="2404872" cy="310896"/>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Unity 6000.3.17f1</a:t>
            </a:r>
            <a:endParaRPr lang="en-US" sz="1250" dirty="0"/>
          </a:p>
        </p:txBody>
      </p:sp>
      <p:sp>
        <p:nvSpPr>
          <p:cNvPr id="5" name="Text 3"/>
          <p:cNvSpPr txBox="1"/>
          <p:nvPr/>
        </p:nvSpPr>
        <p:spPr>
          <a:xfrm>
            <a:off x="557784" y="1289304"/>
            <a:ext cx="2404872" cy="566928"/>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Engine chính. Bản Unity 6 mới nhất.</a:t>
            </a:r>
            <a:endParaRPr lang="en-US" sz="1100" dirty="0"/>
          </a:p>
        </p:txBody>
      </p:sp>
      <p:sp>
        <p:nvSpPr>
          <p:cNvPr id="6" name="card"/>
          <p:cNvSpPr/>
          <p:nvPr/>
        </p:nvSpPr>
        <p:spPr>
          <a:xfrm>
            <a:off x="3346704" y="868680"/>
            <a:ext cx="2697480" cy="1078992"/>
          </a:xfrm>
          <a:prstGeom prst="roundRect">
            <a:avLst>
              <a:gd name="adj" fmla="val 5085"/>
            </a:avLst>
          </a:prstGeom>
          <a:solidFill>
            <a:srgbClr val="EFF3FA"/>
          </a:solidFill>
          <a:ln w="12700">
            <a:solidFill>
              <a:srgbClr val="C7D2E6"/>
            </a:solidFill>
            <a:prstDash val="solid"/>
          </a:ln>
        </p:spPr>
        <p:txBody>
          <a:bodyPr/>
          <a:lstStyle/>
          <a:p>
            <a:endParaRPr lang="en-US"/>
          </a:p>
        </p:txBody>
      </p:sp>
      <p:sp>
        <p:nvSpPr>
          <p:cNvPr id="7" name="Text 5"/>
          <p:cNvSpPr txBox="1"/>
          <p:nvPr/>
        </p:nvSpPr>
        <p:spPr>
          <a:xfrm>
            <a:off x="3493008" y="978408"/>
            <a:ext cx="2404872" cy="310896"/>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URP 17.3.0</a:t>
            </a:r>
            <a:endParaRPr lang="en-US" sz="1250" dirty="0"/>
          </a:p>
        </p:txBody>
      </p:sp>
      <p:sp>
        <p:nvSpPr>
          <p:cNvPr id="8" name="Text 6"/>
          <p:cNvSpPr txBox="1"/>
          <p:nvPr/>
        </p:nvSpPr>
        <p:spPr>
          <a:xfrm>
            <a:off x="3493008" y="1289304"/>
            <a:ext cx="2404872" cy="566928"/>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Luồng dựng hình. Nhẹ, chạy tốt trên máy cấu hình vừa.</a:t>
            </a:r>
            <a:endParaRPr lang="en-US" sz="1100" dirty="0"/>
          </a:p>
        </p:txBody>
      </p:sp>
      <p:sp>
        <p:nvSpPr>
          <p:cNvPr id="9" name="card"/>
          <p:cNvSpPr/>
          <p:nvPr/>
        </p:nvSpPr>
        <p:spPr>
          <a:xfrm>
            <a:off x="6281928" y="868680"/>
            <a:ext cx="2697480" cy="1078992"/>
          </a:xfrm>
          <a:prstGeom prst="roundRect">
            <a:avLst>
              <a:gd name="adj" fmla="val 5085"/>
            </a:avLst>
          </a:prstGeom>
          <a:solidFill>
            <a:srgbClr val="EFF3FA"/>
          </a:solidFill>
          <a:ln w="12700">
            <a:solidFill>
              <a:srgbClr val="C7D2E6"/>
            </a:solidFill>
            <a:prstDash val="solid"/>
          </a:ln>
        </p:spPr>
        <p:txBody>
          <a:bodyPr/>
          <a:lstStyle/>
          <a:p>
            <a:endParaRPr lang="en-US"/>
          </a:p>
        </p:txBody>
      </p:sp>
      <p:sp>
        <p:nvSpPr>
          <p:cNvPr id="10" name="Text 8"/>
          <p:cNvSpPr txBox="1"/>
          <p:nvPr/>
        </p:nvSpPr>
        <p:spPr>
          <a:xfrm>
            <a:off x="6428232" y="978408"/>
            <a:ext cx="2404872" cy="310896"/>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Photon Fusion 2</a:t>
            </a:r>
            <a:endParaRPr lang="en-US" sz="1250" dirty="0"/>
          </a:p>
        </p:txBody>
      </p:sp>
      <p:sp>
        <p:nvSpPr>
          <p:cNvPr id="11" name="Text 9"/>
          <p:cNvSpPr txBox="1"/>
          <p:nvPr/>
        </p:nvSpPr>
        <p:spPr>
          <a:xfrm>
            <a:off x="6428232" y="1289304"/>
            <a:ext cx="2404872" cy="566928"/>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Khung mạng. Chạy Host Mode, khu vực máy chủ asia.</a:t>
            </a:r>
            <a:endParaRPr lang="en-US" sz="1100" dirty="0"/>
          </a:p>
        </p:txBody>
      </p:sp>
      <p:sp>
        <p:nvSpPr>
          <p:cNvPr id="12" name="card"/>
          <p:cNvSpPr/>
          <p:nvPr/>
        </p:nvSpPr>
        <p:spPr>
          <a:xfrm>
            <a:off x="411480" y="2112264"/>
            <a:ext cx="2697480" cy="1078992"/>
          </a:xfrm>
          <a:prstGeom prst="roundRect">
            <a:avLst>
              <a:gd name="adj" fmla="val 5085"/>
            </a:avLst>
          </a:prstGeom>
          <a:solidFill>
            <a:srgbClr val="EFF3FA"/>
          </a:solidFill>
          <a:ln w="12700">
            <a:solidFill>
              <a:srgbClr val="C7D2E6"/>
            </a:solidFill>
            <a:prstDash val="solid"/>
          </a:ln>
        </p:spPr>
        <p:txBody>
          <a:bodyPr/>
          <a:lstStyle/>
          <a:p>
            <a:endParaRPr lang="en-US"/>
          </a:p>
        </p:txBody>
      </p:sp>
      <p:sp>
        <p:nvSpPr>
          <p:cNvPr id="13" name="Text 11"/>
          <p:cNvSpPr txBox="1"/>
          <p:nvPr/>
        </p:nvSpPr>
        <p:spPr>
          <a:xfrm>
            <a:off x="557784" y="2221992"/>
            <a:ext cx="2404872" cy="310896"/>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New Input System 1.19</a:t>
            </a:r>
            <a:endParaRPr lang="en-US" sz="1250" dirty="0"/>
          </a:p>
        </p:txBody>
      </p:sp>
      <p:sp>
        <p:nvSpPr>
          <p:cNvPr id="14" name="Text 12"/>
          <p:cNvSpPr txBox="1"/>
          <p:nvPr/>
        </p:nvSpPr>
        <p:spPr>
          <a:xfrm>
            <a:off x="557784" y="2532888"/>
            <a:ext cx="2404872" cy="566928"/>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Đọc phím và chuột, ghép với gói dữ liệu gửi qua mạng.</a:t>
            </a:r>
            <a:endParaRPr lang="en-US" sz="1100" dirty="0"/>
          </a:p>
        </p:txBody>
      </p:sp>
      <p:sp>
        <p:nvSpPr>
          <p:cNvPr id="15" name="card"/>
          <p:cNvSpPr/>
          <p:nvPr/>
        </p:nvSpPr>
        <p:spPr>
          <a:xfrm>
            <a:off x="3346704" y="2112264"/>
            <a:ext cx="2697480" cy="1078992"/>
          </a:xfrm>
          <a:prstGeom prst="roundRect">
            <a:avLst>
              <a:gd name="adj" fmla="val 5085"/>
            </a:avLst>
          </a:prstGeom>
          <a:solidFill>
            <a:srgbClr val="EFF3FA"/>
          </a:solidFill>
          <a:ln w="12700">
            <a:solidFill>
              <a:srgbClr val="C7D2E6"/>
            </a:solidFill>
            <a:prstDash val="solid"/>
          </a:ln>
        </p:spPr>
        <p:txBody>
          <a:bodyPr/>
          <a:lstStyle/>
          <a:p>
            <a:endParaRPr lang="en-US"/>
          </a:p>
        </p:txBody>
      </p:sp>
      <p:sp>
        <p:nvSpPr>
          <p:cNvPr id="16" name="Text 14"/>
          <p:cNvSpPr txBox="1"/>
          <p:nvPr/>
        </p:nvSpPr>
        <p:spPr>
          <a:xfrm>
            <a:off x="3493008" y="2221992"/>
            <a:ext cx="2404872" cy="310896"/>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ParrelSync</a:t>
            </a:r>
            <a:endParaRPr lang="en-US" sz="1250" dirty="0"/>
          </a:p>
        </p:txBody>
      </p:sp>
      <p:sp>
        <p:nvSpPr>
          <p:cNvPr id="17" name="Text 15"/>
          <p:cNvSpPr txBox="1"/>
          <p:nvPr/>
        </p:nvSpPr>
        <p:spPr>
          <a:xfrm>
            <a:off x="3493008" y="2532888"/>
            <a:ext cx="2404872" cy="566928"/>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Nhân bản project để mở 2 client cùng lúc khi thử nghiệm.</a:t>
            </a:r>
            <a:endParaRPr lang="en-US" sz="1100" dirty="0"/>
          </a:p>
        </p:txBody>
      </p:sp>
      <p:sp>
        <p:nvSpPr>
          <p:cNvPr id="18" name="card"/>
          <p:cNvSpPr/>
          <p:nvPr/>
        </p:nvSpPr>
        <p:spPr>
          <a:xfrm>
            <a:off x="6281928" y="2112264"/>
            <a:ext cx="2697480" cy="1078992"/>
          </a:xfrm>
          <a:prstGeom prst="roundRect">
            <a:avLst>
              <a:gd name="adj" fmla="val 5085"/>
            </a:avLst>
          </a:prstGeom>
          <a:solidFill>
            <a:srgbClr val="EFF3FA"/>
          </a:solidFill>
          <a:ln w="12700">
            <a:solidFill>
              <a:srgbClr val="C7D2E6"/>
            </a:solidFill>
            <a:prstDash val="solid"/>
          </a:ln>
        </p:spPr>
        <p:txBody>
          <a:bodyPr/>
          <a:lstStyle/>
          <a:p>
            <a:endParaRPr lang="en-US"/>
          </a:p>
        </p:txBody>
      </p:sp>
      <p:sp>
        <p:nvSpPr>
          <p:cNvPr id="19" name="Text 17"/>
          <p:cNvSpPr txBox="1"/>
          <p:nvPr/>
        </p:nvSpPr>
        <p:spPr>
          <a:xfrm>
            <a:off x="6428232" y="2221992"/>
            <a:ext cx="2404872" cy="310896"/>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Visual Studio + Git</a:t>
            </a:r>
            <a:endParaRPr lang="en-US" sz="1250" dirty="0"/>
          </a:p>
        </p:txBody>
      </p:sp>
      <p:sp>
        <p:nvSpPr>
          <p:cNvPr id="20" name="Text 18"/>
          <p:cNvSpPr txBox="1"/>
          <p:nvPr/>
        </p:nvSpPr>
        <p:spPr>
          <a:xfrm>
            <a:off x="6428232" y="2532888"/>
            <a:ext cx="2404872" cy="566928"/>
          </a:xfrm>
          <a:prstGeom prst="rect">
            <a:avLst/>
          </a:prstGeom>
          <a:noFill/>
          <a:ln/>
        </p:spPr>
        <p:txBody>
          <a:bodyPr wrap="square" lIns="0" tIns="0" rIns="0" bIns="0" rtlCol="0" anchor="t"/>
          <a:lstStyle/>
          <a:p>
            <a:pPr marL="0" indent="0">
              <a:buNone/>
            </a:pPr>
            <a:r>
              <a:rPr lang="en-US" sz="1100" dirty="0">
                <a:solidFill>
                  <a:srgbClr val="5A6478"/>
                </a:solidFill>
                <a:latin typeface="Arial" pitchFamily="34" charset="0"/>
                <a:ea typeface="Arial" pitchFamily="34" charset="-122"/>
                <a:cs typeface="Arial" pitchFamily="34" charset="-120"/>
              </a:rPr>
              <a:t>Viết mã và quản lý phiên bản.</a:t>
            </a:r>
            <a:endParaRPr lang="en-US" sz="1100" dirty="0"/>
          </a:p>
        </p:txBody>
      </p:sp>
      <p:sp>
        <p:nvSpPr>
          <p:cNvPr id="21" name="card"/>
          <p:cNvSpPr/>
          <p:nvPr/>
        </p:nvSpPr>
        <p:spPr>
          <a:xfrm>
            <a:off x="411480" y="3429000"/>
            <a:ext cx="2834640" cy="960120"/>
          </a:xfrm>
          <a:prstGeom prst="roundRect">
            <a:avLst>
              <a:gd name="adj" fmla="val 5714"/>
            </a:avLst>
          </a:prstGeom>
          <a:solidFill>
            <a:srgbClr val="EFF3FA"/>
          </a:solidFill>
          <a:ln w="12700">
            <a:solidFill>
              <a:srgbClr val="C7D2E6"/>
            </a:solidFill>
            <a:prstDash val="solid"/>
          </a:ln>
        </p:spPr>
        <p:txBody>
          <a:bodyPr/>
          <a:lstStyle/>
          <a:p>
            <a:endParaRPr lang="en-US"/>
          </a:p>
        </p:txBody>
      </p:sp>
      <p:sp>
        <p:nvSpPr>
          <p:cNvPr id="22" name="Text 20"/>
          <p:cNvSpPr txBox="1"/>
          <p:nvPr/>
        </p:nvSpPr>
        <p:spPr>
          <a:xfrm>
            <a:off x="411480" y="3520440"/>
            <a:ext cx="2834640" cy="566928"/>
          </a:xfrm>
          <a:prstGeom prst="rect">
            <a:avLst/>
          </a:prstGeom>
          <a:noFill/>
          <a:ln/>
        </p:spPr>
        <p:txBody>
          <a:bodyPr wrap="square" lIns="0" tIns="0" rIns="0" bIns="0" rtlCol="0" anchor="ctr"/>
          <a:lstStyle/>
          <a:p>
            <a:pPr marL="0" indent="0" algn="ctr">
              <a:buNone/>
            </a:pPr>
            <a:r>
              <a:rPr lang="en-US" sz="3000" b="1" dirty="0">
                <a:solidFill>
                  <a:srgbClr val="002060"/>
                </a:solidFill>
                <a:latin typeface="Arial" pitchFamily="34" charset="0"/>
                <a:ea typeface="Arial" pitchFamily="34" charset="-122"/>
                <a:cs typeface="Arial" pitchFamily="34" charset="-120"/>
              </a:rPr>
              <a:t>45</a:t>
            </a:r>
            <a:endParaRPr lang="en-US" sz="3000" dirty="0"/>
          </a:p>
        </p:txBody>
      </p:sp>
      <p:sp>
        <p:nvSpPr>
          <p:cNvPr id="23" name="Text 21"/>
          <p:cNvSpPr txBox="1"/>
          <p:nvPr/>
        </p:nvSpPr>
        <p:spPr>
          <a:xfrm>
            <a:off x="484632" y="4087368"/>
            <a:ext cx="2688336" cy="22860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24" name="card"/>
          <p:cNvSpPr/>
          <p:nvPr/>
        </p:nvSpPr>
        <p:spPr>
          <a:xfrm>
            <a:off x="3383280" y="3429000"/>
            <a:ext cx="2834640" cy="960120"/>
          </a:xfrm>
          <a:prstGeom prst="roundRect">
            <a:avLst>
              <a:gd name="adj" fmla="val 5714"/>
            </a:avLst>
          </a:prstGeom>
          <a:solidFill>
            <a:srgbClr val="EFF3FA"/>
          </a:solidFill>
          <a:ln w="12700">
            <a:solidFill>
              <a:srgbClr val="C7D2E6"/>
            </a:solidFill>
            <a:prstDash val="solid"/>
          </a:ln>
        </p:spPr>
        <p:txBody>
          <a:bodyPr/>
          <a:lstStyle/>
          <a:p>
            <a:endParaRPr lang="en-US"/>
          </a:p>
        </p:txBody>
      </p:sp>
      <p:sp>
        <p:nvSpPr>
          <p:cNvPr id="25" name="Text 23"/>
          <p:cNvSpPr txBox="1"/>
          <p:nvPr/>
        </p:nvSpPr>
        <p:spPr>
          <a:xfrm>
            <a:off x="3383280" y="3520440"/>
            <a:ext cx="2834640" cy="566928"/>
          </a:xfrm>
          <a:prstGeom prst="rect">
            <a:avLst/>
          </a:prstGeom>
          <a:noFill/>
          <a:ln/>
        </p:spPr>
        <p:txBody>
          <a:bodyPr wrap="square" lIns="0" tIns="0" rIns="0" bIns="0" rtlCol="0" anchor="ctr"/>
          <a:lstStyle/>
          <a:p>
            <a:pPr marL="0" indent="0" algn="ctr">
              <a:buNone/>
            </a:pPr>
            <a:r>
              <a:rPr lang="en-US" sz="2600" b="1" dirty="0">
                <a:solidFill>
                  <a:srgbClr val="002060"/>
                </a:solidFill>
                <a:latin typeface="Arial" pitchFamily="34" charset="0"/>
                <a:ea typeface="Arial" pitchFamily="34" charset="-122"/>
                <a:cs typeface="Arial" pitchFamily="34" charset="-120"/>
              </a:rPr>
              <a:t>~20.000</a:t>
            </a:r>
            <a:endParaRPr lang="en-US" sz="2600" dirty="0"/>
          </a:p>
        </p:txBody>
      </p:sp>
      <p:sp>
        <p:nvSpPr>
          <p:cNvPr id="26" name="Text 24"/>
          <p:cNvSpPr txBox="1"/>
          <p:nvPr/>
        </p:nvSpPr>
        <p:spPr>
          <a:xfrm>
            <a:off x="3456432" y="4087368"/>
            <a:ext cx="2688336" cy="22860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dòng mã tự viết (không tính thư viện)</a:t>
            </a:r>
            <a:endParaRPr lang="en-US" sz="1100" dirty="0"/>
          </a:p>
        </p:txBody>
      </p:sp>
      <p:sp>
        <p:nvSpPr>
          <p:cNvPr id="27" name="card"/>
          <p:cNvSpPr/>
          <p:nvPr/>
        </p:nvSpPr>
        <p:spPr>
          <a:xfrm>
            <a:off x="6309360" y="3429000"/>
            <a:ext cx="2423160" cy="960120"/>
          </a:xfrm>
          <a:prstGeom prst="roundRect">
            <a:avLst>
              <a:gd name="adj" fmla="val 5714"/>
            </a:avLst>
          </a:prstGeom>
          <a:solidFill>
            <a:srgbClr val="EFF3FA"/>
          </a:solidFill>
          <a:ln w="12700">
            <a:solidFill>
              <a:srgbClr val="C7D2E6"/>
            </a:solidFill>
            <a:prstDash val="solid"/>
          </a:ln>
        </p:spPr>
        <p:txBody>
          <a:bodyPr/>
          <a:lstStyle/>
          <a:p>
            <a:endParaRPr lang="en-US"/>
          </a:p>
        </p:txBody>
      </p:sp>
      <p:sp>
        <p:nvSpPr>
          <p:cNvPr id="28" name="Text 26"/>
          <p:cNvSpPr txBox="1"/>
          <p:nvPr/>
        </p:nvSpPr>
        <p:spPr>
          <a:xfrm>
            <a:off x="6309360" y="3520440"/>
            <a:ext cx="2423160" cy="566928"/>
          </a:xfrm>
          <a:prstGeom prst="rect">
            <a:avLst/>
          </a:prstGeom>
          <a:noFill/>
          <a:ln/>
        </p:spPr>
        <p:txBody>
          <a:bodyPr wrap="square" lIns="0" tIns="0" rIns="0" bIns="0" rtlCol="0" anchor="ctr"/>
          <a:lstStyle/>
          <a:p>
            <a:pPr marL="0" indent="0" algn="ctr">
              <a:buNone/>
            </a:pPr>
            <a:r>
              <a:rPr lang="en-US" sz="3000" b="1" dirty="0">
                <a:solidFill>
                  <a:srgbClr val="E8453C"/>
                </a:solidFill>
                <a:latin typeface="Arial" pitchFamily="34" charset="0"/>
                <a:ea typeface="Arial" pitchFamily="34" charset="-122"/>
                <a:cs typeface="Arial" pitchFamily="34" charset="-120"/>
              </a:rPr>
              <a:t>1</a:t>
            </a:r>
            <a:endParaRPr lang="en-US" sz="3000" dirty="0"/>
          </a:p>
        </p:txBody>
      </p:sp>
      <p:sp>
        <p:nvSpPr>
          <p:cNvPr id="29" name="Text 27"/>
          <p:cNvSpPr txBox="1"/>
          <p:nvPr/>
        </p:nvSpPr>
        <p:spPr>
          <a:xfrm>
            <a:off x="6382512" y="4087368"/>
            <a:ext cx="2276856" cy="22860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người thực hiện toàn bộ</a:t>
            </a:r>
            <a:endParaRPr lang="en-US" sz="1100" dirty="0"/>
          </a:p>
        </p:txBody>
      </p:sp>
      <p:sp>
        <p:nvSpPr>
          <p:cNvPr id="30"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4. PHÂN TÍCH &amp; THIẾT KẾ — GĂNG TAY TỪ TÍNH</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marL="0" indent="0">
              <a:buNone/>
            </a:pPr>
            <a:r>
              <a:rPr lang="en-US" sz="1350" b="1" dirty="0">
                <a:solidFill>
                  <a:srgbClr val="002060"/>
                </a:solidFill>
                <a:latin typeface="Arial" pitchFamily="34" charset="0"/>
                <a:ea typeface="Arial" pitchFamily="34" charset="-122"/>
                <a:cs typeface="Arial" pitchFamily="34" charset="-120"/>
              </a:rPr>
              <a:t>Toàn bộ chiến đấu dựa trên một luật duy nhất: cùng dấu đẩy nhau, trái dấu hút nhau</a:t>
            </a:r>
            <a:endParaRPr lang="en-US" sz="1350" dirty="0"/>
          </a:p>
        </p:txBody>
      </p:sp>
      <p:sp>
        <p:nvSpPr>
          <p:cNvPr id="4" name="Shape 2"/>
          <p:cNvSpPr/>
          <p:nvPr/>
        </p:nvSpPr>
        <p:spPr>
          <a:xfrm>
            <a:off x="411480" y="1389888"/>
            <a:ext cx="201168" cy="201168"/>
          </a:xfrm>
          <a:prstGeom prst="ellipse">
            <a:avLst/>
          </a:prstGeom>
          <a:solidFill>
            <a:srgbClr val="E8453C"/>
          </a:solidFill>
          <a:ln w="12700">
            <a:solidFill>
              <a:srgbClr val="333333"/>
            </a:solidFill>
            <a:prstDash val="solid"/>
          </a:ln>
        </p:spPr>
        <p:txBody>
          <a:bodyPr/>
          <a:lstStyle/>
          <a:p>
            <a:endParaRPr lang="en-US"/>
          </a:p>
        </p:txBody>
      </p:sp>
      <p:sp>
        <p:nvSpPr>
          <p:cNvPr id="5" name="Text 3"/>
          <p:cNvSpPr txBox="1"/>
          <p:nvPr/>
        </p:nvSpPr>
        <p:spPr>
          <a:xfrm>
            <a:off x="685800" y="1353312"/>
            <a:ext cx="2194560" cy="274320"/>
          </a:xfrm>
          <a:prstGeom prst="rect">
            <a:avLst/>
          </a:prstGeom>
          <a:noFill/>
          <a:ln/>
        </p:spPr>
        <p:txBody>
          <a:bodyPr wrap="square" lIns="0" tIns="0" rIns="0" bIns="0" rtlCol="0" anchor="ctr"/>
          <a:lstStyle/>
          <a:p>
            <a:pPr marL="0" indent="0">
              <a:buNone/>
            </a:pPr>
            <a:r>
              <a:rPr lang="en-US" sz="1200" b="1" dirty="0">
                <a:solidFill>
                  <a:srgbClr val="1A1A1A"/>
                </a:solidFill>
                <a:latin typeface="Arial" pitchFamily="34" charset="0"/>
                <a:ea typeface="Arial" pitchFamily="34" charset="-122"/>
                <a:cs typeface="Arial" pitchFamily="34" charset="-120"/>
              </a:rPr>
              <a:t>CỰC DƯƠNG — phím 1</a:t>
            </a:r>
            <a:endParaRPr lang="en-US" sz="1200" dirty="0"/>
          </a:p>
        </p:txBody>
      </p:sp>
      <p:sp>
        <p:nvSpPr>
          <p:cNvPr id="6" name="Shape 4"/>
          <p:cNvSpPr/>
          <p:nvPr/>
        </p:nvSpPr>
        <p:spPr>
          <a:xfrm>
            <a:off x="2697480" y="1389888"/>
            <a:ext cx="201168" cy="201168"/>
          </a:xfrm>
          <a:prstGeom prst="ellipse">
            <a:avLst/>
          </a:prstGeom>
          <a:solidFill>
            <a:srgbClr val="2E86DE"/>
          </a:solidFill>
          <a:ln w="12700">
            <a:solidFill>
              <a:srgbClr val="333333"/>
            </a:solidFill>
            <a:prstDash val="solid"/>
          </a:ln>
        </p:spPr>
        <p:txBody>
          <a:bodyPr/>
          <a:lstStyle/>
          <a:p>
            <a:endParaRPr lang="en-US"/>
          </a:p>
        </p:txBody>
      </p:sp>
      <p:sp>
        <p:nvSpPr>
          <p:cNvPr id="7" name="Text 5"/>
          <p:cNvSpPr txBox="1"/>
          <p:nvPr/>
        </p:nvSpPr>
        <p:spPr>
          <a:xfrm>
            <a:off x="2971800" y="1353312"/>
            <a:ext cx="2194560" cy="274320"/>
          </a:xfrm>
          <a:prstGeom prst="rect">
            <a:avLst/>
          </a:prstGeom>
          <a:noFill/>
          <a:ln/>
        </p:spPr>
        <p:txBody>
          <a:bodyPr wrap="square" lIns="0" tIns="0" rIns="0" bIns="0" rtlCol="0" anchor="ctr"/>
          <a:lstStyle/>
          <a:p>
            <a:pPr marL="0" indent="0">
              <a:buNone/>
            </a:pPr>
            <a:r>
              <a:rPr lang="en-US" sz="1200" b="1" dirty="0">
                <a:solidFill>
                  <a:srgbClr val="1A1A1A"/>
                </a:solidFill>
                <a:latin typeface="Arial" pitchFamily="34" charset="0"/>
                <a:ea typeface="Arial" pitchFamily="34" charset="-122"/>
                <a:cs typeface="Arial" pitchFamily="34" charset="-120"/>
              </a:rPr>
              <a:t>CỰC ÂM — phím 2</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755648"/>
          <a:ext cx="4983480" cy="1463040"/>
        </p:xfrm>
        <a:graphic>
          <a:graphicData uri="http://schemas.openxmlformats.org/drawingml/2006/table">
            <a:tbl>
              <a:tblPr/>
              <a:tblGrid>
                <a:gridCol w="146304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2423160">
                  <a:extLst>
                    <a:ext uri="{9D8B030D-6E8A-4147-A177-3AD203B41FA5}">
                      <a16:colId xmlns:a16="http://schemas.microsoft.com/office/drawing/2014/main" val="20002"/>
                    </a:ext>
                  </a:extLst>
                </a:gridCol>
              </a:tblGrid>
              <a:tr h="292608">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Tình huống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Thao tác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Kết quả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extLst>
                  <a:ext uri="{0D108BD9-81ED-4DB2-BD59-A6C34878D82A}">
                    <a16:rowId xmlns:a16="http://schemas.microsoft.com/office/drawing/2014/main" val="10000"/>
                  </a:ext>
                </a:extLst>
              </a:tr>
              <a:tr h="292608">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Vật chưa có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Nạp điện cùng cực với găng tay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1"/>
                  </a:ext>
                </a:extLst>
              </a:tr>
              <a:tr h="292608">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Vật CÙNG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ĐẨY — vật bay đi, thành đạn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2"/>
                  </a:ext>
                </a:extLst>
              </a:tr>
              <a:tr h="292608">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Vật TRÁI dấu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Chuột trái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HÚT — vật bay về tay, cầm được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3"/>
                  </a:ext>
                </a:extLst>
              </a:tr>
              <a:tr h="292608">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Đang cầm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Chuột phải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Bắn vật đang cầm đi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9" name="card"/>
          <p:cNvSpPr/>
          <p:nvPr/>
        </p:nvSpPr>
        <p:spPr>
          <a:xfrm>
            <a:off x="411480" y="3520440"/>
            <a:ext cx="4983480" cy="1051560"/>
          </a:xfrm>
          <a:prstGeom prst="roundRect">
            <a:avLst>
              <a:gd name="adj" fmla="val 5217"/>
            </a:avLst>
          </a:prstGeom>
          <a:solidFill>
            <a:srgbClr val="EFF3FA"/>
          </a:solidFill>
          <a:ln w="12700">
            <a:solidFill>
              <a:srgbClr val="C7D2E6"/>
            </a:solidFill>
            <a:prstDash val="solid"/>
          </a:ln>
        </p:spPr>
        <p:txBody>
          <a:bodyPr/>
          <a:lstStyle/>
          <a:p>
            <a:endParaRPr lang="en-US"/>
          </a:p>
        </p:txBody>
      </p:sp>
      <p:sp>
        <p:nvSpPr>
          <p:cNvPr id="10" name="Text 7"/>
          <p:cNvSpPr txBox="1"/>
          <p:nvPr/>
        </p:nvSpPr>
        <p:spPr>
          <a:xfrm>
            <a:off x="557784" y="3611880"/>
            <a:ext cx="4663440" cy="237744"/>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CẬN CHIẾN — chuột phải khi tay trống</a:t>
            </a:r>
            <a:endParaRPr lang="en-US" sz="1150" dirty="0"/>
          </a:p>
        </p:txBody>
      </p:sp>
      <p:sp>
        <p:nvSpPr>
          <p:cNvPr id="11" name="Text 8"/>
          <p:cNvSpPr txBox="1"/>
          <p:nvPr/>
        </p:nvSpPr>
        <p:spPr>
          <a:xfrm>
            <a:off x="557784" y="3858768"/>
            <a:ext cx="4663440" cy="658368"/>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cùng dấu: đấm hất văng đối thủ</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Dưới 3m, trái dấu: cả hai nảy bật nhẹ ra</a:t>
            </a:r>
            <a:endParaRPr lang="en-US" sz="1050" dirty="0"/>
          </a:p>
          <a:p>
            <a:pPr marL="342900" indent="-342900">
              <a:lnSpc>
                <a:spcPct val="105000"/>
              </a:lnSpc>
              <a:spcAft>
                <a:spcPts val="700"/>
              </a:spcAft>
              <a:buSzPct val="100000"/>
              <a:buChar char="•"/>
            </a:pPr>
            <a:r>
              <a:rPr lang="en-US" sz="1050" dirty="0">
                <a:solidFill>
                  <a:srgbClr val="5A6478"/>
                </a:solidFill>
                <a:latin typeface="Arial" pitchFamily="34" charset="0"/>
                <a:ea typeface="Arial" pitchFamily="34" charset="-122"/>
                <a:cs typeface="Arial" pitchFamily="34" charset="-120"/>
              </a:rPr>
              <a:t>Từ 3 đến 8m, trái dấu: kéo áp sát, lướt nhanh về phía đối thủ</a:t>
            </a:r>
            <a:endParaRPr lang="en-US" sz="1050" dirty="0"/>
          </a:p>
        </p:txBody>
      </p:sp>
      <p:pic>
        <p:nvPicPr>
          <p:cNvPr id="12" name="Image 0" descr="img/shot_hut.png"/>
          <p:cNvPicPr>
            <a:picLocks noChangeAspect="1"/>
          </p:cNvPicPr>
          <p:nvPr/>
        </p:nvPicPr>
        <p:blipFill>
          <a:blip r:embed="rId3"/>
          <a:stretch>
            <a:fillRect/>
          </a:stretch>
        </p:blipFill>
        <p:spPr>
          <a:xfrm>
            <a:off x="5669280" y="2135995"/>
            <a:ext cx="3063240" cy="1689898"/>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4. PHÂN TÍCH &amp; THIẾT KẾ — BỐN LOẠI ĐẠN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marL="0" indent="0">
              <a:buNone/>
            </a:pPr>
            <a:r>
              <a:rPr lang="en-US" sz="1350" b="1" dirty="0">
                <a:solidFill>
                  <a:srgbClr val="002060"/>
                </a:solidFill>
                <a:latin typeface="Arial" pitchFamily="34" charset="0"/>
                <a:ea typeface="Arial" pitchFamily="34" charset="-122"/>
                <a:cs typeface="Arial" pitchFamily="34" charset="-120"/>
              </a:rPr>
              <a:t>Mỗi loại vật thể có một luật riêng, buộc người chơi phải nhìn màu vật trước khi bấm chuột</a:t>
            </a:r>
            <a:endParaRPr lang="en-US" sz="13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1920240"/>
        </p:xfrm>
        <a:graphic>
          <a:graphicData uri="http://schemas.openxmlformats.org/drawingml/2006/table">
            <a:tbl>
              <a:tblPr/>
              <a:tblGrid>
                <a:gridCol w="118872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5760720">
                  <a:extLst>
                    <a:ext uri="{9D8B030D-6E8A-4147-A177-3AD203B41FA5}">
                      <a16:colId xmlns:a16="http://schemas.microsoft.com/office/drawing/2014/main" val="20002"/>
                    </a:ext>
                  </a:extLst>
                </a:gridCol>
              </a:tblGrid>
              <a:tr h="384048">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Loại</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Điện tích nạp</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200" b="1" dirty="0">
                          <a:solidFill>
                            <a:srgbClr val="FFFFFF"/>
                          </a:solidFill>
                          <a:latin typeface="Arial" pitchFamily="34" charset="0"/>
                          <a:ea typeface="Arial" pitchFamily="34" charset="-122"/>
                          <a:cs typeface="Arial" pitchFamily="34" charset="-120"/>
                        </a:rPr>
                        <a:t>Luật riêng</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extLst>
                  <a:ext uri="{0D108BD9-81ED-4DB2-BD59-A6C34878D82A}">
                    <a16:rowId xmlns:a16="http://schemas.microsoft.com/office/drawing/2014/main" val="10000"/>
                  </a:ext>
                </a:extLst>
              </a:tr>
              <a:tr h="384048">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Normal</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10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Hút đẩy linh hoạt, không có ràng buộc gì thêm</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Heavy</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20</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Đang bay thì KHÔNG hút về tay được, chỉ cản lại: tốc độ x0,5 và sát thương x0,5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2"/>
                  </a:ext>
                </a:extLst>
              </a:tr>
              <a:tr h="384048">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Spike</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25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Hút nhầm lúc nó đang bay tới thì chịu gấp đôi điện tích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3"/>
                  </a:ext>
                </a:extLst>
              </a:tr>
              <a:tr h="384048">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TNT</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35</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200" dirty="0">
                          <a:solidFill>
                            <a:srgbClr val="1A1A1A"/>
                          </a:solidFill>
                          <a:latin typeface="Arial" pitchFamily="34" charset="0"/>
                          <a:ea typeface="Arial" pitchFamily="34" charset="-122"/>
                          <a:cs typeface="Arial" pitchFamily="34" charset="-120"/>
                        </a:rPr>
                        <a:t>Nổ trong bán kính 6m, lực giảm dần theo khoảng cách</a:t>
                      </a:r>
                      <a:endParaRPr lang="en-US" sz="12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card"/>
          <p:cNvSpPr/>
          <p:nvPr/>
        </p:nvSpPr>
        <p:spPr>
          <a:xfrm>
            <a:off x="411480" y="3291840"/>
            <a:ext cx="8321040" cy="1234440"/>
          </a:xfrm>
          <a:prstGeom prst="roundRect">
            <a:avLst>
              <a:gd name="adj" fmla="val 4444"/>
            </a:avLst>
          </a:prstGeom>
          <a:solidFill>
            <a:srgbClr val="FDF2F1"/>
          </a:solidFill>
          <a:ln w="12700">
            <a:solidFill>
              <a:srgbClr val="F0C2BE"/>
            </a:solidFill>
            <a:prstDash val="solid"/>
          </a:ln>
        </p:spPr>
        <p:txBody>
          <a:bodyPr/>
          <a:lstStyle/>
          <a:p>
            <a:endParaRPr lang="en-US"/>
          </a:p>
        </p:txBody>
      </p:sp>
      <p:sp>
        <p:nvSpPr>
          <p:cNvPr id="6" name="Shape 3"/>
          <p:cNvSpPr/>
          <p:nvPr/>
        </p:nvSpPr>
        <p:spPr>
          <a:xfrm>
            <a:off x="594360" y="3456432"/>
            <a:ext cx="182880" cy="182880"/>
          </a:xfrm>
          <a:prstGeom prst="ellipse">
            <a:avLst/>
          </a:prstGeom>
          <a:solidFill>
            <a:srgbClr val="E8453C"/>
          </a:solidFill>
          <a:ln w="12700">
            <a:solidFill>
              <a:srgbClr val="333333"/>
            </a:solidFill>
            <a:prstDash val="solid"/>
          </a:ln>
        </p:spPr>
        <p:txBody>
          <a:bodyPr/>
          <a:lstStyle/>
          <a:p>
            <a:endParaRPr lang="en-US"/>
          </a:p>
        </p:txBody>
      </p:sp>
      <p:sp>
        <p:nvSpPr>
          <p:cNvPr id="7" name="Text 4"/>
          <p:cNvSpPr txBox="1"/>
          <p:nvPr/>
        </p:nvSpPr>
        <p:spPr>
          <a:xfrm>
            <a:off x="868680" y="3401568"/>
            <a:ext cx="548640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HEAVY VÀ SPIKE LÀ MỘT CẶP ĐỐI XỨNG</a:t>
            </a:r>
            <a:endParaRPr lang="en-US" sz="1250" dirty="0"/>
          </a:p>
        </p:txBody>
      </p:sp>
      <p:sp>
        <p:nvSpPr>
          <p:cNvPr id="4" name="Text 5"/>
          <p:cNvSpPr txBox="1"/>
          <p:nvPr/>
        </p:nvSpPr>
        <p:spPr>
          <a:xfrm>
            <a:off x="868680" y="3694176"/>
            <a:ext cx="7589520" cy="749808"/>
          </a:xfrm>
          <a:prstGeom prst="rect">
            <a:avLst/>
          </a:prstGeom>
          <a:noFill/>
          <a:ln/>
        </p:spPr>
        <p:txBody>
          <a:bodyPr wrap="square" lIns="0" tIns="0" rIns="0" bIns="0" rtlCol="0" anchor="t"/>
          <a:lstStyle/>
          <a:p>
            <a:pPr marL="0" indent="0">
              <a:buNone/>
            </a:pPr>
            <a:r>
              <a:rPr lang="en-US" sz="1150" dirty="0">
                <a:solidFill>
                  <a:srgbClr val="1A1A1A"/>
                </a:solidFill>
                <a:latin typeface="Arial" pitchFamily="34" charset="0"/>
                <a:ea typeface="Arial" pitchFamily="34" charset="-122"/>
                <a:cs typeface="Arial" pitchFamily="34" charset="-120"/>
              </a:rPr>
              <a:t>Cả hai dùng chung một đoạn mã xử lý, nhưng ý nghĩa ngược nhau: Heavy thưởng cho phản xạ hút, Spike phạt đúng phản xạ đó. Người chơi không thể giữ chuột bừa — phải phân biệt màu vật trong khoảng một phần tư giây.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4. PHÂN TÍCH &amp; THIẾT KẾ — CHẾ ĐỘ QUÁ TẢI</a:t>
            </a:r>
            <a:endParaRPr lang="en-US" sz="1700" dirty="0"/>
          </a:p>
        </p:txBody>
      </p:sp>
      <p:sp>
        <p:nvSpPr>
          <p:cNvPr id="3" name="Text 1"/>
          <p:cNvSpPr txBox="1"/>
          <p:nvPr/>
        </p:nvSpPr>
        <p:spPr>
          <a:xfrm>
            <a:off x="411480" y="868680"/>
            <a:ext cx="8321040" cy="411480"/>
          </a:xfrm>
          <a:prstGeom prst="rect">
            <a:avLst/>
          </a:prstGeom>
          <a:noFill/>
          <a:ln/>
        </p:spPr>
        <p:txBody>
          <a:bodyPr wrap="square" lIns="0" tIns="0" rIns="0" bIns="0" rtlCol="0" anchor="ctr"/>
          <a:lstStyle/>
          <a:p>
            <a:pPr marL="0" indent="0">
              <a:buNone/>
            </a:pPr>
            <a:r>
              <a:rPr lang="en-US" sz="1400" b="1" dirty="0">
                <a:solidFill>
                  <a:srgbClr val="002060"/>
                </a:solidFill>
                <a:latin typeface="Arial" pitchFamily="34" charset="0"/>
                <a:ea typeface="Arial" pitchFamily="34" charset="-122"/>
                <a:cs typeface="Arial" pitchFamily="34" charset="-120"/>
              </a:rPr>
              <a:t>Trúng đòn không làm mất máu — nó nạp điện vào người. </a:t>
            </a:r>
            <a:r>
              <a:rPr lang="en-US" sz="1400" dirty="0">
                <a:solidFill>
                  <a:srgbClr val="1A1A1A"/>
                </a:solidFill>
                <a:latin typeface="Arial" pitchFamily="34" charset="0"/>
                <a:ea typeface="Arial" pitchFamily="34" charset="-122"/>
                <a:cs typeface="Arial" pitchFamily="34" charset="-120"/>
              </a:rPr>
              <a:t>Càng nhiễm điện, từ trường tác động lên bạn càng mạnh, nên cùng một cú đấm sẽ hất bạn đi càng xa.</a:t>
            </a:r>
            <a:endParaRPr lang="en-US" sz="1400" dirty="0"/>
          </a:p>
        </p:txBody>
      </p:sp>
      <p:sp>
        <p:nvSpPr>
          <p:cNvPr id="4" name="card"/>
          <p:cNvSpPr/>
          <p:nvPr/>
        </p:nvSpPr>
        <p:spPr>
          <a:xfrm>
            <a:off x="411480" y="1371600"/>
            <a:ext cx="2651760" cy="1143000"/>
          </a:xfrm>
          <a:prstGeom prst="roundRect">
            <a:avLst>
              <a:gd name="adj" fmla="val 4800"/>
            </a:avLst>
          </a:prstGeom>
          <a:solidFill>
            <a:srgbClr val="EFF3FA"/>
          </a:solidFill>
          <a:ln w="12700">
            <a:solidFill>
              <a:srgbClr val="C7D2E6"/>
            </a:solidFill>
            <a:prstDash val="solid"/>
          </a:ln>
        </p:spPr>
        <p:txBody>
          <a:bodyPr/>
          <a:lstStyle/>
          <a:p>
            <a:endParaRPr lang="en-US"/>
          </a:p>
        </p:txBody>
      </p:sp>
      <p:sp>
        <p:nvSpPr>
          <p:cNvPr id="5" name="Text 3"/>
          <p:cNvSpPr txBox="1"/>
          <p:nvPr/>
        </p:nvSpPr>
        <p:spPr>
          <a:xfrm>
            <a:off x="411480" y="1463040"/>
            <a:ext cx="2651760" cy="566928"/>
          </a:xfrm>
          <a:prstGeom prst="rect">
            <a:avLst/>
          </a:prstGeom>
          <a:noFill/>
          <a:ln/>
        </p:spPr>
        <p:txBody>
          <a:bodyPr wrap="square" lIns="0" tIns="0" rIns="0" bIns="0" rtlCol="0" anchor="ctr"/>
          <a:lstStyle/>
          <a:p>
            <a:pPr marL="0" indent="0" algn="ctr">
              <a:buNone/>
            </a:pPr>
            <a:r>
              <a:rPr lang="en-US" sz="2600" b="1" dirty="0">
                <a:solidFill>
                  <a:srgbClr val="002060"/>
                </a:solidFill>
                <a:latin typeface="Arial" pitchFamily="34" charset="0"/>
                <a:ea typeface="Arial" pitchFamily="34" charset="-122"/>
                <a:cs typeface="Arial" pitchFamily="34" charset="-120"/>
              </a:rPr>
              <a:t>0 → 100</a:t>
            </a:r>
            <a:endParaRPr lang="en-US" sz="2600" dirty="0"/>
          </a:p>
        </p:txBody>
      </p:sp>
      <p:sp>
        <p:nvSpPr>
          <p:cNvPr id="6" name="Text 4"/>
          <p:cNvSpPr txBox="1"/>
          <p:nvPr/>
        </p:nvSpPr>
        <p:spPr>
          <a:xfrm>
            <a:off x="484632" y="2029968"/>
            <a:ext cx="2505456" cy="41148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thang điện tích thay cho thanh máu</a:t>
            </a:r>
            <a:endParaRPr lang="en-US" sz="1100" dirty="0"/>
          </a:p>
        </p:txBody>
      </p:sp>
      <p:sp>
        <p:nvSpPr>
          <p:cNvPr id="7" name="card"/>
          <p:cNvSpPr/>
          <p:nvPr/>
        </p:nvSpPr>
        <p:spPr>
          <a:xfrm>
            <a:off x="3246120" y="1371600"/>
            <a:ext cx="2651760" cy="1143000"/>
          </a:xfrm>
          <a:prstGeom prst="roundRect">
            <a:avLst>
              <a:gd name="adj" fmla="val 4800"/>
            </a:avLst>
          </a:prstGeom>
          <a:solidFill>
            <a:srgbClr val="EFF3FA"/>
          </a:solidFill>
          <a:ln w="12700">
            <a:solidFill>
              <a:srgbClr val="C7D2E6"/>
            </a:solidFill>
            <a:prstDash val="solid"/>
          </a:ln>
        </p:spPr>
        <p:txBody>
          <a:bodyPr/>
          <a:lstStyle/>
          <a:p>
            <a:endParaRPr lang="en-US"/>
          </a:p>
        </p:txBody>
      </p:sp>
      <p:sp>
        <p:nvSpPr>
          <p:cNvPr id="8" name="Text 6"/>
          <p:cNvSpPr txBox="1"/>
          <p:nvPr/>
        </p:nvSpPr>
        <p:spPr>
          <a:xfrm>
            <a:off x="3246120" y="1463040"/>
            <a:ext cx="2651760" cy="566928"/>
          </a:xfrm>
          <a:prstGeom prst="rect">
            <a:avLst/>
          </a:prstGeom>
          <a:noFill/>
          <a:ln/>
        </p:spPr>
        <p:txBody>
          <a:bodyPr wrap="square" lIns="0" tIns="0" rIns="0" bIns="0" rtlCol="0" anchor="ctr"/>
          <a:lstStyle/>
          <a:p>
            <a:pPr marL="0" indent="0" algn="ctr">
              <a:buNone/>
            </a:pPr>
            <a:r>
              <a:rPr lang="en-US" sz="2200" b="1" dirty="0">
                <a:solidFill>
                  <a:srgbClr val="E8453C"/>
                </a:solidFill>
                <a:latin typeface="Arial" pitchFamily="34" charset="0"/>
                <a:ea typeface="Arial" pitchFamily="34" charset="-122"/>
                <a:cs typeface="Arial" pitchFamily="34" charset="-120"/>
              </a:rPr>
              <a:t>x1,0 → x4,0</a:t>
            </a:r>
            <a:endParaRPr lang="en-US" sz="2200" dirty="0"/>
          </a:p>
        </p:txBody>
      </p:sp>
      <p:sp>
        <p:nvSpPr>
          <p:cNvPr id="9" name="Text 7"/>
          <p:cNvSpPr txBox="1"/>
          <p:nvPr/>
        </p:nvSpPr>
        <p:spPr>
          <a:xfrm>
            <a:off x="3319272" y="2029968"/>
            <a:ext cx="2505456" cy="41148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lực văng tăng tuyến tính theo lượng điện</a:t>
            </a:r>
            <a:endParaRPr lang="en-US" sz="1100" dirty="0"/>
          </a:p>
        </p:txBody>
      </p:sp>
      <p:sp>
        <p:nvSpPr>
          <p:cNvPr id="10" name="card"/>
          <p:cNvSpPr/>
          <p:nvPr/>
        </p:nvSpPr>
        <p:spPr>
          <a:xfrm>
            <a:off x="6080760" y="1371600"/>
            <a:ext cx="2651760" cy="1143000"/>
          </a:xfrm>
          <a:prstGeom prst="roundRect">
            <a:avLst>
              <a:gd name="adj" fmla="val 4800"/>
            </a:avLst>
          </a:prstGeom>
          <a:solidFill>
            <a:srgbClr val="EFF3FA"/>
          </a:solidFill>
          <a:ln w="12700">
            <a:solidFill>
              <a:srgbClr val="C7D2E6"/>
            </a:solidFill>
            <a:prstDash val="solid"/>
          </a:ln>
        </p:spPr>
        <p:txBody>
          <a:bodyPr/>
          <a:lstStyle/>
          <a:p>
            <a:endParaRPr lang="en-US"/>
          </a:p>
        </p:txBody>
      </p:sp>
      <p:sp>
        <p:nvSpPr>
          <p:cNvPr id="11" name="Text 9"/>
          <p:cNvSpPr txBox="1"/>
          <p:nvPr/>
        </p:nvSpPr>
        <p:spPr>
          <a:xfrm>
            <a:off x="6080760" y="1463040"/>
            <a:ext cx="2651760" cy="566928"/>
          </a:xfrm>
          <a:prstGeom prst="rect">
            <a:avLst/>
          </a:prstGeom>
          <a:noFill/>
          <a:ln/>
        </p:spPr>
        <p:txBody>
          <a:bodyPr wrap="square" lIns="0" tIns="0" rIns="0" bIns="0" rtlCol="0" anchor="ctr"/>
          <a:lstStyle/>
          <a:p>
            <a:pPr marL="0" indent="0" algn="ctr">
              <a:buNone/>
            </a:pPr>
            <a:r>
              <a:rPr lang="en-US" sz="3000" b="1" dirty="0">
                <a:solidFill>
                  <a:srgbClr val="2E86DE"/>
                </a:solidFill>
                <a:latin typeface="Arial" pitchFamily="34" charset="0"/>
                <a:ea typeface="Arial" pitchFamily="34" charset="-122"/>
                <a:cs typeface="Arial" pitchFamily="34" charset="-120"/>
              </a:rPr>
              <a:t>1</a:t>
            </a:r>
            <a:endParaRPr lang="en-US" sz="3000" dirty="0"/>
          </a:p>
        </p:txBody>
      </p:sp>
      <p:sp>
        <p:nvSpPr>
          <p:cNvPr id="12" name="Text 10"/>
          <p:cNvSpPr txBox="1"/>
          <p:nvPr/>
        </p:nvSpPr>
        <p:spPr>
          <a:xfrm>
            <a:off x="6153912" y="2029968"/>
            <a:ext cx="2505456" cy="41148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cách chết duy nhất: rơi khỏi đảo</a:t>
            </a:r>
            <a:endParaRPr lang="en-US" sz="1100" dirty="0"/>
          </a:p>
        </p:txBody>
      </p:sp>
      <p:sp>
        <p:nvSpPr>
          <p:cNvPr id="13" name="card"/>
          <p:cNvSpPr/>
          <p:nvPr/>
        </p:nvSpPr>
        <p:spPr>
          <a:xfrm>
            <a:off x="411480" y="2697480"/>
            <a:ext cx="4937760" cy="1874520"/>
          </a:xfrm>
          <a:prstGeom prst="roundRect">
            <a:avLst>
              <a:gd name="adj" fmla="val 2927"/>
            </a:avLst>
          </a:prstGeom>
          <a:solidFill>
            <a:srgbClr val="EFF3FA"/>
          </a:solidFill>
          <a:ln w="12700">
            <a:solidFill>
              <a:srgbClr val="C7D2E6"/>
            </a:solidFill>
            <a:prstDash val="solid"/>
          </a:ln>
        </p:spPr>
        <p:txBody>
          <a:bodyPr/>
          <a:lstStyle/>
          <a:p>
            <a:endParaRPr lang="en-US"/>
          </a:p>
        </p:txBody>
      </p:sp>
      <p:sp>
        <p:nvSpPr>
          <p:cNvPr id="14" name="Text 12"/>
          <p:cNvSpPr txBox="1"/>
          <p:nvPr/>
        </p:nvSpPr>
        <p:spPr>
          <a:xfrm>
            <a:off x="576072" y="2798064"/>
            <a:ext cx="461772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VÌ SAO ĐẦY ĐIỆN LẠI KHÔNG CHẾT</a:t>
            </a:r>
            <a:endParaRPr lang="en-US" sz="1250" dirty="0"/>
          </a:p>
        </p:txBody>
      </p:sp>
      <p:sp>
        <p:nvSpPr>
          <p:cNvPr id="15" name="Text 13"/>
          <p:cNvSpPr txBox="1"/>
          <p:nvPr/>
        </p:nvSpPr>
        <p:spPr>
          <a:xfrm>
            <a:off x="576072" y="3090672"/>
            <a:ext cx="4617720" cy="868680"/>
          </a:xfrm>
          <a:prstGeom prst="rect">
            <a:avLst/>
          </a:prstGeom>
          <a:noFill/>
          <a:ln/>
        </p:spPr>
        <p:txBody>
          <a:bodyPr wrap="square" lIns="0" tIns="0" rIns="0" bIns="0" rtlCol="0" anchor="t"/>
          <a:lstStyle/>
          <a:p>
            <a:pPr marL="0" indent="0">
              <a:buNone/>
            </a:pPr>
            <a:r>
              <a:rPr lang="en-US" sz="1200" dirty="0">
                <a:solidFill>
                  <a:srgbClr val="1A1A1A"/>
                </a:solidFill>
                <a:latin typeface="Arial" pitchFamily="34" charset="0"/>
                <a:ea typeface="Arial" pitchFamily="34" charset="-122"/>
                <a:cs typeface="Arial" pitchFamily="34" charset="-120"/>
              </a:rPr>
              <a:t>Nếu đầy thanh là chết thì đây chỉ là thanh máu chạy ngược, không có gì mới. Để cái chết đến từ VỊ TRÍ mới tạo được căng thẳng thật: đứng giữa sân với 90% điện vẫn an toàn, còn đứng sát rìa với 30% đã là mạo hiểm.</a:t>
            </a:r>
            <a:endParaRPr lang="en-US" sz="1200" dirty="0"/>
          </a:p>
        </p:txBody>
      </p:sp>
      <p:sp>
        <p:nvSpPr>
          <p:cNvPr id="16" name="Text 14"/>
          <p:cNvSpPr txBox="1"/>
          <p:nvPr/>
        </p:nvSpPr>
        <p:spPr>
          <a:xfrm>
            <a:off x="576072" y="4005072"/>
            <a:ext cx="4617720" cy="457200"/>
          </a:xfrm>
          <a:prstGeom prst="rect">
            <a:avLst/>
          </a:prstGeom>
          <a:noFill/>
          <a:ln/>
        </p:spPr>
        <p:txBody>
          <a:bodyPr wrap="square" lIns="0" tIns="0" rIns="0" bIns="0" rtlCol="0" anchor="t"/>
          <a:lstStyle/>
          <a:p>
            <a:pPr marL="0" indent="0">
              <a:buNone/>
            </a:pPr>
            <a:r>
              <a:rPr lang="en-US" sz="1100" i="1" dirty="0">
                <a:solidFill>
                  <a:srgbClr val="5A6478"/>
                </a:solidFill>
                <a:latin typeface="Arial" pitchFamily="34" charset="0"/>
                <a:ea typeface="Arial" pitchFamily="34" charset="-122"/>
                <a:cs typeface="Arial" pitchFamily="34" charset="-120"/>
              </a:rPr>
              <a:t>Hệ quả bắt buộc: pha chiến đấu phải có đồng hồ 5 phút, vì không còn ai chết vì hết máu.</a:t>
            </a:r>
            <a:endParaRPr lang="en-US" sz="1100" dirty="0"/>
          </a:p>
        </p:txBody>
      </p:sp>
      <p:pic>
        <p:nvPicPr>
          <p:cNvPr id="17" name="Image 0" descr="img/shot_hud.png"/>
          <p:cNvPicPr>
            <a:picLocks noChangeAspect="1"/>
          </p:cNvPicPr>
          <p:nvPr/>
        </p:nvPicPr>
        <p:blipFill>
          <a:blip r:embed="rId3"/>
          <a:srcRect t="81702" r="61965"/>
          <a:stretch/>
        </p:blipFill>
        <p:spPr>
          <a:xfrm>
            <a:off x="5577840" y="3619103"/>
            <a:ext cx="3337560" cy="888366"/>
          </a:xfrm>
          <a:prstGeom prst="rect">
            <a:avLst/>
          </a:prstGeom>
        </p:spPr>
      </p:pic>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4. PHÂN TÍCH &amp; THIẾT KẾ — THỂ THỨC THI ĐẤU</a:t>
            </a:r>
            <a:endParaRPr lang="en-US" sz="1700" dirty="0"/>
          </a:p>
        </p:txBody>
      </p:sp>
      <p:sp>
        <p:nvSpPr>
          <p:cNvPr id="3" name="card"/>
          <p:cNvSpPr/>
          <p:nvPr/>
        </p:nvSpPr>
        <p:spPr>
          <a:xfrm>
            <a:off x="411480" y="868680"/>
            <a:ext cx="1874520" cy="1051560"/>
          </a:xfrm>
          <a:prstGeom prst="roundRect">
            <a:avLst>
              <a:gd name="adj" fmla="val 5217"/>
            </a:avLst>
          </a:prstGeom>
          <a:solidFill>
            <a:srgbClr val="EFF3FA"/>
          </a:solidFill>
          <a:ln w="12700">
            <a:solidFill>
              <a:srgbClr val="C7D2E6"/>
            </a:solidFill>
            <a:prstDash val="solid"/>
          </a:ln>
        </p:spPr>
        <p:txBody>
          <a:bodyPr/>
          <a:lstStyle/>
          <a:p>
            <a:endParaRPr lang="en-US"/>
          </a:p>
        </p:txBody>
      </p:sp>
      <p:sp>
        <p:nvSpPr>
          <p:cNvPr id="4" name="Text 2"/>
          <p:cNvSpPr txBox="1"/>
          <p:nvPr/>
        </p:nvSpPr>
        <p:spPr>
          <a:xfrm>
            <a:off x="539496" y="960120"/>
            <a:ext cx="1645920" cy="25603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CHUẨN BỊ</a:t>
            </a:r>
            <a:endParaRPr lang="en-US" sz="1150" dirty="0"/>
          </a:p>
        </p:txBody>
      </p:sp>
      <p:sp>
        <p:nvSpPr>
          <p:cNvPr id="5" name="Text 3"/>
          <p:cNvSpPr txBox="1"/>
          <p:nvPr/>
        </p:nvSpPr>
        <p:spPr>
          <a:xfrm>
            <a:off x="539496" y="1216152"/>
            <a:ext cx="1645920" cy="274320"/>
          </a:xfrm>
          <a:prstGeom prst="rect">
            <a:avLst/>
          </a:prstGeom>
          <a:noFill/>
          <a:ln/>
        </p:spPr>
        <p:txBody>
          <a:bodyPr wrap="square" lIns="0" tIns="0" rIns="0" bIns="0" rtlCol="0" anchor="ctr"/>
          <a:lstStyle/>
          <a:p>
            <a:pPr marL="0" indent="0">
              <a:buNone/>
            </a:pPr>
            <a:r>
              <a:rPr lang="en-US" sz="1500" b="1" dirty="0">
                <a:solidFill>
                  <a:srgbClr val="E8453C"/>
                </a:solidFill>
                <a:latin typeface="Arial" pitchFamily="34" charset="0"/>
                <a:ea typeface="Arial" pitchFamily="34" charset="-122"/>
                <a:cs typeface="Arial" pitchFamily="34" charset="-120"/>
              </a:rPr>
              <a:t>15 giây</a:t>
            </a:r>
            <a:endParaRPr lang="en-US" sz="1500" dirty="0"/>
          </a:p>
        </p:txBody>
      </p:sp>
      <p:sp>
        <p:nvSpPr>
          <p:cNvPr id="6" name="Text 4"/>
          <p:cNvSpPr txBox="1"/>
          <p:nvPr/>
        </p:nvSpPr>
        <p:spPr>
          <a:xfrm>
            <a:off x="539496" y="1508760"/>
            <a:ext cx="1645920" cy="365760"/>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Mua đồ, bị rào chắn giữ lại</a:t>
            </a:r>
            <a:endParaRPr lang="en-US" sz="1000" dirty="0"/>
          </a:p>
        </p:txBody>
      </p:sp>
      <p:sp>
        <p:nvSpPr>
          <p:cNvPr id="7" name="Text 5"/>
          <p:cNvSpPr txBox="1"/>
          <p:nvPr/>
        </p:nvSpPr>
        <p:spPr>
          <a:xfrm>
            <a:off x="2267712" y="1143000"/>
            <a:ext cx="274320" cy="457200"/>
          </a:xfrm>
          <a:prstGeom prst="rect">
            <a:avLst/>
          </a:prstGeom>
          <a:noFill/>
          <a:ln/>
        </p:spPr>
        <p:txBody>
          <a:bodyPr wrap="square" lIns="0" tIns="0" rIns="0" bIns="0" rtlCol="0" anchor="ctr"/>
          <a:lstStyle/>
          <a:p>
            <a:pPr marL="0" indent="0" algn="ctr">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8" name="card"/>
          <p:cNvSpPr/>
          <p:nvPr/>
        </p:nvSpPr>
        <p:spPr>
          <a:xfrm>
            <a:off x="2532888" y="868680"/>
            <a:ext cx="1874520" cy="1051560"/>
          </a:xfrm>
          <a:prstGeom prst="roundRect">
            <a:avLst>
              <a:gd name="adj" fmla="val 5217"/>
            </a:avLst>
          </a:prstGeom>
          <a:solidFill>
            <a:srgbClr val="EFF3FA"/>
          </a:solidFill>
          <a:ln w="12700">
            <a:solidFill>
              <a:srgbClr val="C7D2E6"/>
            </a:solidFill>
            <a:prstDash val="solid"/>
          </a:ln>
        </p:spPr>
        <p:txBody>
          <a:bodyPr/>
          <a:lstStyle/>
          <a:p>
            <a:endParaRPr lang="en-US"/>
          </a:p>
        </p:txBody>
      </p:sp>
      <p:sp>
        <p:nvSpPr>
          <p:cNvPr id="9" name="Text 7"/>
          <p:cNvSpPr txBox="1"/>
          <p:nvPr/>
        </p:nvSpPr>
        <p:spPr>
          <a:xfrm>
            <a:off x="2660904" y="960120"/>
            <a:ext cx="1645920" cy="25603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CHIẾN ĐẤU</a:t>
            </a:r>
            <a:endParaRPr lang="en-US" sz="1150" dirty="0"/>
          </a:p>
        </p:txBody>
      </p:sp>
      <p:sp>
        <p:nvSpPr>
          <p:cNvPr id="10" name="Text 8"/>
          <p:cNvSpPr txBox="1"/>
          <p:nvPr/>
        </p:nvSpPr>
        <p:spPr>
          <a:xfrm>
            <a:off x="2660904" y="1216152"/>
            <a:ext cx="1645920" cy="274320"/>
          </a:xfrm>
          <a:prstGeom prst="rect">
            <a:avLst/>
          </a:prstGeom>
          <a:noFill/>
          <a:ln/>
        </p:spPr>
        <p:txBody>
          <a:bodyPr wrap="square" lIns="0" tIns="0" rIns="0" bIns="0" rtlCol="0" anchor="ctr"/>
          <a:lstStyle/>
          <a:p>
            <a:pPr marL="0" indent="0">
              <a:buNone/>
            </a:pPr>
            <a:r>
              <a:rPr lang="en-US" sz="1500" b="1" dirty="0">
                <a:solidFill>
                  <a:srgbClr val="2E86DE"/>
                </a:solidFill>
                <a:latin typeface="Arial" pitchFamily="34" charset="0"/>
                <a:ea typeface="Arial" pitchFamily="34" charset="-122"/>
                <a:cs typeface="Arial" pitchFamily="34" charset="-120"/>
              </a:rPr>
              <a:t>5 phút</a:t>
            </a:r>
            <a:endParaRPr lang="en-US" sz="1500" dirty="0"/>
          </a:p>
        </p:txBody>
      </p:sp>
      <p:sp>
        <p:nvSpPr>
          <p:cNvPr id="11" name="Text 9"/>
          <p:cNvSpPr txBox="1"/>
          <p:nvPr/>
        </p:nvSpPr>
        <p:spPr>
          <a:xfrm>
            <a:off x="2660904" y="1508760"/>
            <a:ext cx="1645920" cy="365760"/>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Rào mở, hai đội giao tranh</a:t>
            </a:r>
            <a:endParaRPr lang="en-US" sz="1000" dirty="0"/>
          </a:p>
        </p:txBody>
      </p:sp>
      <p:sp>
        <p:nvSpPr>
          <p:cNvPr id="12" name="Text 10"/>
          <p:cNvSpPr txBox="1"/>
          <p:nvPr/>
        </p:nvSpPr>
        <p:spPr>
          <a:xfrm>
            <a:off x="4389120" y="1143000"/>
            <a:ext cx="274320" cy="457200"/>
          </a:xfrm>
          <a:prstGeom prst="rect">
            <a:avLst/>
          </a:prstGeom>
          <a:noFill/>
          <a:ln/>
        </p:spPr>
        <p:txBody>
          <a:bodyPr wrap="square" lIns="0" tIns="0" rIns="0" bIns="0" rtlCol="0" anchor="ctr"/>
          <a:lstStyle/>
          <a:p>
            <a:pPr marL="0" indent="0" algn="ctr">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3" name="card"/>
          <p:cNvSpPr/>
          <p:nvPr/>
        </p:nvSpPr>
        <p:spPr>
          <a:xfrm>
            <a:off x="4654296" y="868680"/>
            <a:ext cx="1874520" cy="1051560"/>
          </a:xfrm>
          <a:prstGeom prst="roundRect">
            <a:avLst>
              <a:gd name="adj" fmla="val 5217"/>
            </a:avLst>
          </a:prstGeom>
          <a:solidFill>
            <a:srgbClr val="EFF3FA"/>
          </a:solidFill>
          <a:ln w="12700">
            <a:solidFill>
              <a:srgbClr val="C7D2E6"/>
            </a:solidFill>
            <a:prstDash val="solid"/>
          </a:ln>
        </p:spPr>
        <p:txBody>
          <a:bodyPr/>
          <a:lstStyle/>
          <a:p>
            <a:endParaRPr lang="en-US"/>
          </a:p>
        </p:txBody>
      </p:sp>
      <p:sp>
        <p:nvSpPr>
          <p:cNvPr id="14" name="Text 12"/>
          <p:cNvSpPr txBox="1"/>
          <p:nvPr/>
        </p:nvSpPr>
        <p:spPr>
          <a:xfrm>
            <a:off x="4782312" y="960120"/>
            <a:ext cx="1645920" cy="25603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KẾT ROUND</a:t>
            </a:r>
            <a:endParaRPr lang="en-US" sz="1150" dirty="0"/>
          </a:p>
        </p:txBody>
      </p:sp>
      <p:sp>
        <p:nvSpPr>
          <p:cNvPr id="15" name="Text 13"/>
          <p:cNvSpPr txBox="1"/>
          <p:nvPr/>
        </p:nvSpPr>
        <p:spPr>
          <a:xfrm>
            <a:off x="4782312" y="1216152"/>
            <a:ext cx="1645920" cy="274320"/>
          </a:xfrm>
          <a:prstGeom prst="rect">
            <a:avLst/>
          </a:prstGeom>
          <a:noFill/>
          <a:ln/>
        </p:spPr>
        <p:txBody>
          <a:bodyPr wrap="square" lIns="0" tIns="0" rIns="0" bIns="0" rtlCol="0" anchor="ctr"/>
          <a:lstStyle/>
          <a:p>
            <a:pPr marL="0" indent="0">
              <a:buNone/>
            </a:pPr>
            <a:r>
              <a:rPr lang="en-US" sz="1500" b="1" dirty="0">
                <a:solidFill>
                  <a:srgbClr val="E8453C"/>
                </a:solidFill>
                <a:latin typeface="Arial" pitchFamily="34" charset="0"/>
                <a:ea typeface="Arial" pitchFamily="34" charset="-122"/>
                <a:cs typeface="Arial" pitchFamily="34" charset="-120"/>
              </a:rPr>
              <a:t>8 giây</a:t>
            </a:r>
            <a:endParaRPr lang="en-US" sz="1500" dirty="0"/>
          </a:p>
        </p:txBody>
      </p:sp>
      <p:sp>
        <p:nvSpPr>
          <p:cNvPr id="16" name="Text 14"/>
          <p:cNvSpPr txBox="1"/>
          <p:nvPr/>
        </p:nvSpPr>
        <p:spPr>
          <a:xfrm>
            <a:off x="4782312" y="1508760"/>
            <a:ext cx="1645920" cy="365760"/>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Cộng điểm, cộng tiền thưởng</a:t>
            </a:r>
            <a:endParaRPr lang="en-US" sz="1000" dirty="0"/>
          </a:p>
        </p:txBody>
      </p:sp>
      <p:sp>
        <p:nvSpPr>
          <p:cNvPr id="17" name="Text 15"/>
          <p:cNvSpPr txBox="1"/>
          <p:nvPr/>
        </p:nvSpPr>
        <p:spPr>
          <a:xfrm>
            <a:off x="6510528" y="1143000"/>
            <a:ext cx="274320" cy="457200"/>
          </a:xfrm>
          <a:prstGeom prst="rect">
            <a:avLst/>
          </a:prstGeom>
          <a:noFill/>
          <a:ln/>
        </p:spPr>
        <p:txBody>
          <a:bodyPr wrap="square" lIns="0" tIns="0" rIns="0" bIns="0" rtlCol="0" anchor="ctr"/>
          <a:lstStyle/>
          <a:p>
            <a:pPr marL="0" indent="0" algn="ctr">
              <a:buNone/>
            </a:pPr>
            <a:r>
              <a:rPr lang="en-US" sz="2400" b="1" dirty="0">
                <a:solidFill>
                  <a:srgbClr val="C7D2E6"/>
                </a:solidFill>
                <a:latin typeface="Arial" pitchFamily="34" charset="0"/>
                <a:ea typeface="Arial" pitchFamily="34" charset="-122"/>
                <a:cs typeface="Arial" pitchFamily="34" charset="-120"/>
              </a:rPr>
              <a:t>›</a:t>
            </a:r>
            <a:endParaRPr lang="en-US" sz="2400" dirty="0"/>
          </a:p>
        </p:txBody>
      </p:sp>
      <p:sp>
        <p:nvSpPr>
          <p:cNvPr id="18" name="card"/>
          <p:cNvSpPr/>
          <p:nvPr/>
        </p:nvSpPr>
        <p:spPr>
          <a:xfrm>
            <a:off x="6775704" y="868680"/>
            <a:ext cx="1874520" cy="1051560"/>
          </a:xfrm>
          <a:prstGeom prst="roundRect">
            <a:avLst>
              <a:gd name="adj" fmla="val 5217"/>
            </a:avLst>
          </a:prstGeom>
          <a:solidFill>
            <a:srgbClr val="EFF3FA"/>
          </a:solidFill>
          <a:ln w="12700">
            <a:solidFill>
              <a:srgbClr val="C7D2E6"/>
            </a:solidFill>
            <a:prstDash val="solid"/>
          </a:ln>
        </p:spPr>
        <p:txBody>
          <a:bodyPr/>
          <a:lstStyle/>
          <a:p>
            <a:endParaRPr lang="en-US"/>
          </a:p>
        </p:txBody>
      </p:sp>
      <p:sp>
        <p:nvSpPr>
          <p:cNvPr id="19" name="Text 17"/>
          <p:cNvSpPr txBox="1"/>
          <p:nvPr/>
        </p:nvSpPr>
        <p:spPr>
          <a:xfrm>
            <a:off x="6903720" y="960120"/>
            <a:ext cx="1645920" cy="25603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ROUND MỚI</a:t>
            </a:r>
            <a:endParaRPr lang="en-US" sz="1150" dirty="0"/>
          </a:p>
        </p:txBody>
      </p:sp>
      <p:sp>
        <p:nvSpPr>
          <p:cNvPr id="20" name="Text 18"/>
          <p:cNvSpPr txBox="1"/>
          <p:nvPr/>
        </p:nvSpPr>
        <p:spPr>
          <a:xfrm>
            <a:off x="6903720" y="1216152"/>
            <a:ext cx="1645920" cy="274320"/>
          </a:xfrm>
          <a:prstGeom prst="rect">
            <a:avLst/>
          </a:prstGeom>
          <a:noFill/>
          <a:ln/>
        </p:spPr>
        <p:txBody>
          <a:bodyPr wrap="square" lIns="0" tIns="0" rIns="0" bIns="0" rtlCol="0" anchor="ctr"/>
          <a:lstStyle/>
          <a:p>
            <a:pPr marL="0" indent="0">
              <a:buNone/>
            </a:pPr>
            <a:r>
              <a:rPr lang="en-US" sz="1500" b="1" dirty="0">
                <a:solidFill>
                  <a:srgbClr val="2E86DE"/>
                </a:solidFill>
                <a:latin typeface="Arial" pitchFamily="34" charset="0"/>
                <a:ea typeface="Arial" pitchFamily="34" charset="-122"/>
                <a:cs typeface="Arial" pitchFamily="34" charset="-120"/>
              </a:rPr>
              <a:t>—</a:t>
            </a:r>
            <a:endParaRPr lang="en-US" sz="1500" dirty="0"/>
          </a:p>
        </p:txBody>
      </p:sp>
      <p:sp>
        <p:nvSpPr>
          <p:cNvPr id="21" name="Text 19"/>
          <p:cNvSpPr txBox="1"/>
          <p:nvPr/>
        </p:nvSpPr>
        <p:spPr>
          <a:xfrm>
            <a:off x="6903720" y="1508760"/>
            <a:ext cx="1645920" cy="365760"/>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Hồi sinh, xả sạch điện về 0</a:t>
            </a:r>
            <a:endParaRPr lang="en-US" sz="1000" dirty="0"/>
          </a:p>
        </p:txBody>
      </p:sp>
      <p:sp>
        <p:nvSpPr>
          <p:cNvPr id="22" name="card"/>
          <p:cNvSpPr/>
          <p:nvPr/>
        </p:nvSpPr>
        <p:spPr>
          <a:xfrm>
            <a:off x="411480" y="2212848"/>
            <a:ext cx="4069080" cy="1371600"/>
          </a:xfrm>
          <a:prstGeom prst="roundRect">
            <a:avLst>
              <a:gd name="adj" fmla="val 4000"/>
            </a:avLst>
          </a:prstGeom>
          <a:solidFill>
            <a:srgbClr val="EFF3FA"/>
          </a:solidFill>
          <a:ln w="12700">
            <a:solidFill>
              <a:srgbClr val="C7D2E6"/>
            </a:solidFill>
            <a:prstDash val="solid"/>
          </a:ln>
        </p:spPr>
        <p:txBody>
          <a:bodyPr/>
          <a:lstStyle/>
          <a:p>
            <a:endParaRPr lang="en-US"/>
          </a:p>
        </p:txBody>
      </p:sp>
      <p:sp>
        <p:nvSpPr>
          <p:cNvPr id="23" name="Text 21"/>
          <p:cNvSpPr txBox="1"/>
          <p:nvPr/>
        </p:nvSpPr>
        <p:spPr>
          <a:xfrm>
            <a:off x="576072" y="2304288"/>
            <a:ext cx="374904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THẮNG MỘT ROUND — hai đường</a:t>
            </a:r>
            <a:endParaRPr lang="en-US" sz="1200" dirty="0"/>
          </a:p>
        </p:txBody>
      </p:sp>
      <p:sp>
        <p:nvSpPr>
          <p:cNvPr id="24" name="Text 22"/>
          <p:cNvSpPr txBox="1"/>
          <p:nvPr/>
        </p:nvSpPr>
        <p:spPr>
          <a:xfrm>
            <a:off x="57607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Chiếm giữ khu trung tâm đủ 60 giây — thắng ngay</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Hết giờ 5 phút: đội có tiến độ chiếm cao hơn thắng</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Bằng tiến độ thì hoà, không ai được điểm</a:t>
            </a:r>
            <a:endParaRPr lang="en-US" sz="1150" dirty="0"/>
          </a:p>
        </p:txBody>
      </p:sp>
      <p:sp>
        <p:nvSpPr>
          <p:cNvPr id="25" name="card"/>
          <p:cNvSpPr/>
          <p:nvPr/>
        </p:nvSpPr>
        <p:spPr>
          <a:xfrm>
            <a:off x="4663440" y="2212848"/>
            <a:ext cx="4069080" cy="1371600"/>
          </a:xfrm>
          <a:prstGeom prst="roundRect">
            <a:avLst>
              <a:gd name="adj" fmla="val 4000"/>
            </a:avLst>
          </a:prstGeom>
          <a:solidFill>
            <a:srgbClr val="EFF3FA"/>
          </a:solidFill>
          <a:ln w="12700">
            <a:solidFill>
              <a:srgbClr val="C7D2E6"/>
            </a:solidFill>
            <a:prstDash val="solid"/>
          </a:ln>
        </p:spPr>
        <p:txBody>
          <a:bodyPr/>
          <a:lstStyle/>
          <a:p>
            <a:endParaRPr lang="en-US"/>
          </a:p>
        </p:txBody>
      </p:sp>
      <p:sp>
        <p:nvSpPr>
          <p:cNvPr id="26" name="Text 24"/>
          <p:cNvSpPr txBox="1"/>
          <p:nvPr/>
        </p:nvSpPr>
        <p:spPr>
          <a:xfrm>
            <a:off x="4828032" y="2304288"/>
            <a:ext cx="374904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THẮNG CẢ TRẬN</a:t>
            </a:r>
            <a:endParaRPr lang="en-US" sz="1200" dirty="0"/>
          </a:p>
        </p:txBody>
      </p:sp>
      <p:sp>
        <p:nvSpPr>
          <p:cNvPr id="27" name="Text 25"/>
          <p:cNvSpPr txBox="1"/>
          <p:nvPr/>
        </p:nvSpPr>
        <p:spPr>
          <a:xfrm>
            <a:off x="4828032" y="2596896"/>
            <a:ext cx="3749040" cy="914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Đạt 5 round trước VÀ hơn đối thủ ít nhất 2 round</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Tỉ số 5-4 không kết thúc trận — vào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Đấu tiếp tới khi một đội hơn 2 round: 6-4, 7-5...</a:t>
            </a:r>
            <a:endParaRPr lang="en-US" sz="1150" dirty="0"/>
          </a:p>
        </p:txBody>
      </p:sp>
      <p:sp>
        <p:nvSpPr>
          <p:cNvPr id="28" name="card"/>
          <p:cNvSpPr/>
          <p:nvPr/>
        </p:nvSpPr>
        <p:spPr>
          <a:xfrm>
            <a:off x="411480" y="3703320"/>
            <a:ext cx="8321040" cy="868680"/>
          </a:xfrm>
          <a:prstGeom prst="roundRect">
            <a:avLst>
              <a:gd name="adj" fmla="val 6316"/>
            </a:avLst>
          </a:prstGeom>
          <a:solidFill>
            <a:srgbClr val="F3F7FD"/>
          </a:solidFill>
          <a:ln w="12700">
            <a:solidFill>
              <a:srgbClr val="C7D2E6"/>
            </a:solidFill>
            <a:prstDash val="solid"/>
          </a:ln>
        </p:spPr>
        <p:txBody>
          <a:bodyPr/>
          <a:lstStyle/>
          <a:p>
            <a:endParaRPr lang="en-US"/>
          </a:p>
        </p:txBody>
      </p:sp>
      <p:sp>
        <p:nvSpPr>
          <p:cNvPr id="29" name="Text 27"/>
          <p:cNvSpPr txBox="1"/>
          <p:nvPr/>
        </p:nvSpPr>
        <p:spPr>
          <a:xfrm>
            <a:off x="576072" y="3785616"/>
            <a:ext cx="1097280" cy="237744"/>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KINH TẾ</a:t>
            </a:r>
            <a:endParaRPr lang="en-US" sz="1150" dirty="0"/>
          </a:p>
        </p:txBody>
      </p:sp>
      <p:sp>
        <p:nvSpPr>
          <p:cNvPr id="30" name="Text 28"/>
          <p:cNvSpPr txBox="1"/>
          <p:nvPr/>
        </p:nvSpPr>
        <p:spPr>
          <a:xfrm>
            <a:off x="576072" y="4041648"/>
            <a:ext cx="8001000" cy="438912"/>
          </a:xfrm>
          <a:prstGeom prst="rect">
            <a:avLst/>
          </a:prstGeom>
          <a:noFill/>
          <a:ln/>
        </p:spPr>
        <p:txBody>
          <a:bodyPr wrap="square" lIns="0" tIns="0" rIns="0" bIns="0" rtlCol="0" anchor="t"/>
          <a:lstStyle/>
          <a:p>
            <a:pPr marL="0" indent="0">
              <a:buNone/>
            </a:pPr>
            <a:r>
              <a:rPr lang="en-US" sz="1150" dirty="0">
                <a:solidFill>
                  <a:srgbClr val="1A1A1A"/>
                </a:solidFill>
                <a:latin typeface="Arial" pitchFamily="34" charset="0"/>
                <a:ea typeface="Arial" pitchFamily="34" charset="-122"/>
                <a:cs typeface="Arial" pitchFamily="34" charset="-120"/>
              </a:rPr>
              <a:t>Thắng round +$150  ·  Thua round +$100  ·  Trần ví $750  ·  Cửa hàng 5 vật phẩm: Giáp Cách Điện, Energy Drink, Bộ Xả Điện, Can Xăng, Lõi Tường Chắn</a:t>
            </a:r>
            <a:endParaRPr lang="en-US" sz="1150" dirty="0"/>
          </a:p>
        </p:txBody>
      </p:sp>
      <p:sp>
        <p:nvSpPr>
          <p:cNvPr id="31"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4. PHÂN TÍCH &amp; THIẾT KẾ — KIẾN TRÚC MẠNG</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marL="0" indent="0">
              <a:buNone/>
            </a:pPr>
            <a:r>
              <a:rPr lang="en-US" sz="1350" b="1" dirty="0">
                <a:solidFill>
                  <a:srgbClr val="002060"/>
                </a:solidFill>
                <a:latin typeface="Arial" pitchFamily="34" charset="0"/>
                <a:ea typeface="Arial" pitchFamily="34" charset="-122"/>
                <a:cs typeface="Arial" pitchFamily="34" charset="-120"/>
              </a:rPr>
              <a:t>Photon Fusion 2 — Host Mode: một máy giữ quyền quyết định, ba máy kia chỉ gửi phím bấm</a:t>
            </a:r>
            <a:endParaRPr lang="en-US" sz="1350" dirty="0"/>
          </a:p>
        </p:txBody>
      </p:sp>
      <p:sp>
        <p:nvSpPr>
          <p:cNvPr id="4" name="card"/>
          <p:cNvSpPr/>
          <p:nvPr/>
        </p:nvSpPr>
        <p:spPr>
          <a:xfrm>
            <a:off x="1417320" y="2304288"/>
            <a:ext cx="1600200" cy="685800"/>
          </a:xfrm>
          <a:prstGeom prst="roundRect">
            <a:avLst>
              <a:gd name="adj" fmla="val 8000"/>
            </a:avLst>
          </a:prstGeom>
          <a:solidFill>
            <a:srgbClr val="26407D"/>
          </a:solidFill>
          <a:ln w="12700">
            <a:solidFill>
              <a:srgbClr val="26407D"/>
            </a:solidFill>
            <a:prstDash val="solid"/>
          </a:ln>
        </p:spPr>
        <p:txBody>
          <a:bodyPr/>
          <a:lstStyle/>
          <a:p>
            <a:endParaRPr lang="en-US"/>
          </a:p>
        </p:txBody>
      </p:sp>
      <p:sp>
        <p:nvSpPr>
          <p:cNvPr id="5" name="Text 3"/>
          <p:cNvSpPr txBox="1"/>
          <p:nvPr/>
        </p:nvSpPr>
        <p:spPr>
          <a:xfrm>
            <a:off x="1417320" y="2304288"/>
            <a:ext cx="1600200" cy="365760"/>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HOST</a:t>
            </a:r>
            <a:endParaRPr lang="en-US" sz="1300" dirty="0"/>
          </a:p>
        </p:txBody>
      </p:sp>
      <p:sp>
        <p:nvSpPr>
          <p:cNvPr id="6" name="Text 4"/>
          <p:cNvSpPr txBox="1"/>
          <p:nvPr/>
        </p:nvSpPr>
        <p:spPr>
          <a:xfrm>
            <a:off x="1417320" y="2633472"/>
            <a:ext cx="1600200" cy="274320"/>
          </a:xfrm>
          <a:prstGeom prst="rect">
            <a:avLst/>
          </a:prstGeom>
          <a:noFill/>
          <a:ln/>
        </p:spPr>
        <p:txBody>
          <a:bodyPr wrap="square" lIns="0" tIns="0" rIns="0" bIns="0" rtlCol="0" anchor="ctr"/>
          <a:lstStyle/>
          <a:p>
            <a:pPr marL="0" indent="0" algn="ctr">
              <a:buNone/>
            </a:pPr>
            <a:r>
              <a:rPr lang="en-US" sz="950" dirty="0">
                <a:solidFill>
                  <a:srgbClr val="C8D6EF"/>
                </a:solidFill>
                <a:latin typeface="Arial" pitchFamily="34" charset="0"/>
                <a:ea typeface="Arial" pitchFamily="34" charset="-122"/>
                <a:cs typeface="Arial" pitchFamily="34" charset="-120"/>
              </a:rPr>
              <a:t>StateAuthority</a:t>
            </a:r>
            <a:endParaRPr lang="en-US" sz="950" dirty="0"/>
          </a:p>
        </p:txBody>
      </p:sp>
      <p:sp>
        <p:nvSpPr>
          <p:cNvPr id="7" name="card"/>
          <p:cNvSpPr/>
          <p:nvPr/>
        </p:nvSpPr>
        <p:spPr>
          <a:xfrm>
            <a:off x="457200" y="1389888"/>
            <a:ext cx="1371600" cy="457200"/>
          </a:xfrm>
          <a:prstGeom prst="roundRect">
            <a:avLst>
              <a:gd name="adj" fmla="val 12000"/>
            </a:avLst>
          </a:prstGeom>
          <a:solidFill>
            <a:srgbClr val="EFF3FA"/>
          </a:solidFill>
          <a:ln w="12700">
            <a:solidFill>
              <a:srgbClr val="C7D2E6"/>
            </a:solidFill>
            <a:prstDash val="solid"/>
          </a:ln>
        </p:spPr>
        <p:txBody>
          <a:bodyPr/>
          <a:lstStyle/>
          <a:p>
            <a:endParaRPr lang="en-US"/>
          </a:p>
        </p:txBody>
      </p:sp>
      <p:sp>
        <p:nvSpPr>
          <p:cNvPr id="8" name="Text 6"/>
          <p:cNvSpPr txBox="1"/>
          <p:nvPr/>
        </p:nvSpPr>
        <p:spPr>
          <a:xfrm>
            <a:off x="457200" y="1389888"/>
            <a:ext cx="1371600" cy="457200"/>
          </a:xfrm>
          <a:prstGeom prst="rect">
            <a:avLst/>
          </a:prstGeom>
          <a:noFill/>
          <a:ln/>
        </p:spPr>
        <p:txBody>
          <a:bodyPr wrap="square" lIns="0" tIns="0" rIns="0" bIns="0" rtlCol="0" anchor="ctr"/>
          <a:lstStyle/>
          <a:p>
            <a:pPr marL="0" indent="0" algn="ctr">
              <a:buNone/>
            </a:pPr>
            <a:r>
              <a:rPr lang="en-US" sz="1050" b="1" dirty="0">
                <a:solidFill>
                  <a:srgbClr val="002060"/>
                </a:solidFill>
                <a:latin typeface="Arial" pitchFamily="34" charset="0"/>
                <a:ea typeface="Arial" pitchFamily="34" charset="-122"/>
                <a:cs typeface="Arial" pitchFamily="34" charset="-120"/>
              </a:rPr>
              <a:t>CLIENT 1</a:t>
            </a:r>
            <a:endParaRPr lang="en-US" sz="1050" dirty="0"/>
          </a:p>
        </p:txBody>
      </p:sp>
      <p:sp>
        <p:nvSpPr>
          <p:cNvPr id="9" name="card"/>
          <p:cNvSpPr/>
          <p:nvPr/>
        </p:nvSpPr>
        <p:spPr>
          <a:xfrm>
            <a:off x="457200" y="3493008"/>
            <a:ext cx="1371600" cy="457200"/>
          </a:xfrm>
          <a:prstGeom prst="roundRect">
            <a:avLst>
              <a:gd name="adj" fmla="val 12000"/>
            </a:avLst>
          </a:prstGeom>
          <a:solidFill>
            <a:srgbClr val="EFF3FA"/>
          </a:solidFill>
          <a:ln w="12700">
            <a:solidFill>
              <a:srgbClr val="C7D2E6"/>
            </a:solidFill>
            <a:prstDash val="solid"/>
          </a:ln>
        </p:spPr>
        <p:txBody>
          <a:bodyPr/>
          <a:lstStyle/>
          <a:p>
            <a:endParaRPr lang="en-US"/>
          </a:p>
        </p:txBody>
      </p:sp>
      <p:sp>
        <p:nvSpPr>
          <p:cNvPr id="10" name="Text 8"/>
          <p:cNvSpPr txBox="1"/>
          <p:nvPr/>
        </p:nvSpPr>
        <p:spPr>
          <a:xfrm>
            <a:off x="457200" y="3493008"/>
            <a:ext cx="1371600" cy="457200"/>
          </a:xfrm>
          <a:prstGeom prst="rect">
            <a:avLst/>
          </a:prstGeom>
          <a:noFill/>
          <a:ln/>
        </p:spPr>
        <p:txBody>
          <a:bodyPr wrap="square" lIns="0" tIns="0" rIns="0" bIns="0" rtlCol="0" anchor="ctr"/>
          <a:lstStyle/>
          <a:p>
            <a:pPr marL="0" indent="0" algn="ctr">
              <a:buNone/>
            </a:pPr>
            <a:r>
              <a:rPr lang="en-US" sz="1050" b="1" dirty="0">
                <a:solidFill>
                  <a:srgbClr val="002060"/>
                </a:solidFill>
                <a:latin typeface="Arial" pitchFamily="34" charset="0"/>
                <a:ea typeface="Arial" pitchFamily="34" charset="-122"/>
                <a:cs typeface="Arial" pitchFamily="34" charset="-120"/>
              </a:rPr>
              <a:t>CLIENT 2</a:t>
            </a:r>
            <a:endParaRPr lang="en-US" sz="1050" dirty="0"/>
          </a:p>
        </p:txBody>
      </p:sp>
      <p:sp>
        <p:nvSpPr>
          <p:cNvPr id="11" name="card"/>
          <p:cNvSpPr/>
          <p:nvPr/>
        </p:nvSpPr>
        <p:spPr>
          <a:xfrm>
            <a:off x="2377440" y="4023360"/>
            <a:ext cx="1371600" cy="457200"/>
          </a:xfrm>
          <a:prstGeom prst="roundRect">
            <a:avLst>
              <a:gd name="adj" fmla="val 12000"/>
            </a:avLst>
          </a:prstGeom>
          <a:solidFill>
            <a:srgbClr val="EFF3FA"/>
          </a:solidFill>
          <a:ln w="12700">
            <a:solidFill>
              <a:srgbClr val="C7D2E6"/>
            </a:solidFill>
            <a:prstDash val="solid"/>
          </a:ln>
        </p:spPr>
        <p:txBody>
          <a:bodyPr/>
          <a:lstStyle/>
          <a:p>
            <a:endParaRPr lang="en-US"/>
          </a:p>
        </p:txBody>
      </p:sp>
      <p:sp>
        <p:nvSpPr>
          <p:cNvPr id="12" name="Text 10"/>
          <p:cNvSpPr txBox="1"/>
          <p:nvPr/>
        </p:nvSpPr>
        <p:spPr>
          <a:xfrm>
            <a:off x="2377440" y="4023360"/>
            <a:ext cx="1371600" cy="457200"/>
          </a:xfrm>
          <a:prstGeom prst="rect">
            <a:avLst/>
          </a:prstGeom>
          <a:noFill/>
          <a:ln/>
        </p:spPr>
        <p:txBody>
          <a:bodyPr wrap="square" lIns="0" tIns="0" rIns="0" bIns="0" rtlCol="0" anchor="ctr"/>
          <a:lstStyle/>
          <a:p>
            <a:pPr marL="0" indent="0" algn="ctr">
              <a:buNone/>
            </a:pPr>
            <a:r>
              <a:rPr lang="en-US" sz="1050" b="1" dirty="0">
                <a:solidFill>
                  <a:srgbClr val="002060"/>
                </a:solidFill>
                <a:latin typeface="Arial" pitchFamily="34" charset="0"/>
                <a:ea typeface="Arial" pitchFamily="34" charset="-122"/>
                <a:cs typeface="Arial" pitchFamily="34" charset="-120"/>
              </a:rPr>
              <a:t>CLIENT 3</a:t>
            </a:r>
            <a:endParaRPr lang="en-US" sz="1050" dirty="0"/>
          </a:p>
        </p:txBody>
      </p:sp>
      <p:sp>
        <p:nvSpPr>
          <p:cNvPr id="13" name="Shape 11"/>
          <p:cNvSpPr/>
          <p:nvPr/>
        </p:nvSpPr>
        <p:spPr>
          <a:xfrm>
            <a:off x="1143000" y="1847088"/>
            <a:ext cx="685800" cy="457200"/>
          </a:xfrm>
          <a:prstGeom prst="line">
            <a:avLst/>
          </a:prstGeom>
          <a:noFill/>
          <a:ln w="19050">
            <a:solidFill>
              <a:srgbClr val="C7D2E6"/>
            </a:solidFill>
            <a:prstDash val="dash"/>
          </a:ln>
        </p:spPr>
        <p:txBody>
          <a:bodyPr/>
          <a:lstStyle/>
          <a:p>
            <a:endParaRPr lang="en-US"/>
          </a:p>
        </p:txBody>
      </p:sp>
      <p:sp>
        <p:nvSpPr>
          <p:cNvPr id="14" name="Shape 12"/>
          <p:cNvSpPr/>
          <p:nvPr/>
        </p:nvSpPr>
        <p:spPr>
          <a:xfrm flipH="1">
            <a:off x="1828799" y="2990088"/>
            <a:ext cx="55841" cy="502920"/>
          </a:xfrm>
          <a:prstGeom prst="line">
            <a:avLst/>
          </a:prstGeom>
          <a:noFill/>
          <a:ln w="19050">
            <a:solidFill>
              <a:srgbClr val="C7D2E6"/>
            </a:solidFill>
            <a:prstDash val="dash"/>
          </a:ln>
        </p:spPr>
        <p:txBody>
          <a:bodyPr/>
          <a:lstStyle/>
          <a:p>
            <a:endParaRPr lang="en-US"/>
          </a:p>
        </p:txBody>
      </p:sp>
      <p:sp>
        <p:nvSpPr>
          <p:cNvPr id="15" name="Shape 13"/>
          <p:cNvSpPr/>
          <p:nvPr/>
        </p:nvSpPr>
        <p:spPr>
          <a:xfrm>
            <a:off x="2377440" y="2990088"/>
            <a:ext cx="685800" cy="1033272"/>
          </a:xfrm>
          <a:prstGeom prst="line">
            <a:avLst/>
          </a:prstGeom>
          <a:noFill/>
          <a:ln w="19050">
            <a:solidFill>
              <a:srgbClr val="C7D2E6"/>
            </a:solidFill>
            <a:prstDash val="dash"/>
          </a:ln>
        </p:spPr>
        <p:txBody>
          <a:bodyPr/>
          <a:lstStyle/>
          <a:p>
            <a:endParaRPr lang="en-US"/>
          </a:p>
        </p:txBody>
      </p:sp>
      <p:sp>
        <p:nvSpPr>
          <p:cNvPr id="16" name="Text 14"/>
          <p:cNvSpPr txBox="1"/>
          <p:nvPr/>
        </p:nvSpPr>
        <p:spPr>
          <a:xfrm>
            <a:off x="457200" y="4480560"/>
            <a:ext cx="3291840" cy="228600"/>
          </a:xfrm>
          <a:prstGeom prst="rect">
            <a:avLst/>
          </a:prstGeom>
          <a:noFill/>
          <a:ln/>
        </p:spPr>
        <p:txBody>
          <a:bodyPr wrap="square" lIns="0" tIns="0" rIns="0" bIns="0" rtlCol="0" anchor="ctr"/>
          <a:lstStyle/>
          <a:p>
            <a:pPr marL="0" indent="0" algn="ctr">
              <a:buNone/>
            </a:pPr>
            <a:r>
              <a:rPr lang="en-US" sz="950" i="1" dirty="0">
                <a:solidFill>
                  <a:srgbClr val="5A6478"/>
                </a:solidFill>
                <a:latin typeface="Arial" pitchFamily="34" charset="0"/>
                <a:ea typeface="Arial" pitchFamily="34" charset="-122"/>
                <a:cs typeface="Arial" pitchFamily="34" charset="-120"/>
              </a:rPr>
              <a:t>phím bấm ↑   ·   trạng thái ↓</a:t>
            </a:r>
            <a:endParaRPr lang="en-US" sz="950" dirty="0"/>
          </a:p>
        </p:txBody>
      </p:sp>
      <p:sp>
        <p:nvSpPr>
          <p:cNvPr id="17" name="card"/>
          <p:cNvSpPr/>
          <p:nvPr/>
        </p:nvSpPr>
        <p:spPr>
          <a:xfrm>
            <a:off x="4023360" y="1371600"/>
            <a:ext cx="4709160" cy="1645920"/>
          </a:xfrm>
          <a:prstGeom prst="roundRect">
            <a:avLst>
              <a:gd name="adj" fmla="val 3333"/>
            </a:avLst>
          </a:prstGeom>
          <a:solidFill>
            <a:srgbClr val="EFF3FA"/>
          </a:solidFill>
          <a:ln w="12700">
            <a:solidFill>
              <a:srgbClr val="C7D2E6"/>
            </a:solidFill>
            <a:prstDash val="solid"/>
          </a:ln>
        </p:spPr>
        <p:txBody>
          <a:bodyPr/>
          <a:lstStyle/>
          <a:p>
            <a:endParaRPr lang="en-US"/>
          </a:p>
        </p:txBody>
      </p:sp>
      <p:sp>
        <p:nvSpPr>
          <p:cNvPr id="18" name="Text 16"/>
          <p:cNvSpPr txBox="1"/>
          <p:nvPr/>
        </p:nvSpPr>
        <p:spPr>
          <a:xfrm>
            <a:off x="4187952" y="1463040"/>
            <a:ext cx="438912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VÌ SAO CHỌN HOST MODE</a:t>
            </a:r>
            <a:endParaRPr lang="en-US" sz="1200" dirty="0"/>
          </a:p>
        </p:txBody>
      </p:sp>
      <p:sp>
        <p:nvSpPr>
          <p:cNvPr id="19" name="Text 17"/>
          <p:cNvSpPr txBox="1"/>
          <p:nvPr/>
        </p:nvSpPr>
        <p:spPr>
          <a:xfrm>
            <a:off x="4187952" y="1773936"/>
            <a:ext cx="4389120" cy="1170432"/>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Chỉ một máy tính vật lý nên hai bên không bao giờ thấy hai kết quả khác nhau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Máy khách không tự quyết định sát thương, nên không gian lận được</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Ổn định hơn Shared Mode khi vật thể va chạm liên tục</a:t>
            </a:r>
            <a:endParaRPr lang="en-US" sz="1150" dirty="0"/>
          </a:p>
        </p:txBody>
      </p:sp>
      <p:sp>
        <p:nvSpPr>
          <p:cNvPr id="20" name="card"/>
          <p:cNvSpPr/>
          <p:nvPr/>
        </p:nvSpPr>
        <p:spPr>
          <a:xfrm>
            <a:off x="4023360" y="3127248"/>
            <a:ext cx="4709160" cy="1463040"/>
          </a:xfrm>
          <a:prstGeom prst="roundRect">
            <a:avLst>
              <a:gd name="adj" fmla="val 3750"/>
            </a:avLst>
          </a:prstGeom>
          <a:solidFill>
            <a:srgbClr val="EFF3FA"/>
          </a:solidFill>
          <a:ln w="12700">
            <a:solidFill>
              <a:srgbClr val="C7D2E6"/>
            </a:solidFill>
            <a:prstDash val="solid"/>
          </a:ln>
        </p:spPr>
        <p:txBody>
          <a:bodyPr/>
          <a:lstStyle/>
          <a:p>
            <a:endParaRPr lang="en-US"/>
          </a:p>
        </p:txBody>
      </p:sp>
      <p:sp>
        <p:nvSpPr>
          <p:cNvPr id="21" name="Text 19"/>
          <p:cNvSpPr txBox="1"/>
          <p:nvPr/>
        </p:nvSpPr>
        <p:spPr>
          <a:xfrm>
            <a:off x="4187952" y="3200400"/>
            <a:ext cx="438912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BA NGUYÊN TẮC ĐÃ ÁP DỤNG</a:t>
            </a:r>
            <a:endParaRPr lang="en-US" sz="1200" dirty="0"/>
          </a:p>
        </p:txBody>
      </p:sp>
      <p:sp>
        <p:nvSpPr>
          <p:cNvPr id="22" name="Text 20"/>
          <p:cNvSpPr txBox="1"/>
          <p:nvPr/>
        </p:nvSpPr>
        <p:spPr>
          <a:xfrm>
            <a:off x="4187952" y="3493008"/>
            <a:ext cx="4389120" cy="1042416"/>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Chỉ đồng bộ thứ bắt buộc, phần còn lại thì suy ra tại chỗ</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Nhưng chỉ suy khi nguồn đáng tin — trên Host, vị trí nhân vật khách thì không</a:t>
            </a:r>
            <a:endParaRPr lang="en-US" sz="1050" dirty="0"/>
          </a:p>
          <a:p>
            <a:pPr marL="342900" indent="-342900">
              <a:lnSpc>
                <a:spcPct val="105000"/>
              </a:lnSpc>
              <a:spcAft>
                <a:spcPts val="700"/>
              </a:spcAft>
              <a:buSzPct val="100000"/>
              <a:buChar char="•"/>
            </a:pPr>
            <a:r>
              <a:rPr lang="en-US" sz="1050" dirty="0">
                <a:solidFill>
                  <a:srgbClr val="1A1A1A"/>
                </a:solidFill>
                <a:latin typeface="Arial" pitchFamily="34" charset="0"/>
                <a:ea typeface="Arial" pitchFamily="34" charset="-122"/>
                <a:cs typeface="Arial" pitchFamily="34" charset="-120"/>
              </a:rPr>
              <a:t>Hiệu ứng và âm thanh phát theo bộ đếm, tránh phát lại khi Fusion tua lại</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5. QUY TRÌNH PHÁT TRIỂN</a:t>
            </a:r>
            <a:endParaRPr lang="en-US" sz="1700" dirty="0"/>
          </a:p>
        </p:txBody>
      </p:sp>
      <p:sp>
        <p:nvSpPr>
          <p:cNvPr id="3" name="card"/>
          <p:cNvSpPr/>
          <p:nvPr/>
        </p:nvSpPr>
        <p:spPr>
          <a:xfrm>
            <a:off x="411480" y="868680"/>
            <a:ext cx="1920240" cy="2331720"/>
          </a:xfrm>
          <a:prstGeom prst="roundRect">
            <a:avLst>
              <a:gd name="adj" fmla="val 2857"/>
            </a:avLst>
          </a:prstGeom>
          <a:solidFill>
            <a:srgbClr val="EFF3FA"/>
          </a:solidFill>
          <a:ln w="12700">
            <a:solidFill>
              <a:srgbClr val="C7D2E6"/>
            </a:solidFill>
            <a:prstDash val="solid"/>
          </a:ln>
        </p:spPr>
        <p:txBody>
          <a:bodyPr/>
          <a:lstStyle/>
          <a:p>
            <a:endParaRPr lang="en-US"/>
          </a:p>
        </p:txBody>
      </p:sp>
      <p:sp>
        <p:nvSpPr>
          <p:cNvPr id="4" name="Shape 2"/>
          <p:cNvSpPr/>
          <p:nvPr/>
        </p:nvSpPr>
        <p:spPr>
          <a:xfrm>
            <a:off x="411480" y="868680"/>
            <a:ext cx="1920240" cy="310896"/>
          </a:xfrm>
          <a:prstGeom prst="rect">
            <a:avLst/>
          </a:prstGeom>
          <a:solidFill>
            <a:srgbClr val="26407D"/>
          </a:solidFill>
          <a:ln w="12700">
            <a:solidFill>
              <a:srgbClr val="333333"/>
            </a:solidFill>
            <a:prstDash val="solid"/>
          </a:ln>
        </p:spPr>
        <p:txBody>
          <a:bodyPr/>
          <a:lstStyle/>
          <a:p>
            <a:endParaRPr lang="en-US"/>
          </a:p>
        </p:txBody>
      </p:sp>
      <p:sp>
        <p:nvSpPr>
          <p:cNvPr id="5" name="Text 3"/>
          <p:cNvSpPr txBox="1"/>
          <p:nvPr/>
        </p:nvSpPr>
        <p:spPr>
          <a:xfrm>
            <a:off x="411480" y="868680"/>
            <a:ext cx="192024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GIAI ĐOẠN 1</a:t>
            </a:r>
            <a:endParaRPr lang="en-US" sz="1050" dirty="0"/>
          </a:p>
        </p:txBody>
      </p:sp>
      <p:sp>
        <p:nvSpPr>
          <p:cNvPr id="6" name="Text 4"/>
          <p:cNvSpPr txBox="1"/>
          <p:nvPr/>
        </p:nvSpPr>
        <p:spPr>
          <a:xfrm>
            <a:off x="521208" y="1252728"/>
            <a:ext cx="1700784" cy="420624"/>
          </a:xfrm>
          <a:prstGeom prst="rect">
            <a:avLst/>
          </a:prstGeom>
          <a:noFill/>
          <a:ln/>
        </p:spPr>
        <p:txBody>
          <a:bodyPr wrap="square" lIns="0" tIns="0" rIns="0" bIns="0" rtlCol="0" anchor="t"/>
          <a:lstStyle/>
          <a:p>
            <a:pPr marL="0" indent="0">
              <a:buNone/>
            </a:pPr>
            <a:r>
              <a:rPr lang="en-US" sz="1150" b="1" dirty="0">
                <a:solidFill>
                  <a:srgbClr val="002060"/>
                </a:solidFill>
                <a:latin typeface="Arial" pitchFamily="34" charset="0"/>
                <a:ea typeface="Arial" pitchFamily="34" charset="-122"/>
                <a:cs typeface="Arial" pitchFamily="34" charset="-120"/>
              </a:rPr>
              <a:t>Gameplay chạy một máy</a:t>
            </a:r>
            <a:endParaRPr lang="en-US" sz="1150" dirty="0"/>
          </a:p>
        </p:txBody>
      </p:sp>
      <p:sp>
        <p:nvSpPr>
          <p:cNvPr id="7" name="Text 5"/>
          <p:cNvSpPr txBox="1"/>
          <p:nvPr/>
        </p:nvSpPr>
        <p:spPr>
          <a:xfrm>
            <a:off x="521208"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Di chuyển, nhảy, lướt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Găng tay từ tính, bốn loại vật thể</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Cận chiến, túi đồ</a:t>
            </a:r>
            <a:endParaRPr lang="en-US" sz="1000" dirty="0"/>
          </a:p>
        </p:txBody>
      </p:sp>
      <p:sp>
        <p:nvSpPr>
          <p:cNvPr id="8" name="card"/>
          <p:cNvSpPr/>
          <p:nvPr/>
        </p:nvSpPr>
        <p:spPr>
          <a:xfrm>
            <a:off x="2532888" y="868680"/>
            <a:ext cx="1920240" cy="2331720"/>
          </a:xfrm>
          <a:prstGeom prst="roundRect">
            <a:avLst>
              <a:gd name="adj" fmla="val 2857"/>
            </a:avLst>
          </a:prstGeom>
          <a:solidFill>
            <a:srgbClr val="EFF3FA"/>
          </a:solidFill>
          <a:ln w="12700">
            <a:solidFill>
              <a:srgbClr val="C7D2E6"/>
            </a:solidFill>
            <a:prstDash val="solid"/>
          </a:ln>
        </p:spPr>
        <p:txBody>
          <a:bodyPr/>
          <a:lstStyle/>
          <a:p>
            <a:endParaRPr lang="en-US"/>
          </a:p>
        </p:txBody>
      </p:sp>
      <p:sp>
        <p:nvSpPr>
          <p:cNvPr id="9" name="Shape 7"/>
          <p:cNvSpPr/>
          <p:nvPr/>
        </p:nvSpPr>
        <p:spPr>
          <a:xfrm>
            <a:off x="2532888" y="868680"/>
            <a:ext cx="1920240" cy="310896"/>
          </a:xfrm>
          <a:prstGeom prst="rect">
            <a:avLst/>
          </a:prstGeom>
          <a:solidFill>
            <a:srgbClr val="3D5C9E"/>
          </a:solidFill>
          <a:ln w="12700">
            <a:solidFill>
              <a:srgbClr val="333333"/>
            </a:solidFill>
            <a:prstDash val="solid"/>
          </a:ln>
        </p:spPr>
        <p:txBody>
          <a:bodyPr/>
          <a:lstStyle/>
          <a:p>
            <a:endParaRPr lang="en-US"/>
          </a:p>
        </p:txBody>
      </p:sp>
      <p:sp>
        <p:nvSpPr>
          <p:cNvPr id="10" name="Text 8"/>
          <p:cNvSpPr txBox="1"/>
          <p:nvPr/>
        </p:nvSpPr>
        <p:spPr>
          <a:xfrm>
            <a:off x="2532888" y="868680"/>
            <a:ext cx="192024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GIAI ĐOẠN 2</a:t>
            </a:r>
            <a:endParaRPr lang="en-US" sz="1050" dirty="0"/>
          </a:p>
        </p:txBody>
      </p:sp>
      <p:sp>
        <p:nvSpPr>
          <p:cNvPr id="11" name="Text 9"/>
          <p:cNvSpPr txBox="1"/>
          <p:nvPr/>
        </p:nvSpPr>
        <p:spPr>
          <a:xfrm>
            <a:off x="2642616" y="1252728"/>
            <a:ext cx="1700784" cy="420624"/>
          </a:xfrm>
          <a:prstGeom prst="rect">
            <a:avLst/>
          </a:prstGeom>
          <a:noFill/>
          <a:ln/>
        </p:spPr>
        <p:txBody>
          <a:bodyPr wrap="square" lIns="0" tIns="0" rIns="0" bIns="0" rtlCol="0" anchor="t"/>
          <a:lstStyle/>
          <a:p>
            <a:pPr marL="0" indent="0">
              <a:buNone/>
            </a:pPr>
            <a:r>
              <a:rPr lang="en-US" sz="1150" b="1" dirty="0">
                <a:solidFill>
                  <a:srgbClr val="002060"/>
                </a:solidFill>
                <a:latin typeface="Arial" pitchFamily="34" charset="0"/>
                <a:ea typeface="Arial" pitchFamily="34" charset="-122"/>
                <a:cs typeface="Arial" pitchFamily="34" charset="-120"/>
              </a:rPr>
              <a:t>Đưa lên mạng</a:t>
            </a:r>
            <a:endParaRPr lang="en-US" sz="1150" dirty="0"/>
          </a:p>
        </p:txBody>
      </p:sp>
      <p:sp>
        <p:nvSpPr>
          <p:cNvPr id="12" name="Text 10"/>
          <p:cNvSpPr txBox="1"/>
          <p:nvPr/>
        </p:nvSpPr>
        <p:spPr>
          <a:xfrm>
            <a:off x="2642616"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Chuyển sang Fusion Host Mode</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Đồng bộ vật thể có vật lý</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Gỡ các lỗi do tua lại</a:t>
            </a:r>
            <a:endParaRPr lang="en-US" sz="1000" dirty="0"/>
          </a:p>
        </p:txBody>
      </p:sp>
      <p:sp>
        <p:nvSpPr>
          <p:cNvPr id="13" name="card"/>
          <p:cNvSpPr/>
          <p:nvPr/>
        </p:nvSpPr>
        <p:spPr>
          <a:xfrm>
            <a:off x="4654296" y="868680"/>
            <a:ext cx="1920240" cy="2331720"/>
          </a:xfrm>
          <a:prstGeom prst="roundRect">
            <a:avLst>
              <a:gd name="adj" fmla="val 2857"/>
            </a:avLst>
          </a:prstGeom>
          <a:solidFill>
            <a:srgbClr val="EFF3FA"/>
          </a:solidFill>
          <a:ln w="12700">
            <a:solidFill>
              <a:srgbClr val="C7D2E6"/>
            </a:solidFill>
            <a:prstDash val="solid"/>
          </a:ln>
        </p:spPr>
        <p:txBody>
          <a:bodyPr/>
          <a:lstStyle/>
          <a:p>
            <a:endParaRPr lang="en-US"/>
          </a:p>
        </p:txBody>
      </p:sp>
      <p:sp>
        <p:nvSpPr>
          <p:cNvPr id="14" name="Shape 12"/>
          <p:cNvSpPr/>
          <p:nvPr/>
        </p:nvSpPr>
        <p:spPr>
          <a:xfrm>
            <a:off x="4654296" y="868680"/>
            <a:ext cx="1920240" cy="310896"/>
          </a:xfrm>
          <a:prstGeom prst="rect">
            <a:avLst/>
          </a:prstGeom>
          <a:solidFill>
            <a:srgbClr val="26407D"/>
          </a:solidFill>
          <a:ln w="12700">
            <a:solidFill>
              <a:srgbClr val="333333"/>
            </a:solidFill>
            <a:prstDash val="solid"/>
          </a:ln>
        </p:spPr>
        <p:txBody>
          <a:bodyPr/>
          <a:lstStyle/>
          <a:p>
            <a:endParaRPr lang="en-US"/>
          </a:p>
        </p:txBody>
      </p:sp>
      <p:sp>
        <p:nvSpPr>
          <p:cNvPr id="15" name="Text 13"/>
          <p:cNvSpPr txBox="1"/>
          <p:nvPr/>
        </p:nvSpPr>
        <p:spPr>
          <a:xfrm>
            <a:off x="4654296" y="868680"/>
            <a:ext cx="192024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GIAI ĐOẠN 3</a:t>
            </a:r>
            <a:endParaRPr lang="en-US" sz="1050" dirty="0"/>
          </a:p>
        </p:txBody>
      </p:sp>
      <p:sp>
        <p:nvSpPr>
          <p:cNvPr id="16" name="Text 14"/>
          <p:cNvSpPr txBox="1"/>
          <p:nvPr/>
        </p:nvSpPr>
        <p:spPr>
          <a:xfrm>
            <a:off x="4764024" y="1252728"/>
            <a:ext cx="1700784" cy="420624"/>
          </a:xfrm>
          <a:prstGeom prst="rect">
            <a:avLst/>
          </a:prstGeom>
          <a:noFill/>
          <a:ln/>
        </p:spPr>
        <p:txBody>
          <a:bodyPr wrap="square" lIns="0" tIns="0" rIns="0" bIns="0" rtlCol="0" anchor="t"/>
          <a:lstStyle/>
          <a:p>
            <a:pPr marL="0" indent="0">
              <a:buNone/>
            </a:pPr>
            <a:r>
              <a:rPr lang="en-US" sz="1150" b="1" dirty="0">
                <a:solidFill>
                  <a:srgbClr val="002060"/>
                </a:solidFill>
                <a:latin typeface="Arial" pitchFamily="34" charset="0"/>
                <a:ea typeface="Arial" pitchFamily="34" charset="-122"/>
                <a:cs typeface="Arial" pitchFamily="34" charset="-120"/>
              </a:rPr>
              <a:t>Hoàn thiện vòng trận</a:t>
            </a:r>
            <a:endParaRPr lang="en-US" sz="1150" dirty="0"/>
          </a:p>
        </p:txBody>
      </p:sp>
      <p:sp>
        <p:nvSpPr>
          <p:cNvPr id="17" name="Text 15"/>
          <p:cNvSpPr txBox="1"/>
          <p:nvPr/>
        </p:nvSpPr>
        <p:spPr>
          <a:xfrm>
            <a:off x="4764024"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Vòng round, kinh tế, cửa hàng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HUD, menu, cài đặt</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Âm thanh và lồng tiếng</a:t>
            </a:r>
            <a:endParaRPr lang="en-US" sz="1000" dirty="0"/>
          </a:p>
        </p:txBody>
      </p:sp>
      <p:sp>
        <p:nvSpPr>
          <p:cNvPr id="18" name="card"/>
          <p:cNvSpPr/>
          <p:nvPr/>
        </p:nvSpPr>
        <p:spPr>
          <a:xfrm>
            <a:off x="6775704" y="868680"/>
            <a:ext cx="1920240" cy="2331720"/>
          </a:xfrm>
          <a:prstGeom prst="roundRect">
            <a:avLst>
              <a:gd name="adj" fmla="val 2857"/>
            </a:avLst>
          </a:prstGeom>
          <a:solidFill>
            <a:srgbClr val="EFF3FA"/>
          </a:solidFill>
          <a:ln w="12700">
            <a:solidFill>
              <a:srgbClr val="C7D2E6"/>
            </a:solidFill>
            <a:prstDash val="solid"/>
          </a:ln>
        </p:spPr>
        <p:txBody>
          <a:bodyPr/>
          <a:lstStyle/>
          <a:p>
            <a:endParaRPr lang="en-US"/>
          </a:p>
        </p:txBody>
      </p:sp>
      <p:sp>
        <p:nvSpPr>
          <p:cNvPr id="19" name="Shape 17"/>
          <p:cNvSpPr/>
          <p:nvPr/>
        </p:nvSpPr>
        <p:spPr>
          <a:xfrm>
            <a:off x="6775704" y="868680"/>
            <a:ext cx="1920240" cy="310896"/>
          </a:xfrm>
          <a:prstGeom prst="rect">
            <a:avLst/>
          </a:prstGeom>
          <a:solidFill>
            <a:srgbClr val="3D5C9E"/>
          </a:solidFill>
          <a:ln w="12700">
            <a:solidFill>
              <a:srgbClr val="333333"/>
            </a:solidFill>
            <a:prstDash val="solid"/>
          </a:ln>
        </p:spPr>
        <p:txBody>
          <a:bodyPr/>
          <a:lstStyle/>
          <a:p>
            <a:endParaRPr lang="en-US"/>
          </a:p>
        </p:txBody>
      </p:sp>
      <p:sp>
        <p:nvSpPr>
          <p:cNvPr id="20" name="Text 18"/>
          <p:cNvSpPr txBox="1"/>
          <p:nvPr/>
        </p:nvSpPr>
        <p:spPr>
          <a:xfrm>
            <a:off x="6775704" y="868680"/>
            <a:ext cx="1920240" cy="310896"/>
          </a:xfrm>
          <a:prstGeom prst="rect">
            <a:avLst/>
          </a:prstGeom>
          <a:noFill/>
          <a:ln/>
        </p:spPr>
        <p:txBody>
          <a:bodyPr wrap="square" lIns="0" tIns="0" rIns="0" bIns="0" rtlCol="0" anchor="ctr"/>
          <a:lstStyle/>
          <a:p>
            <a:pPr marL="0" indent="0" algn="ctr">
              <a:buNone/>
            </a:pPr>
            <a:r>
              <a:rPr lang="en-US" sz="1050" b="1" dirty="0">
                <a:solidFill>
                  <a:srgbClr val="FFFFFF"/>
                </a:solidFill>
                <a:latin typeface="Arial" pitchFamily="34" charset="0"/>
                <a:ea typeface="Arial" pitchFamily="34" charset="-122"/>
                <a:cs typeface="Arial" pitchFamily="34" charset="-120"/>
              </a:rPr>
              <a:t>GIAI ĐOẠN 4</a:t>
            </a:r>
            <a:endParaRPr lang="en-US" sz="1050" dirty="0"/>
          </a:p>
        </p:txBody>
      </p:sp>
      <p:sp>
        <p:nvSpPr>
          <p:cNvPr id="21" name="Text 19"/>
          <p:cNvSpPr txBox="1"/>
          <p:nvPr/>
        </p:nvSpPr>
        <p:spPr>
          <a:xfrm>
            <a:off x="6885432" y="1252728"/>
            <a:ext cx="1700784" cy="420624"/>
          </a:xfrm>
          <a:prstGeom prst="rect">
            <a:avLst/>
          </a:prstGeom>
          <a:noFill/>
          <a:ln/>
        </p:spPr>
        <p:txBody>
          <a:bodyPr wrap="square" lIns="0" tIns="0" rIns="0" bIns="0" rtlCol="0" anchor="t"/>
          <a:lstStyle/>
          <a:p>
            <a:pPr marL="0" indent="0">
              <a:buNone/>
            </a:pPr>
            <a:r>
              <a:rPr lang="en-US" sz="1150" b="1" dirty="0">
                <a:solidFill>
                  <a:srgbClr val="002060"/>
                </a:solidFill>
                <a:latin typeface="Arial" pitchFamily="34" charset="0"/>
                <a:ea typeface="Arial" pitchFamily="34" charset="-122"/>
                <a:cs typeface="Arial" pitchFamily="34" charset="-120"/>
              </a:rPr>
              <a:t>Cân bằng và đánh bóng</a:t>
            </a:r>
            <a:endParaRPr lang="en-US" sz="1150" dirty="0"/>
          </a:p>
        </p:txBody>
      </p:sp>
      <p:sp>
        <p:nvSpPr>
          <p:cNvPr id="22" name="Text 20"/>
          <p:cNvSpPr txBox="1"/>
          <p:nvPr/>
        </p:nvSpPr>
        <p:spPr>
          <a:xfrm>
            <a:off x="6885432" y="1709928"/>
            <a:ext cx="1700784" cy="13716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Thử nghiệm hai máy</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Chỉnh số liệu cân bằng</a:t>
            </a:r>
            <a:endParaRPr lang="en-US" sz="1000" dirty="0"/>
          </a:p>
          <a:p>
            <a:pPr marL="342900" indent="-342900">
              <a:lnSpc>
                <a:spcPct val="105000"/>
              </a:lnSpc>
              <a:spcAft>
                <a:spcPts val="700"/>
              </a:spcAft>
              <a:buSzPct val="100000"/>
              <a:buChar char="•"/>
            </a:pPr>
            <a:r>
              <a:rPr lang="en-US" sz="1000" dirty="0">
                <a:solidFill>
                  <a:srgbClr val="5A6478"/>
                </a:solidFill>
                <a:latin typeface="Arial" pitchFamily="34" charset="0"/>
                <a:ea typeface="Arial" pitchFamily="34" charset="-122"/>
                <a:cs typeface="Arial" pitchFamily="34" charset="-120"/>
              </a:rPr>
              <a:t>Sửa lỗi, viết tài liệu</a:t>
            </a:r>
            <a:endParaRPr lang="en-US" sz="1000" dirty="0"/>
          </a:p>
        </p:txBody>
      </p:sp>
      <p:sp>
        <p:nvSpPr>
          <p:cNvPr id="23" name="card"/>
          <p:cNvSpPr/>
          <p:nvPr/>
        </p:nvSpPr>
        <p:spPr>
          <a:xfrm>
            <a:off x="411480" y="3364992"/>
            <a:ext cx="8321040" cy="1188720"/>
          </a:xfrm>
          <a:prstGeom prst="roundRect">
            <a:avLst>
              <a:gd name="adj" fmla="val 4615"/>
            </a:avLst>
          </a:prstGeom>
          <a:solidFill>
            <a:srgbClr val="F3F7FD"/>
          </a:solidFill>
          <a:ln w="12700">
            <a:solidFill>
              <a:srgbClr val="C7D2E6"/>
            </a:solidFill>
            <a:prstDash val="solid"/>
          </a:ln>
        </p:spPr>
        <p:txBody>
          <a:bodyPr/>
          <a:lstStyle/>
          <a:p>
            <a:endParaRPr lang="en-US"/>
          </a:p>
        </p:txBody>
      </p:sp>
      <p:sp>
        <p:nvSpPr>
          <p:cNvPr id="24" name="Text 22"/>
          <p:cNvSpPr txBox="1"/>
          <p:nvPr/>
        </p:nvSpPr>
        <p:spPr>
          <a:xfrm>
            <a:off x="576072" y="3456432"/>
            <a:ext cx="2743200" cy="237744"/>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CÁCH KIỂM THỬ</a:t>
            </a:r>
            <a:endParaRPr lang="en-US" sz="1150" dirty="0"/>
          </a:p>
        </p:txBody>
      </p:sp>
      <p:sp>
        <p:nvSpPr>
          <p:cNvPr id="25" name="Text 23"/>
          <p:cNvSpPr txBox="1"/>
          <p:nvPr/>
        </p:nvSpPr>
        <p:spPr>
          <a:xfrm>
            <a:off x="576072" y="3712464"/>
            <a:ext cx="8001000" cy="749808"/>
          </a:xfrm>
          <a:prstGeom prst="rect">
            <a:avLst/>
          </a:prstGeom>
          <a:noFill/>
          <a:ln/>
        </p:spPr>
        <p:txBody>
          <a:bodyPr wrap="square" lIns="0" tIns="0" rIns="0" bIns="0" rtlCol="0" anchor="t"/>
          <a:lstStyle/>
          <a:p>
            <a:pPr marL="0" indent="0">
              <a:buNone/>
            </a:pPr>
            <a:r>
              <a:rPr lang="en-US" sz="1150" dirty="0">
                <a:solidFill>
                  <a:srgbClr val="1A1A1A"/>
                </a:solidFill>
                <a:latin typeface="Arial" pitchFamily="34" charset="0"/>
                <a:ea typeface="Arial" pitchFamily="34" charset="-122"/>
                <a:cs typeface="Arial" pitchFamily="34" charset="-120"/>
              </a:rPr>
              <a:t>Dùng ParrelSync nhân bản project để mở hai client trên cùng một máy — nhờ vậy thử được mọi tình huống mạng mà không cần hai máy tính. Những lỗi chỉ xuất hiện khi có độ trễ thật thì kiểm bằng hai máy riêng, kết nối qua khu vực máy chủ asia.</a:t>
            </a:r>
            <a:endParaRPr lang="en-US" sz="1150" dirty="0"/>
          </a:p>
        </p:txBody>
      </p:sp>
      <p:sp>
        <p:nvSpPr>
          <p:cNvPr id="26"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5. QUY TRÌNH PHÁT TRIỂN — BA LỖI KHÓ NHẤT ĐÃ VƯỢT</a:t>
            </a:r>
            <a:endParaRPr lang="en-US" sz="1700" dirty="0"/>
          </a:p>
        </p:txBody>
      </p:sp>
      <p:sp>
        <p:nvSpPr>
          <p:cNvPr id="3" name="card"/>
          <p:cNvSpPr/>
          <p:nvPr/>
        </p:nvSpPr>
        <p:spPr>
          <a:xfrm>
            <a:off x="411480" y="868680"/>
            <a:ext cx="8321040" cy="1133856"/>
          </a:xfrm>
          <a:prstGeom prst="roundRect">
            <a:avLst>
              <a:gd name="adj" fmla="val 4839"/>
            </a:avLst>
          </a:prstGeom>
          <a:solidFill>
            <a:srgbClr val="EFF3FA"/>
          </a:solidFill>
          <a:ln w="12700">
            <a:solidFill>
              <a:srgbClr val="C7D2E6"/>
            </a:solidFill>
            <a:prstDash val="solid"/>
          </a:ln>
        </p:spPr>
        <p:txBody>
          <a:bodyPr/>
          <a:lstStyle/>
          <a:p>
            <a:endParaRPr lang="en-US"/>
          </a:p>
        </p:txBody>
      </p:sp>
      <p:sp>
        <p:nvSpPr>
          <p:cNvPr id="4" name="Shape 2"/>
          <p:cNvSpPr/>
          <p:nvPr/>
        </p:nvSpPr>
        <p:spPr>
          <a:xfrm>
            <a:off x="576072" y="1024128"/>
            <a:ext cx="310896" cy="310896"/>
          </a:xfrm>
          <a:prstGeom prst="ellipse">
            <a:avLst/>
          </a:prstGeom>
          <a:solidFill>
            <a:srgbClr val="E8453C"/>
          </a:solidFill>
          <a:ln w="12700">
            <a:solidFill>
              <a:srgbClr val="333333"/>
            </a:solidFill>
            <a:prstDash val="solid"/>
          </a:ln>
        </p:spPr>
        <p:txBody>
          <a:bodyPr/>
          <a:lstStyle/>
          <a:p>
            <a:endParaRPr lang="en-US"/>
          </a:p>
        </p:txBody>
      </p:sp>
      <p:sp>
        <p:nvSpPr>
          <p:cNvPr id="5" name="Text 3"/>
          <p:cNvSpPr txBox="1"/>
          <p:nvPr/>
        </p:nvSpPr>
        <p:spPr>
          <a:xfrm>
            <a:off x="576072" y="1024128"/>
            <a:ext cx="310896" cy="31089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txBox="1"/>
          <p:nvPr/>
        </p:nvSpPr>
        <p:spPr>
          <a:xfrm>
            <a:off x="996696" y="996696"/>
            <a:ext cx="758952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Nhân vật máy khách chạy nhanh gấp nhiều lần</a:t>
            </a:r>
            <a:endParaRPr lang="en-US" sz="1250" dirty="0"/>
          </a:p>
        </p:txBody>
      </p:sp>
      <p:sp>
        <p:nvSpPr>
          <p:cNvPr id="7" name="Text 5"/>
          <p:cNvSpPr txBox="1"/>
          <p:nvPr/>
        </p:nvSpPr>
        <p:spPr>
          <a:xfrm>
            <a:off x="996696" y="1280160"/>
            <a:ext cx="7589520" cy="658368"/>
          </a:xfrm>
          <a:prstGeom prst="rect">
            <a:avLst/>
          </a:prstGeom>
          <a:noFill/>
          <a:ln/>
        </p:spPr>
        <p:txBody>
          <a:bodyPr wrap="square" lIns="0" tIns="0" rIns="0" bIns="0" rtlCol="0" anchor="t"/>
          <a:lstStyle/>
          <a:p>
            <a:pPr marL="0" indent="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r>
              <a:rPr lang="en-US" sz="1050" dirty="0">
                <a:solidFill>
                  <a:srgbClr val="1A1A1A"/>
                </a:solidFill>
                <a:latin typeface="Arial" pitchFamily="34" charset="0"/>
                <a:ea typeface="Arial" pitchFamily="34" charset="-122"/>
                <a:cs typeface="Arial" pitchFamily="34" charset="-120"/>
              </a:rPr>
              <a:t>Fusion tua lại nhiều lượt mỗi khung hình. Mỗi lượt tua, CharacterController vẫn nhớ vị trí cũ nên quãng đường bị cộng dồn.</a:t>
            </a:r>
            <a:endParaRPr lang="en-US" sz="1050" dirty="0"/>
          </a:p>
          <a:p>
            <a:pPr marL="0" indent="0">
              <a:lnSpc>
                <a:spcPct val="100000"/>
              </a:lnSpc>
              <a:buNone/>
            </a:pPr>
            <a:r>
              <a:rPr lang="en-US" sz="1050" b="1" dirty="0">
                <a:solidFill>
                  <a:srgbClr val="5A6478"/>
                </a:solidFill>
                <a:latin typeface="Arial" pitchFamily="34" charset="0"/>
                <a:ea typeface="Arial" pitchFamily="34" charset="-122"/>
                <a:cs typeface="Arial" pitchFamily="34" charset="-120"/>
              </a:rPr>
              <a:t>Cách chữa: </a:t>
            </a:r>
            <a:r>
              <a:rPr lang="en-US" sz="1050" dirty="0">
                <a:solidFill>
                  <a:srgbClr val="1A1A1A"/>
                </a:solidFill>
                <a:latin typeface="Arial" pitchFamily="34" charset="0"/>
                <a:ea typeface="Arial" pitchFamily="34" charset="-122"/>
                <a:cs typeface="Arial" pitchFamily="34" charset="-120"/>
              </a:rPr>
              <a:t>Tắt rồi bật lại CharacterController ở đầu mỗi chuỗi tua, qua IBeforeAllTicks.</a:t>
            </a:r>
            <a:endParaRPr lang="en-US" sz="1050" dirty="0"/>
          </a:p>
        </p:txBody>
      </p:sp>
      <p:sp>
        <p:nvSpPr>
          <p:cNvPr id="8" name="card"/>
          <p:cNvSpPr/>
          <p:nvPr/>
        </p:nvSpPr>
        <p:spPr>
          <a:xfrm>
            <a:off x="411480" y="2130552"/>
            <a:ext cx="8321040" cy="1133856"/>
          </a:xfrm>
          <a:prstGeom prst="roundRect">
            <a:avLst>
              <a:gd name="adj" fmla="val 4839"/>
            </a:avLst>
          </a:prstGeom>
          <a:solidFill>
            <a:srgbClr val="EFF3FA"/>
          </a:solidFill>
          <a:ln w="12700">
            <a:solidFill>
              <a:srgbClr val="C7D2E6"/>
            </a:solidFill>
            <a:prstDash val="solid"/>
          </a:ln>
        </p:spPr>
        <p:txBody>
          <a:bodyPr/>
          <a:lstStyle/>
          <a:p>
            <a:endParaRPr lang="en-US"/>
          </a:p>
        </p:txBody>
      </p:sp>
      <p:sp>
        <p:nvSpPr>
          <p:cNvPr id="9" name="Shape 7"/>
          <p:cNvSpPr/>
          <p:nvPr/>
        </p:nvSpPr>
        <p:spPr>
          <a:xfrm>
            <a:off x="576072" y="2286000"/>
            <a:ext cx="310896" cy="310896"/>
          </a:xfrm>
          <a:prstGeom prst="ellipse">
            <a:avLst/>
          </a:prstGeom>
          <a:solidFill>
            <a:srgbClr val="2E86DE"/>
          </a:solidFill>
          <a:ln w="12700">
            <a:solidFill>
              <a:srgbClr val="333333"/>
            </a:solidFill>
            <a:prstDash val="solid"/>
          </a:ln>
        </p:spPr>
        <p:txBody>
          <a:bodyPr/>
          <a:lstStyle/>
          <a:p>
            <a:endParaRPr lang="en-US"/>
          </a:p>
        </p:txBody>
      </p:sp>
      <p:sp>
        <p:nvSpPr>
          <p:cNvPr id="10" name="Text 8"/>
          <p:cNvSpPr txBox="1"/>
          <p:nvPr/>
        </p:nvSpPr>
        <p:spPr>
          <a:xfrm>
            <a:off x="576072" y="2286000"/>
            <a:ext cx="310896" cy="31089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txBox="1"/>
          <p:nvPr/>
        </p:nvSpPr>
        <p:spPr>
          <a:xfrm>
            <a:off x="996696" y="2258568"/>
            <a:ext cx="758952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Vật tung khỏi tay bay lệch ngẫu nhiên</a:t>
            </a:r>
            <a:endParaRPr lang="en-US" sz="1250" dirty="0"/>
          </a:p>
        </p:txBody>
      </p:sp>
      <p:sp>
        <p:nvSpPr>
          <p:cNvPr id="12" name="Text 10"/>
          <p:cNvSpPr txBox="1"/>
          <p:nvPr/>
        </p:nvSpPr>
        <p:spPr>
          <a:xfrm>
            <a:off x="996696" y="2542032"/>
            <a:ext cx="7589520" cy="658368"/>
          </a:xfrm>
          <a:prstGeom prst="rect">
            <a:avLst/>
          </a:prstGeom>
          <a:noFill/>
          <a:ln/>
        </p:spPr>
        <p:txBody>
          <a:bodyPr wrap="square" lIns="0" tIns="0" rIns="0" bIns="0" rtlCol="0" anchor="t"/>
          <a:lstStyle/>
          <a:p>
            <a:pPr marL="0" indent="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r>
              <a:rPr lang="en-US" sz="1050" dirty="0">
                <a:solidFill>
                  <a:srgbClr val="1A1A1A"/>
                </a:solidFill>
                <a:latin typeface="Arial" pitchFamily="34" charset="0"/>
                <a:ea typeface="Arial" pitchFamily="34" charset="-122"/>
                <a:cs typeface="Arial" pitchFamily="34" charset="-120"/>
              </a:rPr>
              <a:t>Vật cầm trên tay bị thu nhỏ. Trả lại cỡ thật ngay trong người làm hai khối chồng nhau, PhysX bắn ra lực gỡ kẹt mạnh hơn cả lực tung.</a:t>
            </a:r>
            <a:endParaRPr lang="en-US" sz="1050" dirty="0"/>
          </a:p>
          <a:p>
            <a:pPr marL="0" indent="0">
              <a:lnSpc>
                <a:spcPct val="100000"/>
              </a:lnSpc>
              <a:buNone/>
            </a:pPr>
            <a:r>
              <a:rPr lang="en-US" sz="1050" b="1" dirty="0">
                <a:solidFill>
                  <a:srgbClr val="5A6478"/>
                </a:solidFill>
                <a:latin typeface="Arial" pitchFamily="34" charset="0"/>
                <a:ea typeface="Arial" pitchFamily="34" charset="-122"/>
                <a:cs typeface="Arial" pitchFamily="34" charset="-120"/>
              </a:rPr>
              <a:t>Cách chữa: </a:t>
            </a:r>
            <a:r>
              <a:rPr lang="en-US" sz="1050" dirty="0">
                <a:solidFill>
                  <a:srgbClr val="1A1A1A"/>
                </a:solidFill>
                <a:latin typeface="Arial" pitchFamily="34" charset="0"/>
                <a:ea typeface="Arial" pitchFamily="34" charset="-122"/>
                <a:cs typeface="Arial" pitchFamily="34" charset="-120"/>
              </a:rPr>
              <a:t>Dời vật ra khỏi người theo phương ngang trước, rồi mới bật va chạm và trả vật lý.</a:t>
            </a:r>
            <a:endParaRPr lang="en-US" sz="1050" dirty="0"/>
          </a:p>
        </p:txBody>
      </p:sp>
      <p:sp>
        <p:nvSpPr>
          <p:cNvPr id="13" name="card"/>
          <p:cNvSpPr/>
          <p:nvPr/>
        </p:nvSpPr>
        <p:spPr>
          <a:xfrm>
            <a:off x="411480" y="3392424"/>
            <a:ext cx="8321040" cy="1133856"/>
          </a:xfrm>
          <a:prstGeom prst="roundRect">
            <a:avLst>
              <a:gd name="adj" fmla="val 4839"/>
            </a:avLst>
          </a:prstGeom>
          <a:solidFill>
            <a:srgbClr val="EFF3FA"/>
          </a:solidFill>
          <a:ln w="12700">
            <a:solidFill>
              <a:srgbClr val="C7D2E6"/>
            </a:solidFill>
            <a:prstDash val="solid"/>
          </a:ln>
        </p:spPr>
        <p:txBody>
          <a:bodyPr/>
          <a:lstStyle/>
          <a:p>
            <a:endParaRPr lang="en-US"/>
          </a:p>
        </p:txBody>
      </p:sp>
      <p:sp>
        <p:nvSpPr>
          <p:cNvPr id="14" name="Shape 12"/>
          <p:cNvSpPr/>
          <p:nvPr/>
        </p:nvSpPr>
        <p:spPr>
          <a:xfrm>
            <a:off x="576072" y="3547872"/>
            <a:ext cx="310896" cy="310896"/>
          </a:xfrm>
          <a:prstGeom prst="ellipse">
            <a:avLst/>
          </a:prstGeom>
          <a:solidFill>
            <a:srgbClr val="002060"/>
          </a:solidFill>
          <a:ln w="12700">
            <a:solidFill>
              <a:srgbClr val="333333"/>
            </a:solidFill>
            <a:prstDash val="solid"/>
          </a:ln>
        </p:spPr>
        <p:txBody>
          <a:bodyPr/>
          <a:lstStyle/>
          <a:p>
            <a:endParaRPr lang="en-US"/>
          </a:p>
        </p:txBody>
      </p:sp>
      <p:sp>
        <p:nvSpPr>
          <p:cNvPr id="15" name="Text 13"/>
          <p:cNvSpPr txBox="1"/>
          <p:nvPr/>
        </p:nvSpPr>
        <p:spPr>
          <a:xfrm>
            <a:off x="576072" y="3547872"/>
            <a:ext cx="310896" cy="310896"/>
          </a:xfrm>
          <a:prstGeom prst="rect">
            <a:avLst/>
          </a:prstGeom>
          <a:noFill/>
          <a:ln/>
        </p:spPr>
        <p:txBody>
          <a:bodyPr wrap="square" lIns="0" tIns="0" rIns="0" bIns="0"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6" name="Text 14"/>
          <p:cNvSpPr txBox="1"/>
          <p:nvPr/>
        </p:nvSpPr>
        <p:spPr>
          <a:xfrm>
            <a:off x="996696" y="3520440"/>
            <a:ext cx="7589520" cy="274320"/>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Game tắt đột ngột khi kết thúc trận</a:t>
            </a:r>
            <a:endParaRPr lang="en-US" sz="1250" dirty="0"/>
          </a:p>
        </p:txBody>
      </p:sp>
      <p:sp>
        <p:nvSpPr>
          <p:cNvPr id="17" name="Text 15"/>
          <p:cNvSpPr txBox="1"/>
          <p:nvPr/>
        </p:nvSpPr>
        <p:spPr>
          <a:xfrm>
            <a:off x="996696" y="3803904"/>
            <a:ext cx="7589520" cy="658368"/>
          </a:xfrm>
          <a:prstGeom prst="rect">
            <a:avLst/>
          </a:prstGeom>
          <a:noFill/>
          <a:ln/>
        </p:spPr>
        <p:txBody>
          <a:bodyPr wrap="square" lIns="0" tIns="0" rIns="0" bIns="0" rtlCol="0" anchor="t"/>
          <a:lstStyle/>
          <a:p>
            <a:pPr marL="0" indent="0">
              <a:lnSpc>
                <a:spcPct val="100000"/>
              </a:lnSpc>
              <a:buNone/>
            </a:pPr>
            <a:r>
              <a:rPr lang="en-US" sz="1050" b="1" dirty="0">
                <a:solidFill>
                  <a:srgbClr val="5A6478"/>
                </a:solidFill>
                <a:latin typeface="Arial" pitchFamily="34" charset="0"/>
                <a:ea typeface="Arial" pitchFamily="34" charset="-122"/>
                <a:cs typeface="Arial" pitchFamily="34" charset="-120"/>
              </a:rPr>
              <a:t>Nguyên nhân: </a:t>
            </a:r>
            <a:r>
              <a:rPr lang="en-US" sz="1050" dirty="0">
                <a:solidFill>
                  <a:srgbClr val="1A1A1A"/>
                </a:solidFill>
                <a:latin typeface="Arial" pitchFamily="34" charset="0"/>
                <a:ea typeface="Arial" pitchFamily="34" charset="-122"/>
                <a:cs typeface="Arial" pitchFamily="34" charset="-120"/>
              </a:rPr>
              <a:t>Lệnh tắt kết nối được gọi từ bên trong hàm mô phỏng của Fusion — tức là tự huỷ chính thứ đang chạy mình.</a:t>
            </a:r>
            <a:endParaRPr lang="en-US" sz="1050" dirty="0"/>
          </a:p>
          <a:p>
            <a:pPr marL="0" indent="0">
              <a:lnSpc>
                <a:spcPct val="100000"/>
              </a:lnSpc>
              <a:buNone/>
            </a:pPr>
            <a:r>
              <a:rPr lang="en-US" sz="1050" b="1" dirty="0">
                <a:solidFill>
                  <a:srgbClr val="5A6478"/>
                </a:solidFill>
                <a:latin typeface="Arial" pitchFamily="34" charset="0"/>
                <a:ea typeface="Arial" pitchFamily="34" charset="-122"/>
                <a:cs typeface="Arial" pitchFamily="34" charset="-120"/>
              </a:rPr>
              <a:t>Cách chữa: </a:t>
            </a:r>
            <a:r>
              <a:rPr lang="en-US" sz="1050" dirty="0">
                <a:solidFill>
                  <a:srgbClr val="1A1A1A"/>
                </a:solidFill>
                <a:latin typeface="Arial" pitchFamily="34" charset="0"/>
                <a:ea typeface="Arial" pitchFamily="34" charset="-122"/>
                <a:cs typeface="Arial" pitchFamily="34" charset="-120"/>
              </a:rPr>
              <a:t>Hoãn lệnh tắt sang khung hình sau bằng coroutine, để thoát khỏi ngăn xếp mô phỏng.</a:t>
            </a:r>
            <a:endParaRPr lang="en-US" sz="10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6. DEMO / HÌNH ẢNH</a:t>
            </a:r>
            <a:endParaRPr lang="en-US" sz="1700" dirty="0"/>
          </a:p>
        </p:txBody>
      </p:sp>
      <p:sp>
        <p:nvSpPr>
          <p:cNvPr id="3" name="khung-anh"/>
          <p:cNvSpPr/>
          <p:nvPr/>
        </p:nvSpPr>
        <p:spPr>
          <a:xfrm>
            <a:off x="411480" y="868680"/>
            <a:ext cx="5897880" cy="3337560"/>
          </a:xfrm>
          <a:prstGeom prst="roundRect">
            <a:avLst>
              <a:gd name="adj" fmla="val 1644"/>
            </a:avLst>
          </a:prstGeom>
          <a:solidFill>
            <a:srgbClr val="F7F9FD"/>
          </a:solidFill>
          <a:ln w="15875">
            <a:solidFill>
              <a:srgbClr val="26407D"/>
            </a:solidFill>
            <a:prstDash val="dash"/>
          </a:ln>
        </p:spPr>
        <p:txBody>
          <a:bodyPr/>
          <a:lstStyle/>
          <a:p>
            <a:endParaRPr lang="en-US"/>
          </a:p>
        </p:txBody>
      </p:sp>
      <p:sp>
        <p:nvSpPr>
          <p:cNvPr id="4" name="Text 2"/>
          <p:cNvSpPr txBox="1"/>
          <p:nvPr/>
        </p:nvSpPr>
        <p:spPr>
          <a:xfrm>
            <a:off x="521208" y="868680"/>
            <a:ext cx="5678424" cy="3337560"/>
          </a:xfrm>
          <a:prstGeom prst="rect">
            <a:avLst/>
          </a:prstGeom>
          <a:noFill/>
          <a:ln/>
        </p:spPr>
        <p:txBody>
          <a:bodyPr wrap="square" lIns="0" tIns="0" rIns="0" bIns="0" rtlCol="0" anchor="ctr"/>
          <a:lstStyle/>
          <a:p>
            <a:pPr marL="0" indent="0" algn="ctr">
              <a:buNone/>
            </a:pPr>
            <a:r>
              <a:rPr lang="en-US" sz="1100" b="1" dirty="0">
                <a:solidFill>
                  <a:srgbClr val="26407D"/>
                </a:solidFill>
                <a:latin typeface="Arial" pitchFamily="34" charset="0"/>
                <a:ea typeface="Arial" pitchFamily="34" charset="-122"/>
                <a:cs typeface="Arial" pitchFamily="34" charset="-120"/>
              </a:rPr>
              <a:t>KHUNG ẢNH</a:t>
            </a:r>
            <a:endParaRPr lang="en-US" sz="1100" dirty="0"/>
          </a:p>
          <a:p>
            <a:pPr marL="0" indent="0" algn="ctr">
              <a:buNone/>
            </a:pPr>
            <a:r>
              <a:rPr lang="en-US" sz="1100" dirty="0">
                <a:solidFill>
                  <a:srgbClr val="5A6478"/>
                </a:solidFill>
                <a:latin typeface="Arial" pitchFamily="34" charset="0"/>
                <a:ea typeface="Arial" pitchFamily="34" charset="-122"/>
                <a:cs typeface="Arial" pitchFamily="34" charset="-120"/>
              </a:rPr>
              <a:t>Chèn video demo tại đây — hoặc dán ảnh chụp màn hình nếu chiếu video rời</a:t>
            </a:r>
            <a:endParaRPr lang="en-US" sz="1100" dirty="0"/>
          </a:p>
        </p:txBody>
      </p:sp>
      <p:sp>
        <p:nvSpPr>
          <p:cNvPr id="5" name="Text 3"/>
          <p:cNvSpPr txBox="1"/>
          <p:nvPr/>
        </p:nvSpPr>
        <p:spPr>
          <a:xfrm>
            <a:off x="6537960" y="868680"/>
            <a:ext cx="2194560" cy="25603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MỐC THỜI GIAN</a:t>
            </a:r>
            <a:endParaRPr lang="en-US" sz="1150" dirty="0"/>
          </a:p>
        </p:txBody>
      </p:sp>
      <p:sp>
        <p:nvSpPr>
          <p:cNvPr id="6" name="card"/>
          <p:cNvSpPr/>
          <p:nvPr/>
        </p:nvSpPr>
        <p:spPr>
          <a:xfrm>
            <a:off x="6537960" y="1216152"/>
            <a:ext cx="2194560" cy="658368"/>
          </a:xfrm>
          <a:prstGeom prst="roundRect">
            <a:avLst>
              <a:gd name="adj" fmla="val 8333"/>
            </a:avLst>
          </a:prstGeom>
          <a:solidFill>
            <a:srgbClr val="EFF3FA"/>
          </a:solidFill>
          <a:ln w="12700">
            <a:solidFill>
              <a:srgbClr val="C7D2E6"/>
            </a:solidFill>
            <a:prstDash val="solid"/>
          </a:ln>
        </p:spPr>
        <p:txBody>
          <a:bodyPr/>
          <a:lstStyle/>
          <a:p>
            <a:endParaRPr lang="en-US"/>
          </a:p>
        </p:txBody>
      </p:sp>
      <p:sp>
        <p:nvSpPr>
          <p:cNvPr id="7" name="Text 5"/>
          <p:cNvSpPr txBox="1"/>
          <p:nvPr/>
        </p:nvSpPr>
        <p:spPr>
          <a:xfrm>
            <a:off x="6675120" y="1271016"/>
            <a:ext cx="1920240" cy="237744"/>
          </a:xfrm>
          <a:prstGeom prst="rect">
            <a:avLst/>
          </a:prstGeom>
          <a:noFill/>
          <a:ln/>
        </p:spPr>
        <p:txBody>
          <a:bodyPr wrap="square" lIns="0" tIns="0" rIns="0" bIns="0" rtlCol="0" anchor="ctr"/>
          <a:lstStyle/>
          <a:p>
            <a:pPr marL="0" indent="0">
              <a:buNone/>
            </a:pPr>
            <a:r>
              <a:rPr lang="en-US" sz="1200" b="1" dirty="0">
                <a:solidFill>
                  <a:srgbClr val="E8453C"/>
                </a:solidFill>
                <a:latin typeface="Arial" pitchFamily="34" charset="0"/>
                <a:ea typeface="Arial" pitchFamily="34" charset="-122"/>
                <a:cs typeface="Arial" pitchFamily="34" charset="-120"/>
              </a:rPr>
              <a:t>00:05</a:t>
            </a:r>
            <a:endParaRPr lang="en-US" sz="1200" dirty="0"/>
          </a:p>
        </p:txBody>
      </p:sp>
      <p:sp>
        <p:nvSpPr>
          <p:cNvPr id="8" name="Text 6"/>
          <p:cNvSpPr txBox="1"/>
          <p:nvPr/>
        </p:nvSpPr>
        <p:spPr>
          <a:xfrm>
            <a:off x="6675120" y="1508760"/>
            <a:ext cx="1920240" cy="329184"/>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Toàn cảnh đảo lơ lửng</a:t>
            </a:r>
            <a:endParaRPr lang="en-US" sz="1000" dirty="0"/>
          </a:p>
        </p:txBody>
      </p:sp>
      <p:sp>
        <p:nvSpPr>
          <p:cNvPr id="9" name="card"/>
          <p:cNvSpPr/>
          <p:nvPr/>
        </p:nvSpPr>
        <p:spPr>
          <a:xfrm>
            <a:off x="6537960" y="1984248"/>
            <a:ext cx="2194560" cy="658368"/>
          </a:xfrm>
          <a:prstGeom prst="roundRect">
            <a:avLst>
              <a:gd name="adj" fmla="val 8333"/>
            </a:avLst>
          </a:prstGeom>
          <a:solidFill>
            <a:srgbClr val="EFF3FA"/>
          </a:solidFill>
          <a:ln w="12700">
            <a:solidFill>
              <a:srgbClr val="C7D2E6"/>
            </a:solidFill>
            <a:prstDash val="solid"/>
          </a:ln>
        </p:spPr>
        <p:txBody>
          <a:bodyPr/>
          <a:lstStyle/>
          <a:p>
            <a:endParaRPr lang="en-US"/>
          </a:p>
        </p:txBody>
      </p:sp>
      <p:sp>
        <p:nvSpPr>
          <p:cNvPr id="10" name="Text 8"/>
          <p:cNvSpPr txBox="1"/>
          <p:nvPr/>
        </p:nvSpPr>
        <p:spPr>
          <a:xfrm>
            <a:off x="6675120" y="2039112"/>
            <a:ext cx="1920240" cy="237744"/>
          </a:xfrm>
          <a:prstGeom prst="rect">
            <a:avLst/>
          </a:prstGeom>
          <a:noFill/>
          <a:ln/>
        </p:spPr>
        <p:txBody>
          <a:bodyPr wrap="square" lIns="0" tIns="0" rIns="0" bIns="0" rtlCol="0" anchor="ctr"/>
          <a:lstStyle/>
          <a:p>
            <a:pPr marL="0" indent="0">
              <a:buNone/>
            </a:pPr>
            <a:r>
              <a:rPr lang="en-US" sz="1200" b="1" dirty="0">
                <a:solidFill>
                  <a:srgbClr val="2E86DE"/>
                </a:solidFill>
                <a:latin typeface="Arial" pitchFamily="34" charset="0"/>
                <a:ea typeface="Arial" pitchFamily="34" charset="-122"/>
                <a:cs typeface="Arial" pitchFamily="34" charset="-120"/>
              </a:rPr>
              <a:t>00:12</a:t>
            </a:r>
            <a:endParaRPr lang="en-US" sz="1200" dirty="0"/>
          </a:p>
        </p:txBody>
      </p:sp>
      <p:sp>
        <p:nvSpPr>
          <p:cNvPr id="11" name="Text 9"/>
          <p:cNvSpPr txBox="1"/>
          <p:nvPr/>
        </p:nvSpPr>
        <p:spPr>
          <a:xfrm>
            <a:off x="6675120" y="2276856"/>
            <a:ext cx="1920240" cy="329184"/>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Nạp điện và bắn vật thể</a:t>
            </a:r>
            <a:endParaRPr lang="en-US" sz="1000" dirty="0"/>
          </a:p>
        </p:txBody>
      </p:sp>
      <p:sp>
        <p:nvSpPr>
          <p:cNvPr id="12" name="card"/>
          <p:cNvSpPr/>
          <p:nvPr/>
        </p:nvSpPr>
        <p:spPr>
          <a:xfrm>
            <a:off x="6537960" y="2752344"/>
            <a:ext cx="2194560" cy="658368"/>
          </a:xfrm>
          <a:prstGeom prst="roundRect">
            <a:avLst>
              <a:gd name="adj" fmla="val 8333"/>
            </a:avLst>
          </a:prstGeom>
          <a:solidFill>
            <a:srgbClr val="EFF3FA"/>
          </a:solidFill>
          <a:ln w="12700">
            <a:solidFill>
              <a:srgbClr val="C7D2E6"/>
            </a:solidFill>
            <a:prstDash val="solid"/>
          </a:ln>
        </p:spPr>
        <p:txBody>
          <a:bodyPr/>
          <a:lstStyle/>
          <a:p>
            <a:endParaRPr lang="en-US"/>
          </a:p>
        </p:txBody>
      </p:sp>
      <p:sp>
        <p:nvSpPr>
          <p:cNvPr id="13" name="Text 11"/>
          <p:cNvSpPr txBox="1"/>
          <p:nvPr/>
        </p:nvSpPr>
        <p:spPr>
          <a:xfrm>
            <a:off x="6675120" y="2807208"/>
            <a:ext cx="1920240" cy="237744"/>
          </a:xfrm>
          <a:prstGeom prst="rect">
            <a:avLst/>
          </a:prstGeom>
          <a:noFill/>
          <a:ln/>
        </p:spPr>
        <p:txBody>
          <a:bodyPr wrap="square" lIns="0" tIns="0" rIns="0" bIns="0" rtlCol="0" anchor="ctr"/>
          <a:lstStyle/>
          <a:p>
            <a:pPr marL="0" indent="0">
              <a:buNone/>
            </a:pPr>
            <a:r>
              <a:rPr lang="en-US" sz="1200" b="1" dirty="0">
                <a:solidFill>
                  <a:srgbClr val="E8453C"/>
                </a:solidFill>
                <a:latin typeface="Arial" pitchFamily="34" charset="0"/>
                <a:ea typeface="Arial" pitchFamily="34" charset="-122"/>
                <a:cs typeface="Arial" pitchFamily="34" charset="-120"/>
              </a:rPr>
              <a:t>00:25</a:t>
            </a:r>
            <a:endParaRPr lang="en-US" sz="1200" dirty="0"/>
          </a:p>
        </p:txBody>
      </p:sp>
      <p:sp>
        <p:nvSpPr>
          <p:cNvPr id="14" name="Text 12"/>
          <p:cNvSpPr txBox="1"/>
          <p:nvPr/>
        </p:nvSpPr>
        <p:spPr>
          <a:xfrm>
            <a:off x="6675120" y="3044952"/>
            <a:ext cx="1920240" cy="329184"/>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Thanh điện tăng, lực văng tăng</a:t>
            </a:r>
            <a:endParaRPr lang="en-US" sz="1000" dirty="0"/>
          </a:p>
        </p:txBody>
      </p:sp>
      <p:sp>
        <p:nvSpPr>
          <p:cNvPr id="15" name="card"/>
          <p:cNvSpPr/>
          <p:nvPr/>
        </p:nvSpPr>
        <p:spPr>
          <a:xfrm>
            <a:off x="6537960" y="3520440"/>
            <a:ext cx="2194560" cy="658368"/>
          </a:xfrm>
          <a:prstGeom prst="roundRect">
            <a:avLst>
              <a:gd name="adj" fmla="val 8333"/>
            </a:avLst>
          </a:prstGeom>
          <a:solidFill>
            <a:srgbClr val="EFF3FA"/>
          </a:solidFill>
          <a:ln w="12700">
            <a:solidFill>
              <a:srgbClr val="C7D2E6"/>
            </a:solidFill>
            <a:prstDash val="solid"/>
          </a:ln>
        </p:spPr>
        <p:txBody>
          <a:bodyPr/>
          <a:lstStyle/>
          <a:p>
            <a:endParaRPr lang="en-US"/>
          </a:p>
        </p:txBody>
      </p:sp>
      <p:sp>
        <p:nvSpPr>
          <p:cNvPr id="16" name="Text 14"/>
          <p:cNvSpPr txBox="1"/>
          <p:nvPr/>
        </p:nvSpPr>
        <p:spPr>
          <a:xfrm>
            <a:off x="6675120" y="3575304"/>
            <a:ext cx="1920240" cy="237744"/>
          </a:xfrm>
          <a:prstGeom prst="rect">
            <a:avLst/>
          </a:prstGeom>
          <a:noFill/>
          <a:ln/>
        </p:spPr>
        <p:txBody>
          <a:bodyPr wrap="square" lIns="0" tIns="0" rIns="0" bIns="0" rtlCol="0" anchor="ctr"/>
          <a:lstStyle/>
          <a:p>
            <a:pPr marL="0" indent="0">
              <a:buNone/>
            </a:pPr>
            <a:r>
              <a:rPr lang="en-US" sz="1200" b="1" dirty="0">
                <a:solidFill>
                  <a:srgbClr val="2E86DE"/>
                </a:solidFill>
                <a:latin typeface="Arial" pitchFamily="34" charset="0"/>
                <a:ea typeface="Arial" pitchFamily="34" charset="-122"/>
                <a:cs typeface="Arial" pitchFamily="34" charset="-120"/>
              </a:rPr>
              <a:t>00:35</a:t>
            </a:r>
            <a:endParaRPr lang="en-US" sz="1200" dirty="0"/>
          </a:p>
        </p:txBody>
      </p:sp>
      <p:sp>
        <p:nvSpPr>
          <p:cNvPr id="17" name="Text 15"/>
          <p:cNvSpPr txBox="1"/>
          <p:nvPr/>
        </p:nvSpPr>
        <p:spPr>
          <a:xfrm>
            <a:off x="6675120" y="3813048"/>
            <a:ext cx="1920240" cy="329184"/>
          </a:xfrm>
          <a:prstGeom prst="rect">
            <a:avLst/>
          </a:prstGeom>
          <a:noFill/>
          <a:ln/>
        </p:spPr>
        <p:txBody>
          <a:bodyPr wrap="square" lIns="0" tIns="0" rIns="0" bIns="0" rtlCol="0" anchor="t"/>
          <a:lstStyle/>
          <a:p>
            <a:pPr marL="0" indent="0">
              <a:buNone/>
            </a:pPr>
            <a:r>
              <a:rPr lang="en-US" sz="1000" dirty="0">
                <a:solidFill>
                  <a:srgbClr val="5A6478"/>
                </a:solidFill>
                <a:latin typeface="Arial" pitchFamily="34" charset="0"/>
                <a:ea typeface="Arial" pitchFamily="34" charset="-122"/>
                <a:cs typeface="Arial" pitchFamily="34" charset="-120"/>
              </a:rPr>
              <a:t>Bị hất khỏi rìa đảo</a:t>
            </a:r>
            <a:endParaRPr lang="en-US" sz="1000" dirty="0"/>
          </a:p>
        </p:txBody>
      </p:sp>
      <p:sp>
        <p:nvSpPr>
          <p:cNvPr id="18" name="Text 16"/>
          <p:cNvSpPr txBox="1"/>
          <p:nvPr/>
        </p:nvSpPr>
        <p:spPr>
          <a:xfrm>
            <a:off x="411480" y="4315968"/>
            <a:ext cx="5897880" cy="274320"/>
          </a:xfrm>
          <a:prstGeom prst="rect">
            <a:avLst/>
          </a:prstGeom>
          <a:noFill/>
          <a:ln/>
        </p:spPr>
        <p:txBody>
          <a:bodyPr wrap="square" lIns="0" tIns="0" rIns="0" bIns="0" rtlCol="0" anchor="ctr"/>
          <a:lstStyle/>
          <a:p>
            <a:pPr marL="0" indent="0">
              <a:buNone/>
            </a:pPr>
            <a:r>
              <a:rPr lang="en-US" sz="1000" i="1" dirty="0">
                <a:solidFill>
                  <a:srgbClr val="5A6478"/>
                </a:solidFill>
                <a:latin typeface="Arial" pitchFamily="34" charset="0"/>
                <a:ea typeface="Arial" pitchFamily="34" charset="-122"/>
                <a:cs typeface="Arial" pitchFamily="34" charset="-120"/>
              </a:rPr>
              <a:t>Lưu ý khi trình chiếu: bấm F1 tắt bảng hướng dẫn trước khi quay, nếu không nó tự hiện ở pha chuẩn bị.</a:t>
            </a:r>
            <a:endParaRPr lang="en-US" sz="10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7. KẾT QUẢ ĐẠT ĐƯỢC</a:t>
            </a:r>
            <a:endParaRPr lang="en-US" sz="1700" dirty="0"/>
          </a:p>
        </p:txBody>
      </p:sp>
      <p:sp>
        <p:nvSpPr>
          <p:cNvPr id="3" name="card"/>
          <p:cNvSpPr/>
          <p:nvPr/>
        </p:nvSpPr>
        <p:spPr>
          <a:xfrm>
            <a:off x="411480" y="868680"/>
            <a:ext cx="201168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4" name="Text 2"/>
          <p:cNvSpPr txBox="1"/>
          <p:nvPr/>
        </p:nvSpPr>
        <p:spPr>
          <a:xfrm>
            <a:off x="411480" y="960120"/>
            <a:ext cx="2011680" cy="566928"/>
          </a:xfrm>
          <a:prstGeom prst="rect">
            <a:avLst/>
          </a:prstGeom>
          <a:noFill/>
          <a:ln/>
        </p:spPr>
        <p:txBody>
          <a:bodyPr wrap="square" lIns="0" tIns="0" rIns="0" bIns="0" rtlCol="0" anchor="ctr"/>
          <a:lstStyle/>
          <a:p>
            <a:pPr marL="0" indent="0" algn="ctr">
              <a:buNone/>
            </a:pPr>
            <a:r>
              <a:rPr lang="en-US" sz="3000" b="1" dirty="0">
                <a:solidFill>
                  <a:srgbClr val="002060"/>
                </a:solidFill>
                <a:latin typeface="Arial" pitchFamily="34" charset="0"/>
                <a:ea typeface="Arial" pitchFamily="34" charset="-122"/>
                <a:cs typeface="Arial" pitchFamily="34" charset="-120"/>
              </a:rPr>
              <a:t>85</a:t>
            </a:r>
            <a:endParaRPr lang="en-US" sz="3000" dirty="0"/>
          </a:p>
        </p:txBody>
      </p:sp>
      <p:sp>
        <p:nvSpPr>
          <p:cNvPr id="5" name="Text 3"/>
          <p:cNvSpPr txBox="1"/>
          <p:nvPr/>
        </p:nvSpPr>
        <p:spPr>
          <a:xfrm>
            <a:off x="484632" y="1527048"/>
            <a:ext cx="186537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khung hình/giây, bản build 1920x1080</a:t>
            </a:r>
            <a:endParaRPr lang="en-US" sz="1100" dirty="0"/>
          </a:p>
        </p:txBody>
      </p:sp>
      <p:sp>
        <p:nvSpPr>
          <p:cNvPr id="6" name="card"/>
          <p:cNvSpPr/>
          <p:nvPr/>
        </p:nvSpPr>
        <p:spPr>
          <a:xfrm>
            <a:off x="2606040" y="868680"/>
            <a:ext cx="201168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7" name="Text 5"/>
          <p:cNvSpPr txBox="1"/>
          <p:nvPr/>
        </p:nvSpPr>
        <p:spPr>
          <a:xfrm>
            <a:off x="2606040" y="960120"/>
            <a:ext cx="2011680" cy="566928"/>
          </a:xfrm>
          <a:prstGeom prst="rect">
            <a:avLst/>
          </a:prstGeom>
          <a:noFill/>
          <a:ln/>
        </p:spPr>
        <p:txBody>
          <a:bodyPr wrap="square" lIns="0" tIns="0" rIns="0" bIns="0" rtlCol="0" anchor="ctr"/>
          <a:lstStyle/>
          <a:p>
            <a:pPr marL="0" indent="0" algn="ctr">
              <a:buNone/>
            </a:pPr>
            <a:r>
              <a:rPr lang="en-US" sz="2600" b="1" dirty="0">
                <a:solidFill>
                  <a:srgbClr val="002060"/>
                </a:solidFill>
                <a:latin typeface="Arial" pitchFamily="34" charset="0"/>
                <a:ea typeface="Arial" pitchFamily="34" charset="-122"/>
                <a:cs typeface="Arial" pitchFamily="34" charset="-120"/>
              </a:rPr>
              <a:t>16 ms</a:t>
            </a:r>
            <a:endParaRPr lang="en-US" sz="2600" dirty="0"/>
          </a:p>
        </p:txBody>
      </p:sp>
      <p:sp>
        <p:nvSpPr>
          <p:cNvPr id="8" name="Text 6"/>
          <p:cNvSpPr txBox="1"/>
          <p:nvPr/>
        </p:nvSpPr>
        <p:spPr>
          <a:xfrm>
            <a:off x="2679192" y="1527048"/>
            <a:ext cx="186537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độ trễ tới máy chủ khu vực asia</a:t>
            </a:r>
            <a:endParaRPr lang="en-US" sz="1100" dirty="0"/>
          </a:p>
        </p:txBody>
      </p:sp>
      <p:sp>
        <p:nvSpPr>
          <p:cNvPr id="9" name="card"/>
          <p:cNvSpPr/>
          <p:nvPr/>
        </p:nvSpPr>
        <p:spPr>
          <a:xfrm>
            <a:off x="4800600" y="868680"/>
            <a:ext cx="187452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10" name="Text 8"/>
          <p:cNvSpPr txBox="1"/>
          <p:nvPr/>
        </p:nvSpPr>
        <p:spPr>
          <a:xfrm>
            <a:off x="4800600" y="960120"/>
            <a:ext cx="1874520" cy="566928"/>
          </a:xfrm>
          <a:prstGeom prst="rect">
            <a:avLst/>
          </a:prstGeom>
          <a:noFill/>
          <a:ln/>
        </p:spPr>
        <p:txBody>
          <a:bodyPr wrap="square" lIns="0" tIns="0" rIns="0" bIns="0" rtlCol="0" anchor="ctr"/>
          <a:lstStyle/>
          <a:p>
            <a:pPr marL="0" indent="0" algn="ctr">
              <a:buNone/>
            </a:pPr>
            <a:r>
              <a:rPr lang="en-US" sz="3000" b="1" dirty="0">
                <a:solidFill>
                  <a:srgbClr val="002060"/>
                </a:solidFill>
                <a:latin typeface="Arial" pitchFamily="34" charset="0"/>
                <a:ea typeface="Arial" pitchFamily="34" charset="-122"/>
                <a:cs typeface="Arial" pitchFamily="34" charset="-120"/>
              </a:rPr>
              <a:t>45</a:t>
            </a:r>
            <a:endParaRPr lang="en-US" sz="3000" dirty="0"/>
          </a:p>
        </p:txBody>
      </p:sp>
      <p:sp>
        <p:nvSpPr>
          <p:cNvPr id="11" name="Text 9"/>
          <p:cNvSpPr txBox="1"/>
          <p:nvPr/>
        </p:nvSpPr>
        <p:spPr>
          <a:xfrm>
            <a:off x="4873752" y="1527048"/>
            <a:ext cx="172821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tệp mã nguồn tự viết</a:t>
            </a:r>
            <a:endParaRPr lang="en-US" sz="1100" dirty="0"/>
          </a:p>
        </p:txBody>
      </p:sp>
      <p:sp>
        <p:nvSpPr>
          <p:cNvPr id="12" name="card"/>
          <p:cNvSpPr/>
          <p:nvPr/>
        </p:nvSpPr>
        <p:spPr>
          <a:xfrm>
            <a:off x="6858000" y="868680"/>
            <a:ext cx="1874520" cy="1005840"/>
          </a:xfrm>
          <a:prstGeom prst="roundRect">
            <a:avLst>
              <a:gd name="adj" fmla="val 5455"/>
            </a:avLst>
          </a:prstGeom>
          <a:solidFill>
            <a:srgbClr val="EFF3FA"/>
          </a:solidFill>
          <a:ln w="12700">
            <a:solidFill>
              <a:srgbClr val="C7D2E6"/>
            </a:solidFill>
            <a:prstDash val="solid"/>
          </a:ln>
        </p:spPr>
        <p:txBody>
          <a:bodyPr/>
          <a:lstStyle/>
          <a:p>
            <a:endParaRPr lang="en-US"/>
          </a:p>
        </p:txBody>
      </p:sp>
      <p:sp>
        <p:nvSpPr>
          <p:cNvPr id="13" name="Text 11"/>
          <p:cNvSpPr txBox="1"/>
          <p:nvPr/>
        </p:nvSpPr>
        <p:spPr>
          <a:xfrm>
            <a:off x="6858000" y="960120"/>
            <a:ext cx="1874520" cy="566928"/>
          </a:xfrm>
          <a:prstGeom prst="rect">
            <a:avLst/>
          </a:prstGeom>
          <a:noFill/>
          <a:ln/>
        </p:spPr>
        <p:txBody>
          <a:bodyPr wrap="square" lIns="0" tIns="0" rIns="0" bIns="0" rtlCol="0" anchor="ctr"/>
          <a:lstStyle/>
          <a:p>
            <a:pPr marL="0" indent="0" algn="ctr">
              <a:buNone/>
            </a:pPr>
            <a:r>
              <a:rPr lang="en-US" sz="3000" b="1" dirty="0">
                <a:solidFill>
                  <a:srgbClr val="002060"/>
                </a:solidFill>
                <a:latin typeface="Arial" pitchFamily="34" charset="0"/>
                <a:ea typeface="Arial" pitchFamily="34" charset="-122"/>
                <a:cs typeface="Arial" pitchFamily="34" charset="-120"/>
              </a:rPr>
              <a:t>4</a:t>
            </a:r>
            <a:endParaRPr lang="en-US" sz="3000" dirty="0"/>
          </a:p>
        </p:txBody>
      </p:sp>
      <p:sp>
        <p:nvSpPr>
          <p:cNvPr id="14" name="Text 12"/>
          <p:cNvSpPr txBox="1"/>
          <p:nvPr/>
        </p:nvSpPr>
        <p:spPr>
          <a:xfrm>
            <a:off x="6931152" y="1527048"/>
            <a:ext cx="1728216" cy="274320"/>
          </a:xfrm>
          <a:prstGeom prst="rect">
            <a:avLst/>
          </a:prstGeom>
          <a:noFill/>
          <a:ln/>
        </p:spPr>
        <p:txBody>
          <a:bodyPr wrap="square" lIns="0" tIns="0" rIns="0" bIns="0" rtlCol="0" anchor="t"/>
          <a:lstStyle/>
          <a:p>
            <a:pPr marL="0" indent="0" algn="ctr">
              <a:buNone/>
            </a:pPr>
            <a:r>
              <a:rPr lang="en-US" sz="1100" dirty="0">
                <a:solidFill>
                  <a:srgbClr val="5A6478"/>
                </a:solidFill>
                <a:latin typeface="Arial" pitchFamily="34" charset="0"/>
                <a:ea typeface="Arial" pitchFamily="34" charset="-122"/>
                <a:cs typeface="Arial" pitchFamily="34" charset="-120"/>
              </a:rPr>
              <a:t>chương báo cáo, 48 trang</a:t>
            </a:r>
            <a:endParaRPr lang="en-US" sz="1100" dirty="0"/>
          </a:p>
        </p:txBody>
      </p:sp>
      <p:sp>
        <p:nvSpPr>
          <p:cNvPr id="15" name="card"/>
          <p:cNvSpPr/>
          <p:nvPr/>
        </p:nvSpPr>
        <p:spPr>
          <a:xfrm>
            <a:off x="411480" y="2029968"/>
            <a:ext cx="4069080" cy="2542032"/>
          </a:xfrm>
          <a:prstGeom prst="roundRect">
            <a:avLst>
              <a:gd name="adj" fmla="val 2158"/>
            </a:avLst>
          </a:prstGeom>
          <a:solidFill>
            <a:srgbClr val="EFF3FA"/>
          </a:solidFill>
          <a:ln w="12700">
            <a:solidFill>
              <a:srgbClr val="C7D2E6"/>
            </a:solidFill>
            <a:prstDash val="solid"/>
          </a:ln>
        </p:spPr>
        <p:txBody>
          <a:bodyPr/>
          <a:lstStyle/>
          <a:p>
            <a:endParaRPr lang="en-US"/>
          </a:p>
        </p:txBody>
      </p:sp>
      <p:sp>
        <p:nvSpPr>
          <p:cNvPr id="16" name="Text 14"/>
          <p:cNvSpPr txBox="1"/>
          <p:nvPr/>
        </p:nvSpPr>
        <p:spPr>
          <a:xfrm>
            <a:off x="576072" y="2121408"/>
            <a:ext cx="374904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TÍNH NĂNG ĐÃ HOÀN THÀNH</a:t>
            </a:r>
            <a:endParaRPr lang="en-US" sz="1200" dirty="0"/>
          </a:p>
        </p:txBody>
      </p:sp>
      <p:sp>
        <p:nvSpPr>
          <p:cNvPr id="17" name="Text 15"/>
          <p:cNvSpPr txBox="1"/>
          <p:nvPr/>
        </p:nvSpPr>
        <p:spPr>
          <a:xfrm>
            <a:off x="57607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Trận 2v2 đầy đủ qua mạng, có thắng thua và Overtime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Bốn loại đạn, cận chiến, kéo áp sát, túi đồ</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Quá Tải thay thanh máu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Khu chiếm đóng, kinh tế, cửa hàng 5 vật phẩm</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HUD, menu, phòng chờ, cài đặt, bảng kết quả</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Âm thanh, nhạc nền, lồng tiếng thông báo</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Chế độ quan sát khi bị loại khỏi round</a:t>
            </a:r>
            <a:endParaRPr lang="en-US" sz="1150" dirty="0"/>
          </a:p>
        </p:txBody>
      </p:sp>
      <p:sp>
        <p:nvSpPr>
          <p:cNvPr id="18" name="card"/>
          <p:cNvSpPr/>
          <p:nvPr/>
        </p:nvSpPr>
        <p:spPr>
          <a:xfrm>
            <a:off x="4663440" y="2029968"/>
            <a:ext cx="4069080" cy="2542032"/>
          </a:xfrm>
          <a:prstGeom prst="roundRect">
            <a:avLst>
              <a:gd name="adj" fmla="val 2158"/>
            </a:avLst>
          </a:prstGeom>
          <a:solidFill>
            <a:srgbClr val="EFF3FA"/>
          </a:solidFill>
          <a:ln w="12700">
            <a:solidFill>
              <a:srgbClr val="C7D2E6"/>
            </a:solidFill>
            <a:prstDash val="solid"/>
          </a:ln>
        </p:spPr>
        <p:txBody>
          <a:bodyPr/>
          <a:lstStyle/>
          <a:p>
            <a:endParaRPr lang="en-US"/>
          </a:p>
        </p:txBody>
      </p:sp>
      <p:sp>
        <p:nvSpPr>
          <p:cNvPr id="19" name="Text 17"/>
          <p:cNvSpPr txBox="1"/>
          <p:nvPr/>
        </p:nvSpPr>
        <p:spPr>
          <a:xfrm>
            <a:off x="4828032" y="2121408"/>
            <a:ext cx="374904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VỀ MẶT KỸ THUẬT</a:t>
            </a:r>
            <a:endParaRPr lang="en-US" sz="1200" dirty="0"/>
          </a:p>
        </p:txBody>
      </p:sp>
      <p:sp>
        <p:nvSpPr>
          <p:cNvPr id="20" name="Text 18"/>
          <p:cNvSpPr txBox="1"/>
          <p:nvPr/>
        </p:nvSpPr>
        <p:spPr>
          <a:xfrm>
            <a:off x="4828032" y="2414016"/>
            <a:ext cx="3749040" cy="205740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Đồng bộ được vật thể có vật lý qua mạng — phần khó nhất của đề tài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Xử lý dứt điểm ba lớp lỗi đặc trưng của mô hình tua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Không còn lỗi treo hay tắt đột ngột sau khi sửa</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Người chơi thoát giữa trận không làm hỏng trận đấu</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Toàn bộ tài nguyên bên thứ ba đều được khai báo và kiểm giấy phép</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8. HƯỚNG PHÁT TRIỂN  ·  9. KẾT LUẬN</a:t>
            </a:r>
            <a:endParaRPr lang="en-US" sz="1700" dirty="0"/>
          </a:p>
        </p:txBody>
      </p:sp>
      <p:sp>
        <p:nvSpPr>
          <p:cNvPr id="3" name="card"/>
          <p:cNvSpPr/>
          <p:nvPr/>
        </p:nvSpPr>
        <p:spPr>
          <a:xfrm>
            <a:off x="411480" y="868680"/>
            <a:ext cx="4069080" cy="1783080"/>
          </a:xfrm>
          <a:prstGeom prst="roundRect">
            <a:avLst>
              <a:gd name="adj" fmla="val 3077"/>
            </a:avLst>
          </a:prstGeom>
          <a:solidFill>
            <a:srgbClr val="EFF3FA"/>
          </a:solidFill>
          <a:ln w="12700">
            <a:solidFill>
              <a:srgbClr val="C7D2E6"/>
            </a:solidFill>
            <a:prstDash val="solid"/>
          </a:ln>
        </p:spPr>
        <p:txBody>
          <a:bodyPr/>
          <a:lstStyle/>
          <a:p>
            <a:endParaRPr lang="en-US"/>
          </a:p>
        </p:txBody>
      </p:sp>
      <p:sp>
        <p:nvSpPr>
          <p:cNvPr id="4" name="Text 2"/>
          <p:cNvSpPr txBox="1"/>
          <p:nvPr/>
        </p:nvSpPr>
        <p:spPr>
          <a:xfrm>
            <a:off x="576072" y="960120"/>
            <a:ext cx="374904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HẠN CHẾ CÒN LẠI</a:t>
            </a:r>
            <a:endParaRPr lang="en-US" sz="1200" dirty="0"/>
          </a:p>
        </p:txBody>
      </p:sp>
      <p:sp>
        <p:nvSpPr>
          <p:cNvPr id="5" name="Text 3"/>
          <p:cNvSpPr txBox="1"/>
          <p:nvPr/>
        </p:nvSpPr>
        <p:spPr>
          <a:xfrm>
            <a:off x="57607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Mới có một bản đồ, nên lối chơi dễ lặp lại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bot máy, bắt buộc đủ người thật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Chặn người vào giữa trận, không thay thế được người thoát</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Chưa có hệ thống tiến trình giữa các trận</a:t>
            </a:r>
            <a:endParaRPr lang="en-US" sz="1150" dirty="0"/>
          </a:p>
        </p:txBody>
      </p:sp>
      <p:sp>
        <p:nvSpPr>
          <p:cNvPr id="6" name="card"/>
          <p:cNvSpPr/>
          <p:nvPr/>
        </p:nvSpPr>
        <p:spPr>
          <a:xfrm>
            <a:off x="4663440" y="868680"/>
            <a:ext cx="4069080" cy="1783080"/>
          </a:xfrm>
          <a:prstGeom prst="roundRect">
            <a:avLst>
              <a:gd name="adj" fmla="val 3077"/>
            </a:avLst>
          </a:prstGeom>
          <a:solidFill>
            <a:srgbClr val="EFF3FA"/>
          </a:solidFill>
          <a:ln w="12700">
            <a:solidFill>
              <a:srgbClr val="C7D2E6"/>
            </a:solidFill>
            <a:prstDash val="solid"/>
          </a:ln>
        </p:spPr>
        <p:txBody>
          <a:bodyPr/>
          <a:lstStyle/>
          <a:p>
            <a:endParaRPr lang="en-US"/>
          </a:p>
        </p:txBody>
      </p:sp>
      <p:sp>
        <p:nvSpPr>
          <p:cNvPr id="7" name="Text 5"/>
          <p:cNvSpPr txBox="1"/>
          <p:nvPr/>
        </p:nvSpPr>
        <p:spPr>
          <a:xfrm>
            <a:off x="4828032" y="960120"/>
            <a:ext cx="3749040" cy="256032"/>
          </a:xfrm>
          <a:prstGeom prst="rect">
            <a:avLst/>
          </a:prstGeom>
          <a:noFill/>
          <a:ln/>
        </p:spPr>
        <p:txBody>
          <a:bodyPr wrap="square" lIns="0" tIns="0" rIns="0" bIns="0" rtlCol="0" anchor="ctr"/>
          <a:lstStyle/>
          <a:p>
            <a:pPr marL="0" indent="0">
              <a:buNone/>
            </a:pPr>
            <a:r>
              <a:rPr lang="en-US" sz="1200" b="1" dirty="0">
                <a:solidFill>
                  <a:srgbClr val="002060"/>
                </a:solidFill>
                <a:latin typeface="Arial" pitchFamily="34" charset="0"/>
                <a:ea typeface="Arial" pitchFamily="34" charset="-122"/>
                <a:cs typeface="Arial" pitchFamily="34" charset="-120"/>
              </a:rPr>
              <a:t>HƯỚNG PHÁT TRIỂN</a:t>
            </a:r>
            <a:endParaRPr lang="en-US" sz="1200" dirty="0"/>
          </a:p>
        </p:txBody>
      </p:sp>
      <p:sp>
        <p:nvSpPr>
          <p:cNvPr id="8" name="Text 6"/>
          <p:cNvSpPr txBox="1"/>
          <p:nvPr/>
        </p:nvSpPr>
        <p:spPr>
          <a:xfrm>
            <a:off x="4828032" y="1252728"/>
            <a:ext cx="3749040" cy="132588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Thêm bản đồ và thêm loại vật thể từ tính mới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Mở rộng quy mô lên 3v3 hoặc 4v4</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Chuyển sang máy chủ chuyên dụng thay cho Host Mode</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Bổ sung hệ thống tiến trình, giao diện tuỳ biến</a:t>
            </a:r>
            <a:endParaRPr lang="en-US" sz="1150" dirty="0"/>
          </a:p>
        </p:txBody>
      </p:sp>
      <p:sp>
        <p:nvSpPr>
          <p:cNvPr id="9" name="card"/>
          <p:cNvSpPr/>
          <p:nvPr/>
        </p:nvSpPr>
        <p:spPr>
          <a:xfrm>
            <a:off x="411480" y="2834640"/>
            <a:ext cx="8321040" cy="1737360"/>
          </a:xfrm>
          <a:prstGeom prst="roundRect">
            <a:avLst>
              <a:gd name="adj" fmla="val 3158"/>
            </a:avLst>
          </a:prstGeom>
          <a:solidFill>
            <a:srgbClr val="F3F7FD"/>
          </a:solidFill>
          <a:ln w="12700">
            <a:solidFill>
              <a:srgbClr val="C7D2E6"/>
            </a:solidFill>
            <a:prstDash val="solid"/>
          </a:ln>
        </p:spPr>
        <p:txBody>
          <a:bodyPr/>
          <a:lstStyle/>
          <a:p>
            <a:endParaRPr lang="en-US"/>
          </a:p>
        </p:txBody>
      </p:sp>
      <p:sp>
        <p:nvSpPr>
          <p:cNvPr id="10" name="Text 8"/>
          <p:cNvSpPr txBox="1"/>
          <p:nvPr/>
        </p:nvSpPr>
        <p:spPr>
          <a:xfrm>
            <a:off x="576072" y="2926080"/>
            <a:ext cx="2743200" cy="256032"/>
          </a:xfrm>
          <a:prstGeom prst="rect">
            <a:avLst/>
          </a:prstGeom>
          <a:noFill/>
          <a:ln/>
        </p:spPr>
        <p:txBody>
          <a:bodyPr wrap="square" lIns="0" tIns="0" rIns="0" bIns="0" rtlCol="0" anchor="ctr"/>
          <a:lstStyle/>
          <a:p>
            <a:pPr marL="0" indent="0">
              <a:buNone/>
            </a:pPr>
            <a:r>
              <a:rPr lang="en-US" sz="1250" b="1" dirty="0">
                <a:solidFill>
                  <a:srgbClr val="002060"/>
                </a:solidFill>
                <a:latin typeface="Arial" pitchFamily="34" charset="0"/>
                <a:ea typeface="Arial" pitchFamily="34" charset="-122"/>
                <a:cs typeface="Arial" pitchFamily="34" charset="-120"/>
              </a:rPr>
              <a:t>KẾT LUẬN</a:t>
            </a:r>
            <a:endParaRPr lang="en-US" sz="1250" dirty="0"/>
          </a:p>
        </p:txBody>
      </p:sp>
      <p:sp>
        <p:nvSpPr>
          <p:cNvPr id="11" name="Text 9"/>
          <p:cNvSpPr txBox="1"/>
          <p:nvPr/>
        </p:nvSpPr>
        <p:spPr>
          <a:xfrm>
            <a:off x="576072" y="3218688"/>
            <a:ext cx="8001000" cy="1280160"/>
          </a:xfrm>
          <a:prstGeom prst="rect">
            <a:avLst/>
          </a:prstGeom>
          <a:noFill/>
          <a:ln/>
        </p:spPr>
        <p:txBody>
          <a:bodyPr wrap="square" lIns="0" tIns="0" rIns="0" bIns="0" rtlCol="0" anchor="t"/>
          <a:lstStyle/>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hoàn thành một game FPS đối kháng 2v2 chơi qua mạng, có đầy đủ vòng trận, điều kiện thắng thua, giao diện, hình ảnh và âm thanh</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nắm được cách vận hành của mô hình mạng dự đoán và tua lại — gồm cả những cái bẫy mà tài liệu chính thức không nói tới</a:t>
            </a:r>
            <a:endParaRPr lang="en-US" sz="1150" dirty="0"/>
          </a:p>
          <a:p>
            <a:pPr marL="342900" indent="-342900">
              <a:lnSpc>
                <a:spcPct val="105000"/>
              </a:lnSpc>
              <a:spcAft>
                <a:spcPts val="700"/>
              </a:spcAft>
              <a:buSzPct val="100000"/>
              <a:buChar char="•"/>
            </a:pPr>
            <a:r>
              <a:rPr lang="en-US" sz="1150" dirty="0">
                <a:solidFill>
                  <a:srgbClr val="1A1A1A"/>
                </a:solidFill>
                <a:latin typeface="Arial" pitchFamily="34" charset="0"/>
                <a:ea typeface="Arial" pitchFamily="34" charset="-122"/>
                <a:cs typeface="Arial" pitchFamily="34" charset="-120"/>
              </a:rPr>
              <a:t>Đã chứng minh được rằng một cơ chế thay thế thanh máu là khả thi và tạo ra lối chơi khác biệt, không chỉ là ý tưởng trên giấy</a:t>
            </a:r>
            <a:endParaRPr lang="en-US" sz="11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1874520"/>
            <a:ext cx="8046720" cy="685800"/>
          </a:xfrm>
          <a:prstGeom prst="rect">
            <a:avLst/>
          </a:prstGeom>
          <a:noFill/>
          <a:ln/>
        </p:spPr>
        <p:txBody>
          <a:bodyPr wrap="square" lIns="0" tIns="0" rIns="0" bIns="0" rtlCol="0" anchor="ctr"/>
          <a:lstStyle/>
          <a:p>
            <a:pPr marL="0" indent="0" algn="ctr">
              <a:buNone/>
            </a:pPr>
            <a:r>
              <a:rPr lang="en-US" sz="3400" b="1" dirty="0">
                <a:solidFill>
                  <a:srgbClr val="FFFFFF"/>
                </a:solidFill>
                <a:latin typeface="Arial" pitchFamily="34" charset="0"/>
                <a:ea typeface="Arial" pitchFamily="34" charset="-122"/>
                <a:cs typeface="Arial" pitchFamily="34" charset="-120"/>
              </a:rPr>
              <a:t>CẢM ƠN HỘI ĐỒNG ĐÃ LẮNG NGHE</a:t>
            </a:r>
            <a:endParaRPr lang="en-US" sz="3400" dirty="0"/>
          </a:p>
        </p:txBody>
      </p:sp>
      <p:sp>
        <p:nvSpPr>
          <p:cNvPr id="3" name="Text 1"/>
          <p:cNvSpPr txBox="1"/>
          <p:nvPr/>
        </p:nvSpPr>
        <p:spPr>
          <a:xfrm>
            <a:off x="548640" y="2606040"/>
            <a:ext cx="8046720" cy="365760"/>
          </a:xfrm>
          <a:prstGeom prst="rect">
            <a:avLst/>
          </a:prstGeom>
          <a:noFill/>
          <a:ln/>
        </p:spPr>
        <p:txBody>
          <a:bodyPr wrap="square" lIns="0" tIns="0" rIns="0" bIns="0" rtlCol="0" anchor="ctr"/>
          <a:lstStyle/>
          <a:p>
            <a:pPr marL="0" indent="0" algn="ctr">
              <a:buNone/>
            </a:pPr>
            <a:r>
              <a:rPr lang="en-US" sz="1500" dirty="0">
                <a:solidFill>
                  <a:srgbClr val="C8D6EF"/>
                </a:solidFill>
                <a:latin typeface="Arial" pitchFamily="34" charset="0"/>
                <a:ea typeface="Arial" pitchFamily="34" charset="-122"/>
                <a:cs typeface="Arial" pitchFamily="34" charset="-120"/>
              </a:rPr>
              <a:t>Rất mong nhận được câu hỏi và góp ý từ hội đồng</a:t>
            </a:r>
            <a:endParaRPr lang="en-US" sz="1500" dirty="0"/>
          </a:p>
        </p:txBody>
      </p:sp>
      <p:sp>
        <p:nvSpPr>
          <p:cNvPr id="4" name="Shape 2"/>
          <p:cNvSpPr/>
          <p:nvPr/>
        </p:nvSpPr>
        <p:spPr>
          <a:xfrm>
            <a:off x="4315968" y="3200400"/>
            <a:ext cx="164592" cy="164592"/>
          </a:xfrm>
          <a:prstGeom prst="ellipse">
            <a:avLst/>
          </a:prstGeom>
          <a:solidFill>
            <a:srgbClr val="E8453C"/>
          </a:solidFill>
          <a:ln w="12700">
            <a:solidFill>
              <a:srgbClr val="333333"/>
            </a:solidFill>
            <a:prstDash val="solid"/>
          </a:ln>
        </p:spPr>
        <p:txBody>
          <a:bodyPr/>
          <a:lstStyle/>
          <a:p>
            <a:endParaRPr lang="en-US"/>
          </a:p>
        </p:txBody>
      </p:sp>
      <p:sp>
        <p:nvSpPr>
          <p:cNvPr id="5" name="Shape 3"/>
          <p:cNvSpPr/>
          <p:nvPr/>
        </p:nvSpPr>
        <p:spPr>
          <a:xfrm>
            <a:off x="4663440" y="3200400"/>
            <a:ext cx="164592" cy="164592"/>
          </a:xfrm>
          <a:prstGeom prst="ellipse">
            <a:avLst/>
          </a:prstGeom>
          <a:solidFill>
            <a:srgbClr val="2E86DE"/>
          </a:solidFill>
          <a:ln w="12700">
            <a:solidFill>
              <a:srgbClr val="333333"/>
            </a:solidFill>
            <a:prstDash val="solid"/>
          </a:ln>
        </p:spPr>
        <p:txBody>
          <a:bodyPr/>
          <a:lstStyle/>
          <a:p>
            <a:endParaRPr lang="en-US"/>
          </a:p>
        </p:txBody>
      </p:sp>
      <p:sp>
        <p:nvSpPr>
          <p:cNvPr id="6" name="Text 4"/>
          <p:cNvSpPr txBox="1"/>
          <p:nvPr/>
        </p:nvSpPr>
        <p:spPr>
          <a:xfrm>
            <a:off x="548640" y="3931920"/>
            <a:ext cx="8046720" cy="274320"/>
          </a:xfrm>
          <a:prstGeom prst="rect">
            <a:avLst/>
          </a:prstGeom>
          <a:noFill/>
          <a:ln/>
        </p:spPr>
        <p:txBody>
          <a:bodyPr wrap="square" lIns="0" tIns="0" rIns="0" bIns="0" rtlCol="0" anchor="ctr"/>
          <a:lstStyle/>
          <a:p>
            <a:pPr marL="0" indent="0" algn="ctr">
              <a:buNone/>
            </a:pPr>
            <a:r>
              <a:rPr lang="en-US" sz="1100" dirty="0">
                <a:solidFill>
                  <a:srgbClr val="9FB5DA"/>
                </a:solidFill>
                <a:latin typeface="Arial" pitchFamily="34" charset="0"/>
                <a:ea typeface="Arial" pitchFamily="34" charset="-122"/>
                <a:cs typeface="Arial" pitchFamily="34" charset="-120"/>
              </a:rPr>
              <a:t>MAGNETO-DOME  ·  Nguyễn Hoàng Gia Khiêm  ·  K24M-GAME1</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DỰ PHÒNG 1 — TIẾN ĐỘ THỰC HIỆN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marL="0" indent="0">
              <a:buNone/>
            </a:pPr>
            <a:r>
              <a:rPr lang="en-US" sz="1350" b="1" dirty="0">
                <a:solidFill>
                  <a:srgbClr val="002060"/>
                </a:solidFill>
                <a:latin typeface="Arial" pitchFamily="34" charset="0"/>
                <a:ea typeface="Arial" pitchFamily="34" charset="-122"/>
                <a:cs typeface="Arial" pitchFamily="34" charset="-120"/>
              </a:rPr>
              <a:t>Mở slide này khi hội đồng hỏi: em làm trong bao lâu, chia công việc thế nào?</a:t>
            </a:r>
            <a:endParaRPr lang="en-US" sz="13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463040">
                  <a:extLst>
                    <a:ext uri="{9D8B030D-6E8A-4147-A177-3AD203B41FA5}">
                      <a16:colId xmlns:a16="http://schemas.microsoft.com/office/drawing/2014/main" val="20000"/>
                    </a:ext>
                  </a:extLst>
                </a:gridCol>
                <a:gridCol w="512064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tblGrid>
              <a:tr h="475488">
                <a:tc>
                  <a:txBody>
                    <a:bodyPr/>
                    <a:lstStyle/>
                    <a:p>
                      <a:pPr marL="0" indent="0" algn="l">
                        <a:buNone/>
                      </a:pPr>
                      <a:r>
                        <a:rPr lang="en-US" sz="1150" b="1" dirty="0">
                          <a:solidFill>
                            <a:srgbClr val="FFFFFF"/>
                          </a:solidFill>
                          <a:latin typeface="Arial" pitchFamily="34" charset="0"/>
                          <a:ea typeface="Arial" pitchFamily="34" charset="-122"/>
                          <a:cs typeface="Arial" pitchFamily="34" charset="-120"/>
                        </a:rPr>
                        <a:t>Mốc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50" b="1" dirty="0">
                          <a:solidFill>
                            <a:srgbClr val="FFFFFF"/>
                          </a:solidFill>
                          <a:latin typeface="Arial" pitchFamily="34" charset="0"/>
                          <a:ea typeface="Arial" pitchFamily="34" charset="-122"/>
                          <a:cs typeface="Arial" pitchFamily="34" charset="-120"/>
                        </a:rPr>
                        <a:t>Nội dung chính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50" b="1" dirty="0">
                          <a:solidFill>
                            <a:srgbClr val="FFFFFF"/>
                          </a:solidFill>
                          <a:latin typeface="Arial" pitchFamily="34" charset="0"/>
                          <a:ea typeface="Arial" pitchFamily="34" charset="-122"/>
                          <a:cs typeface="Arial" pitchFamily="34" charset="-120"/>
                        </a:rPr>
                        <a:t>Kết quả</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extLst>
                  <a:ext uri="{0D108BD9-81ED-4DB2-BD59-A6C34878D82A}">
                    <a16:rowId xmlns:a16="http://schemas.microsoft.com/office/drawing/2014/main" val="10000"/>
                  </a:ext>
                </a:extLst>
              </a:tr>
              <a:tr h="475488">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Giai đoạn 1</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Gameplay chạy một máy: di chuyển, găng tay từ tính, vật thể, cận chiến</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Chơi được offline</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1"/>
                  </a:ext>
                </a:extLst>
              </a:tr>
              <a:tr h="475488">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Giai đoạn 2</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Chuyển toàn bộ sang Photon Fusion 2 Host Mode, đồng bộ vật lý</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Hai máy chơi được</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Giai đoạn 3</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Vòng round, kinh tế, cửa hàng, HUD, menu, âm thanh, cài đặt</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Trận đấu hoàn chỉnh</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Giai đoạn 4</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Cân bằng số liệu, kiểm thử hai máy, sửa lỗi, viết báo cáo</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50" dirty="0">
                          <a:solidFill>
                            <a:srgbClr val="1A1A1A"/>
                          </a:solidFill>
                          <a:latin typeface="Arial" pitchFamily="34" charset="0"/>
                          <a:ea typeface="Arial" pitchFamily="34" charset="-122"/>
                          <a:cs typeface="Arial" pitchFamily="34" charset="-120"/>
                        </a:rPr>
                        <a:t>Sẵn sàng bảo vệ</a:t>
                      </a:r>
                      <a:endParaRPr lang="en-US" sz="115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5" name="card"/>
          <p:cNvSpPr/>
          <p:nvPr/>
        </p:nvSpPr>
        <p:spPr>
          <a:xfrm>
            <a:off x="411480" y="3566160"/>
            <a:ext cx="8321040" cy="914400"/>
          </a:xfrm>
          <a:prstGeom prst="roundRect">
            <a:avLst>
              <a:gd name="adj" fmla="val 6000"/>
            </a:avLst>
          </a:prstGeom>
          <a:solidFill>
            <a:srgbClr val="F3F7FD"/>
          </a:solidFill>
          <a:ln w="12700">
            <a:solidFill>
              <a:srgbClr val="C7D2E6"/>
            </a:solidFill>
            <a:prstDash val="solid"/>
          </a:ln>
        </p:spPr>
        <p:txBody>
          <a:bodyPr/>
          <a:lstStyle/>
          <a:p>
            <a:endParaRPr lang="en-US"/>
          </a:p>
        </p:txBody>
      </p:sp>
      <p:sp>
        <p:nvSpPr>
          <p:cNvPr id="6" name="Text 3"/>
          <p:cNvSpPr txBox="1"/>
          <p:nvPr/>
        </p:nvSpPr>
        <p:spPr>
          <a:xfrm>
            <a:off x="576072" y="3730752"/>
            <a:ext cx="8001000" cy="640080"/>
          </a:xfrm>
          <a:prstGeom prst="rect">
            <a:avLst/>
          </a:prstGeom>
          <a:noFill/>
          <a:ln/>
        </p:spPr>
        <p:txBody>
          <a:bodyPr wrap="square" lIns="0" tIns="0" rIns="0" bIns="0" rtlCol="0" anchor="t"/>
          <a:lstStyle/>
          <a:p>
            <a:pPr marL="0" indent="0">
              <a:buNone/>
            </a:pPr>
            <a:r>
              <a:rPr lang="en-US" sz="1200" dirty="0">
                <a:solidFill>
                  <a:srgbClr val="1A1A1A"/>
                </a:solidFill>
                <a:latin typeface="Arial" pitchFamily="34" charset="0"/>
                <a:ea typeface="Arial" pitchFamily="34" charset="-122"/>
                <a:cs typeface="Arial" pitchFamily="34" charset="-120"/>
              </a:rPr>
              <a:t>Toàn bộ đồ án do một người thực hiện: thiết kế lối chơi, lập trình, dựng cảnh, xử lý âm thanh và viết tài liệu. Không có thành viên nào khác.</a:t>
            </a:r>
            <a:endParaRPr lang="en-US" sz="12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DỰ PHÒNG 2 — BẢNG SỐ LIỆU CÂN BẰNG</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marL="0" indent="0">
              <a:buNone/>
            </a:pPr>
            <a:r>
              <a:rPr lang="en-US" sz="1350" b="1" dirty="0">
                <a:solidFill>
                  <a:srgbClr val="002060"/>
                </a:solidFill>
                <a:latin typeface="Arial" pitchFamily="34" charset="0"/>
                <a:ea typeface="Arial" pitchFamily="34" charset="-122"/>
                <a:cs typeface="Arial" pitchFamily="34" charset="-120"/>
              </a:rPr>
              <a:t>Mở slide này khi hội đồng hỏi: các con số trong game dựa vào đâu?</a:t>
            </a:r>
            <a:endParaRPr lang="en-US" sz="13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651760">
                  <a:extLst>
                    <a:ext uri="{9D8B030D-6E8A-4147-A177-3AD203B41FA5}">
                      <a16:colId xmlns:a16="http://schemas.microsoft.com/office/drawing/2014/main" val="20000"/>
                    </a:ext>
                  </a:extLst>
                </a:gridCol>
                <a:gridCol w="1508760">
                  <a:extLst>
                    <a:ext uri="{9D8B030D-6E8A-4147-A177-3AD203B41FA5}">
                      <a16:colId xmlns:a16="http://schemas.microsoft.com/office/drawing/2014/main" val="20001"/>
                    </a:ext>
                  </a:extLst>
                </a:gridCol>
                <a:gridCol w="2651760">
                  <a:extLst>
                    <a:ext uri="{9D8B030D-6E8A-4147-A177-3AD203B41FA5}">
                      <a16:colId xmlns:a16="http://schemas.microsoft.com/office/drawing/2014/main" val="20002"/>
                    </a:ext>
                  </a:extLst>
                </a:gridCol>
                <a:gridCol w="1508760">
                  <a:extLst>
                    <a:ext uri="{9D8B030D-6E8A-4147-A177-3AD203B41FA5}">
                      <a16:colId xmlns:a16="http://schemas.microsoft.com/office/drawing/2014/main" val="20003"/>
                    </a:ext>
                  </a:extLst>
                </a:gridCol>
              </a:tblGrid>
              <a:tr h="365760">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Giá trị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extLst>
                  <a:ext uri="{0D108BD9-81ED-4DB2-BD59-A6C34878D82A}">
                    <a16:rowId xmlns:a16="http://schemas.microsoft.com/office/drawing/2014/main" val="10000"/>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Thang điện tích tối đa</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Pha chuẩn bị</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15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Hệ số lực văng khi đầy điện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x4,0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Pha chiến đấu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300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Hệ số nhân điện tích nhận vào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x1,5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Chiếm khu để thắng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60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Điện tích: Normal / Heavy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10 / 20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Hồi sinh sau khi rơi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5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Điện tích: Spike /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25 / 35</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Bất tử sau hồi sinh</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2 giây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Bán kính nổ TNT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6 mét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Thắng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5 round, cách biệt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Thưởng thắng / thua round</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$150 / $100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Trần ví</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$750</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DỰ PHÒNG 3 — KIẾN TRÚC MÃ NGUỒN</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marL="0" indent="0">
              <a:buNone/>
            </a:pPr>
            <a:r>
              <a:rPr lang="en-US" sz="1350" b="1" dirty="0">
                <a:solidFill>
                  <a:srgbClr val="002060"/>
                </a:solidFill>
                <a:latin typeface="Arial" pitchFamily="34" charset="0"/>
                <a:ea typeface="Arial" pitchFamily="34" charset="-122"/>
                <a:cs typeface="Arial" pitchFamily="34" charset="-120"/>
              </a:rPr>
              <a:t>Mở slide này khi hội đồng hỏi: code em tổ chức như thế nào?</a:t>
            </a:r>
            <a:endParaRPr lang="en-US" sz="1350" dirty="0"/>
          </a:p>
        </p:txBody>
      </p:sp>
      <p:sp>
        <p:nvSpPr>
          <p:cNvPr id="4" name="card"/>
          <p:cNvSpPr/>
          <p:nvPr/>
        </p:nvSpPr>
        <p:spPr>
          <a:xfrm>
            <a:off x="411480" y="1298448"/>
            <a:ext cx="8321040" cy="576072"/>
          </a:xfrm>
          <a:prstGeom prst="roundRect">
            <a:avLst>
              <a:gd name="adj" fmla="val 9524"/>
            </a:avLst>
          </a:prstGeom>
          <a:solidFill>
            <a:srgbClr val="EFF3FA"/>
          </a:solidFill>
          <a:ln w="12700">
            <a:solidFill>
              <a:srgbClr val="C7D2E6"/>
            </a:solidFill>
            <a:prstDash val="solid"/>
          </a:ln>
        </p:spPr>
        <p:txBody>
          <a:bodyPr/>
          <a:lstStyle/>
          <a:p>
            <a:endParaRPr lang="en-US"/>
          </a:p>
        </p:txBody>
      </p:sp>
      <p:sp>
        <p:nvSpPr>
          <p:cNvPr id="5" name="Shape 3"/>
          <p:cNvSpPr/>
          <p:nvPr/>
        </p:nvSpPr>
        <p:spPr>
          <a:xfrm>
            <a:off x="557784" y="1490472"/>
            <a:ext cx="182880" cy="182880"/>
          </a:xfrm>
          <a:prstGeom prst="ellipse">
            <a:avLst/>
          </a:prstGeom>
          <a:solidFill>
            <a:srgbClr val="2E86DE"/>
          </a:solidFill>
          <a:ln w="12700">
            <a:solidFill>
              <a:srgbClr val="333333"/>
            </a:solidFill>
            <a:prstDash val="solid"/>
          </a:ln>
        </p:spPr>
        <p:txBody>
          <a:bodyPr/>
          <a:lstStyle/>
          <a:p>
            <a:endParaRPr lang="en-US"/>
          </a:p>
        </p:txBody>
      </p:sp>
      <p:sp>
        <p:nvSpPr>
          <p:cNvPr id="6" name="Text 4"/>
          <p:cNvSpPr txBox="1"/>
          <p:nvPr/>
        </p:nvSpPr>
        <p:spPr>
          <a:xfrm>
            <a:off x="832104" y="1298448"/>
            <a:ext cx="1417320" cy="57607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Người chơi</a:t>
            </a:r>
            <a:endParaRPr lang="en-US" sz="1150" dirty="0"/>
          </a:p>
        </p:txBody>
      </p:sp>
      <p:sp>
        <p:nvSpPr>
          <p:cNvPr id="7" name="Text 5"/>
          <p:cNvSpPr txBox="1"/>
          <p:nvPr/>
        </p:nvSpPr>
        <p:spPr>
          <a:xfrm>
            <a:off x="2240280" y="1298448"/>
            <a:ext cx="6355080" cy="576072"/>
          </a:xfrm>
          <a:prstGeom prst="rect">
            <a:avLst/>
          </a:prstGeom>
          <a:noFill/>
          <a:ln/>
        </p:spPr>
        <p:txBody>
          <a:bodyPr wrap="square" lIns="0" tIns="0" rIns="0" bIns="0" rtlCol="0" anchor="ctr"/>
          <a:lstStyle/>
          <a:p>
            <a:pPr marL="0" indent="0">
              <a:buNone/>
            </a:pPr>
            <a:r>
              <a:rPr lang="en-US" sz="1050" dirty="0">
                <a:solidFill>
                  <a:srgbClr val="1A1A1A"/>
                </a:solidFill>
                <a:latin typeface="Arial" pitchFamily="34" charset="0"/>
                <a:ea typeface="Arial" pitchFamily="34" charset="-122"/>
                <a:cs typeface="Arial" pitchFamily="34" charset="-120"/>
              </a:rPr>
              <a:t>FPSMovement, PlayerHealth, PlayerMagnetController, InventorySystem, PlayerEconomy, PlayerVisuals</a:t>
            </a:r>
            <a:endParaRPr lang="en-US" sz="1050" dirty="0"/>
          </a:p>
        </p:txBody>
      </p:sp>
      <p:sp>
        <p:nvSpPr>
          <p:cNvPr id="8" name="card"/>
          <p:cNvSpPr/>
          <p:nvPr/>
        </p:nvSpPr>
        <p:spPr>
          <a:xfrm>
            <a:off x="411480" y="1938528"/>
            <a:ext cx="8321040" cy="576072"/>
          </a:xfrm>
          <a:prstGeom prst="roundRect">
            <a:avLst>
              <a:gd name="adj" fmla="val 9524"/>
            </a:avLst>
          </a:prstGeom>
          <a:solidFill>
            <a:srgbClr val="EFF3FA"/>
          </a:solidFill>
          <a:ln w="12700">
            <a:solidFill>
              <a:srgbClr val="C7D2E6"/>
            </a:solidFill>
            <a:prstDash val="solid"/>
          </a:ln>
        </p:spPr>
        <p:txBody>
          <a:bodyPr/>
          <a:lstStyle/>
          <a:p>
            <a:endParaRPr lang="en-US"/>
          </a:p>
        </p:txBody>
      </p:sp>
      <p:sp>
        <p:nvSpPr>
          <p:cNvPr id="9" name="Shape 7"/>
          <p:cNvSpPr/>
          <p:nvPr/>
        </p:nvSpPr>
        <p:spPr>
          <a:xfrm>
            <a:off x="557784" y="2130552"/>
            <a:ext cx="182880" cy="182880"/>
          </a:xfrm>
          <a:prstGeom prst="ellipse">
            <a:avLst/>
          </a:prstGeom>
          <a:solidFill>
            <a:srgbClr val="E8453C"/>
          </a:solidFill>
          <a:ln w="12700">
            <a:solidFill>
              <a:srgbClr val="333333"/>
            </a:solidFill>
            <a:prstDash val="solid"/>
          </a:ln>
        </p:spPr>
        <p:txBody>
          <a:bodyPr/>
          <a:lstStyle/>
          <a:p>
            <a:endParaRPr lang="en-US"/>
          </a:p>
        </p:txBody>
      </p:sp>
      <p:sp>
        <p:nvSpPr>
          <p:cNvPr id="10" name="Text 8"/>
          <p:cNvSpPr txBox="1"/>
          <p:nvPr/>
        </p:nvSpPr>
        <p:spPr>
          <a:xfrm>
            <a:off x="832104" y="1938528"/>
            <a:ext cx="1417320" cy="57607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Vật thể</a:t>
            </a:r>
            <a:endParaRPr lang="en-US" sz="1150" dirty="0"/>
          </a:p>
        </p:txBody>
      </p:sp>
      <p:sp>
        <p:nvSpPr>
          <p:cNvPr id="11" name="Text 9"/>
          <p:cNvSpPr txBox="1"/>
          <p:nvPr/>
        </p:nvSpPr>
        <p:spPr>
          <a:xfrm>
            <a:off x="2240280" y="1938528"/>
            <a:ext cx="6355080" cy="576072"/>
          </a:xfrm>
          <a:prstGeom prst="rect">
            <a:avLst/>
          </a:prstGeom>
          <a:noFill/>
          <a:ln/>
        </p:spPr>
        <p:txBody>
          <a:bodyPr wrap="square" lIns="0" tIns="0" rIns="0" bIns="0" rtlCol="0" anchor="ctr"/>
          <a:lstStyle/>
          <a:p>
            <a:pPr marL="0" indent="0">
              <a:buNone/>
            </a:pPr>
            <a:r>
              <a:rPr lang="en-US" sz="1050" dirty="0">
                <a:solidFill>
                  <a:srgbClr val="1A1A1A"/>
                </a:solidFill>
                <a:latin typeface="Arial" pitchFamily="34" charset="0"/>
                <a:ea typeface="Arial" pitchFamily="34" charset="-122"/>
                <a:cs typeface="Arial" pitchFamily="34" charset="-120"/>
              </a:rPr>
              <a:t>MagneticObject (gộp cả bốn loại trong một lớp, phân biệt bằng enum), MagneticAura, CombatVFX</a:t>
            </a:r>
            <a:endParaRPr lang="en-US" sz="1050" dirty="0"/>
          </a:p>
        </p:txBody>
      </p:sp>
      <p:sp>
        <p:nvSpPr>
          <p:cNvPr id="12" name="card"/>
          <p:cNvSpPr/>
          <p:nvPr/>
        </p:nvSpPr>
        <p:spPr>
          <a:xfrm>
            <a:off x="411480" y="2578608"/>
            <a:ext cx="8321040" cy="576072"/>
          </a:xfrm>
          <a:prstGeom prst="roundRect">
            <a:avLst>
              <a:gd name="adj" fmla="val 9524"/>
            </a:avLst>
          </a:prstGeom>
          <a:solidFill>
            <a:srgbClr val="EFF3FA"/>
          </a:solidFill>
          <a:ln w="12700">
            <a:solidFill>
              <a:srgbClr val="C7D2E6"/>
            </a:solidFill>
            <a:prstDash val="solid"/>
          </a:ln>
        </p:spPr>
        <p:txBody>
          <a:bodyPr/>
          <a:lstStyle/>
          <a:p>
            <a:endParaRPr lang="en-US"/>
          </a:p>
        </p:txBody>
      </p:sp>
      <p:sp>
        <p:nvSpPr>
          <p:cNvPr id="13" name="Shape 11"/>
          <p:cNvSpPr/>
          <p:nvPr/>
        </p:nvSpPr>
        <p:spPr>
          <a:xfrm>
            <a:off x="557784" y="2770632"/>
            <a:ext cx="182880" cy="182880"/>
          </a:xfrm>
          <a:prstGeom prst="ellipse">
            <a:avLst/>
          </a:prstGeom>
          <a:solidFill>
            <a:srgbClr val="002060"/>
          </a:solidFill>
          <a:ln w="12700">
            <a:solidFill>
              <a:srgbClr val="333333"/>
            </a:solidFill>
            <a:prstDash val="solid"/>
          </a:ln>
        </p:spPr>
        <p:txBody>
          <a:bodyPr/>
          <a:lstStyle/>
          <a:p>
            <a:endParaRPr lang="en-US"/>
          </a:p>
        </p:txBody>
      </p:sp>
      <p:sp>
        <p:nvSpPr>
          <p:cNvPr id="14" name="Text 12"/>
          <p:cNvSpPr txBox="1"/>
          <p:nvPr/>
        </p:nvSpPr>
        <p:spPr>
          <a:xfrm>
            <a:off x="832104" y="2578608"/>
            <a:ext cx="1417320" cy="57607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Điều phối trận</a:t>
            </a:r>
            <a:endParaRPr lang="en-US" sz="1150" dirty="0"/>
          </a:p>
        </p:txBody>
      </p:sp>
      <p:sp>
        <p:nvSpPr>
          <p:cNvPr id="15" name="Text 13"/>
          <p:cNvSpPr txBox="1"/>
          <p:nvPr/>
        </p:nvSpPr>
        <p:spPr>
          <a:xfrm>
            <a:off x="2240280" y="2578608"/>
            <a:ext cx="6355080" cy="576072"/>
          </a:xfrm>
          <a:prstGeom prst="rect">
            <a:avLst/>
          </a:prstGeom>
          <a:noFill/>
          <a:ln/>
        </p:spPr>
        <p:txBody>
          <a:bodyPr wrap="square" lIns="0" tIns="0" rIns="0" bIns="0" rtlCol="0" anchor="ctr"/>
          <a:lstStyle/>
          <a:p>
            <a:pPr marL="0" indent="0">
              <a:buNone/>
            </a:pPr>
            <a:r>
              <a:rPr lang="en-US" sz="1050" dirty="0">
                <a:solidFill>
                  <a:srgbClr val="1A1A1A"/>
                </a:solidFill>
                <a:latin typeface="Arial" pitchFamily="34" charset="0"/>
                <a:ea typeface="Arial" pitchFamily="34" charset="-122"/>
                <a:cs typeface="Arial" pitchFamily="34" charset="-120"/>
              </a:rPr>
              <a:t>GameManager (vòng round, Overtime, vùng chết), ControlZone, ShopManager</a:t>
            </a:r>
            <a:endParaRPr lang="en-US" sz="1050" dirty="0"/>
          </a:p>
        </p:txBody>
      </p:sp>
      <p:sp>
        <p:nvSpPr>
          <p:cNvPr id="16" name="card"/>
          <p:cNvSpPr/>
          <p:nvPr/>
        </p:nvSpPr>
        <p:spPr>
          <a:xfrm>
            <a:off x="411480" y="3218688"/>
            <a:ext cx="8321040" cy="576072"/>
          </a:xfrm>
          <a:prstGeom prst="roundRect">
            <a:avLst>
              <a:gd name="adj" fmla="val 9524"/>
            </a:avLst>
          </a:prstGeom>
          <a:solidFill>
            <a:srgbClr val="EFF3FA"/>
          </a:solidFill>
          <a:ln w="12700">
            <a:solidFill>
              <a:srgbClr val="C7D2E6"/>
            </a:solidFill>
            <a:prstDash val="solid"/>
          </a:ln>
        </p:spPr>
        <p:txBody>
          <a:bodyPr/>
          <a:lstStyle/>
          <a:p>
            <a:endParaRPr lang="en-US"/>
          </a:p>
        </p:txBody>
      </p:sp>
      <p:sp>
        <p:nvSpPr>
          <p:cNvPr id="17" name="Shape 15"/>
          <p:cNvSpPr/>
          <p:nvPr/>
        </p:nvSpPr>
        <p:spPr>
          <a:xfrm>
            <a:off x="557784" y="3410712"/>
            <a:ext cx="182880" cy="182880"/>
          </a:xfrm>
          <a:prstGeom prst="ellipse">
            <a:avLst/>
          </a:prstGeom>
          <a:solidFill>
            <a:srgbClr val="26407D"/>
          </a:solidFill>
          <a:ln w="12700">
            <a:solidFill>
              <a:srgbClr val="333333"/>
            </a:solidFill>
            <a:prstDash val="solid"/>
          </a:ln>
        </p:spPr>
        <p:txBody>
          <a:bodyPr/>
          <a:lstStyle/>
          <a:p>
            <a:endParaRPr lang="en-US"/>
          </a:p>
        </p:txBody>
      </p:sp>
      <p:sp>
        <p:nvSpPr>
          <p:cNvPr id="18" name="Text 16"/>
          <p:cNvSpPr txBox="1"/>
          <p:nvPr/>
        </p:nvSpPr>
        <p:spPr>
          <a:xfrm>
            <a:off x="832104" y="3218688"/>
            <a:ext cx="1417320" cy="57607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Mạng</a:t>
            </a:r>
            <a:endParaRPr lang="en-US" sz="1150" dirty="0"/>
          </a:p>
        </p:txBody>
      </p:sp>
      <p:sp>
        <p:nvSpPr>
          <p:cNvPr id="19" name="Text 17"/>
          <p:cNvSpPr txBox="1"/>
          <p:nvPr/>
        </p:nvSpPr>
        <p:spPr>
          <a:xfrm>
            <a:off x="2240280" y="3218688"/>
            <a:ext cx="6355080" cy="576072"/>
          </a:xfrm>
          <a:prstGeom prst="rect">
            <a:avLst/>
          </a:prstGeom>
          <a:noFill/>
          <a:ln/>
        </p:spPr>
        <p:txBody>
          <a:bodyPr wrap="square" lIns="0" tIns="0" rIns="0" bIns="0" rtlCol="0" anchor="ctr"/>
          <a:lstStyle/>
          <a:p>
            <a:pPr marL="0" indent="0">
              <a:buNone/>
            </a:pPr>
            <a:r>
              <a:rPr lang="en-US" sz="1050" dirty="0">
                <a:solidFill>
                  <a:srgbClr val="1A1A1A"/>
                </a:solidFill>
                <a:latin typeface="Arial" pitchFamily="34" charset="0"/>
                <a:ea typeface="Arial" pitchFamily="34" charset="-122"/>
                <a:cs typeface="Arial" pitchFamily="34" charset="-120"/>
              </a:rPr>
              <a:t>NetworkRunnerHandler (khởi tạo Fusion, tạo và vào phòng), RoomPlayer, NetworkInputData</a:t>
            </a:r>
            <a:endParaRPr lang="en-US" sz="1050" dirty="0"/>
          </a:p>
        </p:txBody>
      </p:sp>
      <p:sp>
        <p:nvSpPr>
          <p:cNvPr id="20" name="card"/>
          <p:cNvSpPr/>
          <p:nvPr/>
        </p:nvSpPr>
        <p:spPr>
          <a:xfrm>
            <a:off x="411480" y="3858768"/>
            <a:ext cx="8321040" cy="576072"/>
          </a:xfrm>
          <a:prstGeom prst="roundRect">
            <a:avLst>
              <a:gd name="adj" fmla="val 9524"/>
            </a:avLst>
          </a:prstGeom>
          <a:solidFill>
            <a:srgbClr val="EFF3FA"/>
          </a:solidFill>
          <a:ln w="12700">
            <a:solidFill>
              <a:srgbClr val="C7D2E6"/>
            </a:solidFill>
            <a:prstDash val="solid"/>
          </a:ln>
        </p:spPr>
        <p:txBody>
          <a:bodyPr/>
          <a:lstStyle/>
          <a:p>
            <a:endParaRPr lang="en-US"/>
          </a:p>
        </p:txBody>
      </p:sp>
      <p:sp>
        <p:nvSpPr>
          <p:cNvPr id="21" name="Shape 19"/>
          <p:cNvSpPr/>
          <p:nvPr/>
        </p:nvSpPr>
        <p:spPr>
          <a:xfrm>
            <a:off x="557784" y="4050792"/>
            <a:ext cx="182880" cy="182880"/>
          </a:xfrm>
          <a:prstGeom prst="ellipse">
            <a:avLst/>
          </a:prstGeom>
          <a:solidFill>
            <a:srgbClr val="5A6478"/>
          </a:solidFill>
          <a:ln w="12700">
            <a:solidFill>
              <a:srgbClr val="333333"/>
            </a:solidFill>
            <a:prstDash val="solid"/>
          </a:ln>
        </p:spPr>
        <p:txBody>
          <a:bodyPr/>
          <a:lstStyle/>
          <a:p>
            <a:endParaRPr lang="en-US"/>
          </a:p>
        </p:txBody>
      </p:sp>
      <p:sp>
        <p:nvSpPr>
          <p:cNvPr id="22" name="Text 20"/>
          <p:cNvSpPr txBox="1"/>
          <p:nvPr/>
        </p:nvSpPr>
        <p:spPr>
          <a:xfrm>
            <a:off x="832104" y="3858768"/>
            <a:ext cx="1417320" cy="576072"/>
          </a:xfrm>
          <a:prstGeom prst="rect">
            <a:avLst/>
          </a:prstGeom>
          <a:noFill/>
          <a:ln/>
        </p:spPr>
        <p:txBody>
          <a:bodyPr wrap="square" lIns="0" tIns="0" rIns="0" bIns="0" rtlCol="0" anchor="ctr"/>
          <a:lstStyle/>
          <a:p>
            <a:pPr marL="0" indent="0">
              <a:buNone/>
            </a:pPr>
            <a:r>
              <a:rPr lang="en-US" sz="1150" b="1" dirty="0">
                <a:solidFill>
                  <a:srgbClr val="002060"/>
                </a:solidFill>
                <a:latin typeface="Arial" pitchFamily="34" charset="0"/>
                <a:ea typeface="Arial" pitchFamily="34" charset="-122"/>
                <a:cs typeface="Arial" pitchFamily="34" charset="-120"/>
              </a:rPr>
              <a:t>Giao diện</a:t>
            </a:r>
            <a:endParaRPr lang="en-US" sz="1150" dirty="0"/>
          </a:p>
        </p:txBody>
      </p:sp>
      <p:sp>
        <p:nvSpPr>
          <p:cNvPr id="23" name="Text 21"/>
          <p:cNvSpPr txBox="1"/>
          <p:nvPr/>
        </p:nvSpPr>
        <p:spPr>
          <a:xfrm>
            <a:off x="2240280" y="3858768"/>
            <a:ext cx="6355080" cy="576072"/>
          </a:xfrm>
          <a:prstGeom prst="rect">
            <a:avLst/>
          </a:prstGeom>
          <a:noFill/>
          <a:ln/>
        </p:spPr>
        <p:txBody>
          <a:bodyPr wrap="square" lIns="0" tIns="0" rIns="0" bIns="0" rtlCol="0" anchor="ctr"/>
          <a:lstStyle/>
          <a:p>
            <a:pPr marL="0" indent="0">
              <a:buNone/>
            </a:pPr>
            <a:r>
              <a:rPr lang="en-US" sz="1050" dirty="0">
                <a:solidFill>
                  <a:srgbClr val="1A1A1A"/>
                </a:solidFill>
                <a:latin typeface="Arial" pitchFamily="34" charset="0"/>
                <a:ea typeface="Arial" pitchFamily="34" charset="-122"/>
                <a:cs typeface="Arial" pitchFamily="34" charset="-120"/>
              </a:rPr>
              <a:t>HUDController, MatchResultPanel, LoadingScreen, ControlsOverlay, SettingsUI, RadialMenuController</a:t>
            </a:r>
            <a:endParaRPr lang="en-US" sz="1050" dirty="0"/>
          </a:p>
        </p:txBody>
      </p:sp>
      <p:sp>
        <p:nvSpPr>
          <p:cNvPr id="24" name="Text 22"/>
          <p:cNvSpPr txBox="1"/>
          <p:nvPr/>
        </p:nvSpPr>
        <p:spPr>
          <a:xfrm>
            <a:off x="411480" y="4526280"/>
            <a:ext cx="7498080" cy="219456"/>
          </a:xfrm>
          <a:prstGeom prst="rect">
            <a:avLst/>
          </a:prstGeom>
          <a:noFill/>
          <a:ln/>
        </p:spPr>
        <p:txBody>
          <a:bodyPr wrap="square" lIns="0" tIns="0" rIns="0" bIns="0" rtlCol="0" anchor="ctr"/>
          <a:lstStyle/>
          <a:p>
            <a:pPr marL="0" indent="0">
              <a:buNone/>
            </a:pPr>
            <a:r>
              <a:rPr lang="en-US" sz="950" i="1" dirty="0">
                <a:solidFill>
                  <a:srgbClr val="5A6478"/>
                </a:solidFill>
                <a:latin typeface="Arial" pitchFamily="34" charset="0"/>
                <a:ea typeface="Arial" pitchFamily="34" charset="-122"/>
                <a:cs typeface="Arial" pitchFamily="34" charset="-120"/>
              </a:rPr>
              <a:t>45 tệp mã nguồn, khoảng 20.000 dòng do sinh viên tự viết — chưa tính thư viện Photon và các gói bên thứ ba.</a:t>
            </a:r>
            <a:endParaRPr lang="en-US" sz="95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274320" y="343814"/>
            <a:ext cx="6400800" cy="336499"/>
          </a:xfrm>
          <a:prstGeom prst="rect">
            <a:avLst/>
          </a:prstGeom>
          <a:noFill/>
          <a:ln/>
        </p:spPr>
        <p:txBody>
          <a:bodyPr wrap="square" lIns="0" tIns="0" rIns="0" bIns="0" rtlCol="0" anchor="ctr"/>
          <a:lstStyle/>
          <a:p>
            <a:pPr marL="0" indent="0" algn="l">
              <a:buNone/>
            </a:pPr>
            <a:r>
              <a:rPr lang="en-US" sz="1700" b="1" dirty="0">
                <a:solidFill>
                  <a:srgbClr val="FFFFFF"/>
                </a:solidFill>
                <a:latin typeface="Arial" pitchFamily="34" charset="0"/>
                <a:ea typeface="Arial" pitchFamily="34" charset="-122"/>
                <a:cs typeface="Arial" pitchFamily="34" charset="-120"/>
              </a:rPr>
              <a:t>DỰ PHÒNG 4 — KHAI BÁO TÀI NGUYÊN BÊN THỨ BA</a:t>
            </a:r>
            <a:endParaRPr lang="en-US" sz="1700" dirty="0"/>
          </a:p>
        </p:txBody>
      </p:sp>
      <p:sp>
        <p:nvSpPr>
          <p:cNvPr id="3" name="Text 1"/>
          <p:cNvSpPr txBox="1"/>
          <p:nvPr/>
        </p:nvSpPr>
        <p:spPr>
          <a:xfrm>
            <a:off x="411480" y="868680"/>
            <a:ext cx="8321040" cy="384048"/>
          </a:xfrm>
          <a:prstGeom prst="rect">
            <a:avLst/>
          </a:prstGeom>
          <a:noFill/>
          <a:ln/>
        </p:spPr>
        <p:txBody>
          <a:bodyPr wrap="square" lIns="0" tIns="0" rIns="0" bIns="0" rtlCol="0" anchor="ctr"/>
          <a:lstStyle/>
          <a:p>
            <a:pPr marL="0" indent="0">
              <a:buNone/>
            </a:pPr>
            <a:r>
              <a:rPr lang="en-US" sz="1350" b="1" dirty="0">
                <a:solidFill>
                  <a:srgbClr val="002060"/>
                </a:solidFill>
                <a:latin typeface="Arial" pitchFamily="34" charset="0"/>
                <a:ea typeface="Arial" pitchFamily="34" charset="-122"/>
                <a:cs typeface="Arial" pitchFamily="34" charset="-120"/>
              </a:rPr>
              <a:t>Mở slide này khi hội đồng hỏi: phần nào em tự làm, phần nào đi lấy?</a:t>
            </a:r>
            <a:endParaRPr lang="en-US" sz="13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3291840">
                  <a:extLst>
                    <a:ext uri="{9D8B030D-6E8A-4147-A177-3AD203B41FA5}">
                      <a16:colId xmlns:a16="http://schemas.microsoft.com/office/drawing/2014/main" val="20000"/>
                    </a:ext>
                  </a:extLst>
                </a:gridCol>
                <a:gridCol w="256032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tblGrid>
              <a:tr h="365760">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Hạng mục</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Nguồn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tc>
                  <a:txBody>
                    <a:bodyPr/>
                    <a:lstStyle/>
                    <a:p>
                      <a:pPr marL="0" indent="0" algn="l">
                        <a:buNone/>
                      </a:pPr>
                      <a:r>
                        <a:rPr lang="en-US" sz="1100" b="1" dirty="0">
                          <a:solidFill>
                            <a:srgbClr val="FFFFFF"/>
                          </a:solidFill>
                          <a:latin typeface="Arial" pitchFamily="34" charset="0"/>
                          <a:ea typeface="Arial" pitchFamily="34" charset="-122"/>
                          <a:cs typeface="Arial" pitchFamily="34" charset="-120"/>
                        </a:rPr>
                        <a:t>Giấy phép</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solidFill>
                      <a:srgbClr val="26407D"/>
                    </a:solidFill>
                  </a:tcPr>
                </a:tc>
                <a:extLst>
                  <a:ext uri="{0D108BD9-81ED-4DB2-BD59-A6C34878D82A}">
                    <a16:rowId xmlns:a16="http://schemas.microsoft.com/office/drawing/2014/main" val="10000"/>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Mã nguồn gameplay toàn bộ</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Sinh viên tự viết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Thiết kế lối chơi và cân bằng</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Sinh viên tự thiết kế</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Hiệu ứng hình ảnh trong trận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Sinh viên tự dựng bằng mã</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Khung mạng Photon Fusion 2</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Photon Engine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Miễn phí dưới 100 CCU</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Mô hình môi trường, nhân vật</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Unity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Theo giấy phép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Bầu trời Fantasy Skybox FREE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Unity Asset Store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Miễn phí, cho phép dùng thương mại</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Nhạc nền</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Pixabay</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Pixabay Content License</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Lồng tiếng thông báo</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Tạo bằng ElevenLabs</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tc>
                  <a:txBody>
                    <a:bodyPr/>
                    <a:lstStyle/>
                    <a:p>
                      <a:pPr marL="0" indent="0" algn="l">
                        <a:buNone/>
                      </a:pPr>
                      <a:r>
                        <a:rPr lang="en-US" sz="1100" dirty="0">
                          <a:solidFill>
                            <a:srgbClr val="1A1A1A"/>
                          </a:solidFill>
                          <a:latin typeface="Arial" pitchFamily="34" charset="0"/>
                          <a:ea typeface="Arial" pitchFamily="34" charset="-122"/>
                          <a:cs typeface="Arial" pitchFamily="34" charset="-120"/>
                        </a:rPr>
                        <a:t>Cho phép dùng trong sản phẩm</a:t>
                      </a:r>
                      <a:endParaRPr lang="en-US" sz="1100" dirty="0">
                        <a:latin typeface="Arial" charset="0"/>
                        <a:ea typeface="Arial" charset="0"/>
                        <a:cs typeface="Arial" charset="0"/>
                      </a:endParaRPr>
                    </a:p>
                  </a:txBody>
                  <a:tcPr marL="88900" marR="88900" marT="38100" marB="38100" anchor="ctr">
                    <a:lnL w="12700" cap="flat" cmpd="sng" algn="ctr">
                      <a:solidFill>
                        <a:srgbClr val="C7D2E6"/>
                      </a:solidFill>
                      <a:prstDash val="solid"/>
                      <a:round/>
                      <a:headEnd type="none" w="med" len="med"/>
                      <a:tailEnd type="none" w="med" len="med"/>
                    </a:lnL>
                    <a:lnR w="12700" cap="flat" cmpd="sng" algn="ctr">
                      <a:solidFill>
                        <a:srgbClr val="C7D2E6"/>
                      </a:solidFill>
                      <a:prstDash val="solid"/>
                      <a:round/>
                      <a:headEnd type="none" w="med" len="med"/>
                      <a:tailEnd type="none" w="med" len="med"/>
                    </a:lnR>
                    <a:lnT w="12700" cap="flat" cmpd="sng" algn="ctr">
                      <a:solidFill>
                        <a:srgbClr val="C7D2E6"/>
                      </a:solidFill>
                      <a:prstDash val="solid"/>
                      <a:round/>
                      <a:headEnd type="none" w="med" len="med"/>
                      <a:tailEnd type="none" w="med" len="med"/>
                    </a:lnT>
                    <a:lnB w="12700" cap="flat" cmpd="sng" algn="ctr">
                      <a:solidFill>
                        <a:srgbClr val="C7D2E6"/>
                      </a:solidFill>
                      <a:prstDash val="solid"/>
                      <a:round/>
                      <a:headEnd type="none" w="med" len="med"/>
                      <a:tailEnd type="none" w="med" len="med"/>
                    </a:lnB>
                  </a:tcPr>
                </a:tc>
                <a:extLst>
                  <a:ext uri="{0D108BD9-81ED-4DB2-BD59-A6C34878D82A}">
                    <a16:rowId xmlns:a16="http://schemas.microsoft.com/office/drawing/2014/main" val="10008"/>
                  </a:ext>
                </a:extLst>
              </a:tr>
            </a:tbl>
          </a:graphicData>
        </a:graphic>
      </p:graphicFrame>
      <p:sp>
        <p:nvSpPr>
          <p:cNvPr id="5" name="card"/>
          <p:cNvSpPr/>
          <p:nvPr/>
        </p:nvSpPr>
        <p:spPr>
          <a:xfrm>
            <a:off x="411480" y="4206240"/>
            <a:ext cx="8321040" cy="457200"/>
          </a:xfrm>
          <a:prstGeom prst="roundRect">
            <a:avLst>
              <a:gd name="adj" fmla="val 12000"/>
            </a:avLst>
          </a:prstGeom>
          <a:solidFill>
            <a:srgbClr val="F3F7FD"/>
          </a:solidFill>
          <a:ln w="12700">
            <a:solidFill>
              <a:srgbClr val="C7D2E6"/>
            </a:solidFill>
            <a:prstDash val="solid"/>
          </a:ln>
        </p:spPr>
        <p:txBody>
          <a:bodyPr/>
          <a:lstStyle/>
          <a:p>
            <a:endParaRPr lang="en-US"/>
          </a:p>
        </p:txBody>
      </p:sp>
      <p:sp>
        <p:nvSpPr>
          <p:cNvPr id="6" name="Text 3"/>
          <p:cNvSpPr txBox="1"/>
          <p:nvPr/>
        </p:nvSpPr>
        <p:spPr>
          <a:xfrm>
            <a:off x="576072" y="4206240"/>
            <a:ext cx="8001000" cy="457200"/>
          </a:xfrm>
          <a:prstGeom prst="rect">
            <a:avLst/>
          </a:prstGeom>
          <a:noFill/>
          <a:ln/>
        </p:spPr>
        <p:txBody>
          <a:bodyPr wrap="square" lIns="0" tIns="0" rIns="0" bIns="0" rtlCol="0" anchor="ctr"/>
          <a:lstStyle/>
          <a:p>
            <a:pPr marL="0" indent="0">
              <a:buNone/>
            </a:pPr>
            <a:r>
              <a:rPr lang="en-US" sz="1100" dirty="0">
                <a:solidFill>
                  <a:srgbClr val="1A1A1A"/>
                </a:solidFill>
                <a:latin typeface="Arial" pitchFamily="34" charset="0"/>
                <a:ea typeface="Arial" pitchFamily="34" charset="-122"/>
                <a:cs typeface="Arial" pitchFamily="34" charset="-120"/>
              </a:rPr>
              <a:t>Danh sách đầy đủ nằm ở Phụ lục B của báo cáo và trong tệp CREDITS.md kèm theo mã nguồn.</a:t>
            </a:r>
            <a:endParaRPr lang="en-US" sz="1100" dirty="0"/>
          </a:p>
        </p:txBody>
      </p:sp>
      <p:sp>
        <p:nvSpPr>
          <p:cNvPr id="25" name="Slide Number Placeholder 0"/>
          <p:cNvSpPr>
            <a:spLocks noGrp="1"/>
          </p:cNvSpPr>
          <p:nvPr>
            <p:ph type="sldNum" sz="quarter" idx="4294967295"/>
          </p:nvPr>
        </p:nvSpPr>
        <p:spPr>
          <a:xfrm>
            <a:off x="8458200" y="4828032"/>
            <a:ext cx="457200" cy="228600"/>
          </a:xfrm>
          <a:prstGeom prst="rect">
            <a:avLst/>
          </a:prstGeom>
          <a:extLst>
            <a:ext uri="{C572A759-6A51-4108-AA02-DFA0A04FC94B}">
              <ma14:wrappingTextBoxFlag xmlns:ma14="http://schemas.microsoft.com/office/mac/drawingml/2011/main" xmlns="" val="0"/>
            </a:ext>
          </a:extLst>
        </p:spPr>
        <p:txBody>
          <a:bodyPr/>
          <a:lstStyle>
            <a:lvl1pPr>
              <a:defRPr sz="900">
                <a:solidFill>
                  <a:srgbClr val="5A6478"/>
                </a:solidFill>
                <a:latin typeface="Arial"/>
                <a:ea typeface="Arial"/>
                <a:cs typeface="Arial"/>
              </a:defRPr>
            </a:lvl1pPr>
          </a:lstStyle>
          <a:p>
            <a:pPr algn="r"/>
            <a:fld id="{F7021451-1387-4CA6-816F-3879F97B5CBC}" type="slidenum">
              <a:rPr lang="en-US" b="0"/>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Chủ đề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TotalTime>
  <Words>3115</Words>
  <Application>Microsoft Office PowerPoint</Application>
  <PresentationFormat>Trình chiếu Trên màn hình (16:9)</PresentationFormat>
  <Paragraphs>407</Paragraphs>
  <Slides>20</Slides>
  <Notes>20</Notes>
  <HiddenSlides>0</HiddenSlides>
  <MMClips>0</MMClips>
  <ScaleCrop>false</ScaleCrop>
  <HeadingPairs>
    <vt:vector size="6" baseType="variant">
      <vt:variant>
        <vt:lpstr>Phông được Dùng</vt:lpstr>
      </vt:variant>
      <vt:variant>
        <vt:i4>1</vt:i4>
      </vt:variant>
      <vt:variant>
        <vt:lpstr>Chủ đề</vt:lpstr>
      </vt:variant>
      <vt:variant>
        <vt:i4>1</vt:i4>
      </vt:variant>
      <vt:variant>
        <vt:lpstr>Tiêu đề Bản chiếu</vt:lpstr>
      </vt:variant>
      <vt:variant>
        <vt:i4>20</vt:i4>
      </vt:variant>
    </vt:vector>
  </HeadingPairs>
  <TitlesOfParts>
    <vt:vector size="22" baseType="lpstr">
      <vt:lpstr>Arial</vt:lpstr>
      <vt:lpstr>Office Theme</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lpstr>Bản trình bày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Magneto-Dome - Bao cao do an tot nghiep</dc:title>
  <dc:subject>PptxGenJS Presentation</dc:subject>
  <dc:creator>Nguyen Hoang Gia Khiem</dc:creator>
  <cp:lastModifiedBy>nhgiakhiem@gmail.com</cp:lastModifiedBy>
  <cp:revision>2</cp:revision>
  <dcterms:created xsi:type="dcterms:W3CDTF">2026-10-12T11:20:43Z</dcterms:created>
  <dcterms:modified xsi:type="dcterms:W3CDTF">2026-10-12T11:24:33Z</dcterms:modified>
</cp:coreProperties>
</file>