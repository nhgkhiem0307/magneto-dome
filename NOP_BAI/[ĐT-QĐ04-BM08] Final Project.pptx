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806202e2-64bb-9c33-083a-38ea80998ab1}">
          <p14:sldIdLst>
            <p14:sldId id="256"/>
            <p14:sldId id="257"/>
          </p14:sldIdLst>
        </p14:section>
        <p14:section name="1. Gioi thieu de tai" id="{f4bb095f-dd67-abe1-d57f-0a5e790ce9d4}">
          <p14:sldIdLst>
            <p14:sldId id="258"/>
          </p14:sldIdLst>
        </p14:section>
        <p14:section name="2. Muc tieu" id="{fd382e99-95ea-40aa-39ff-756b4175f27a}">
          <p14:sldIdLst>
            <p14:sldId id="259"/>
          </p14:sldIdLst>
        </p14:section>
        <p14:section name="3. Cong nghe va cong cu" id="{29397a8e-9a72-6a4f-baa8-173766b5a28b}">
          <p14:sldIdLst>
            <p14:sldId id="260"/>
          </p14:sldIdLst>
        </p14:section>
        <p14:section name="4. Phan tich va thiet ke" id="{8fdc605c-c678-20ea-1955-50dd7cfc78e8}">
          <p14:sldIdLst>
            <p14:sldId id="261"/>
            <p14:sldId id="262"/>
            <p14:sldId id="263"/>
            <p14:sldId id="264"/>
            <p14:sldId id="265"/>
          </p14:sldIdLst>
        </p14:section>
        <p14:section name="5. Quy trinh phat trien" id="{889bee1e-02d2-9f5f-5a3b-2d2dd95d0f1d}">
          <p14:sldIdLst>
            <p14:sldId id="266"/>
            <p14:sldId id="267"/>
          </p14:sldIdLst>
        </p14:section>
        <p14:section name="6. Demo" id="{7361b84a-75e4-4287-db85-e4572eed09b8}">
          <p14:sldIdLst>
            <p14:sldId id="268"/>
          </p14:sldIdLst>
        </p14:section>
        <p14:section name="7. Ket qua dat duoc" id="{cff575fb-a7c2-5d54-288e-086a5b96fd6b}">
          <p14:sldIdLst>
            <p14:sldId id="269"/>
          </p14:sldIdLst>
        </p14:section>
        <p14:section name="8-9. Huong phat trien va ket luan" id="{7081f84a-9503-1d77-3db8-11c9a4db0375}">
          <p14:sldIdLst>
            <p14:sldId id="270"/>
          </p14:sldIdLst>
        </p14:section>
        <p14:section name="Cam on" id="{e436a48e-d516-c2f6-5f9b-d48d6e318ca6}">
          <p14:sldIdLst>
            <p14:sldId id="271"/>
          </p14:sldIdLst>
        </p14:section>
        <p14:section name="Du phong" id="{5a6df8e4-21d6-5b51-d404-90226e08400d}">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8:40-9:20 — Để video chạy, nói ít. Mỗi mốc một câu ngắn.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Hai ô đỏ phải đo và điền trước khi bảo vệ. Đừng nói số nếu chưa đo.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VTC_TITLE-image-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VTC_CONTENT-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VTC_CLOSING-image-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r>
          <p:cNvPicPr>
            <a:picLocks noChangeAspect="1"/>
          </p:cNvPicPr>
          <p:nvPr/>
        </p:nvPicPr>
        <p:blipFill>
          <a:blip r:embed="rId1"/>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indent="0" marL="0">
              <a:buNone/>
            </a:pPr>
            <a:r>
              <a:rPr lang="en-US" sz="1400" b="1" spc="200" kern="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indent="0" marL="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sp>
      <p:sp>
        <p:nvSpPr>
          <p:cNvPr id="7" name="Text 5"/>
          <p:cNvSpPr txBox="1"/>
          <p:nvPr/>
        </p:nvSpPr>
        <p:spPr>
          <a:xfrm>
            <a:off x="411480" y="3154680"/>
            <a:ext cx="4754880" cy="1371600"/>
          </a:xfrm>
          <a:prstGeom prst="rect">
            <a:avLst/>
          </a:prstGeom>
          <a:noFill/>
          <a:ln/>
        </p:spPr>
        <p:txBody>
          <a:bodyPr wrap="square" lIns="0" tIns="0" rIns="0" bIns="0" rtlCol="0" anchor="ctr"/>
          <a:lstStyle/>
          <a:p>
            <a:pPr indent="0" marL="0">
              <a:spcAft>
                <a:spcPts val="400"/>
              </a:spcAft>
              <a:buNone/>
            </a:pPr>
            <a:r>
              <a:rPr lang="en-US" sz="1300" dirty="0">
                <a:solidFill>
                  <a:srgbClr val="BFD0EA"/>
                </a:solidFill>
                <a:latin typeface="Arial" pitchFamily="34" charset="0"/>
                <a:ea typeface="Arial" pitchFamily="34" charset="-122"/>
                <a:cs typeface="Arial" pitchFamily="34" charset="-120"/>
              </a:rPr>
              <a:t>Sinh viên thực hiện: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Lớp: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K24M-GAME1</a:t>
            </a:r>
            <a:endParaRPr lang="en-US" sz="1300" dirty="0"/>
          </a:p>
          <a:p>
            <a:pPr indent="0" marL="0">
              <a:spcAft>
                <a:spcPts val="400"/>
              </a:spcAft>
              <a:buNone/>
            </a:pPr>
            <a:r>
              <a:rPr lang="en-US" sz="1300" dirty="0">
                <a:solidFill>
                  <a:srgbClr val="BFD0EA"/>
                </a:solidFill>
                <a:latin typeface="Arial" pitchFamily="34" charset="0"/>
                <a:ea typeface="Arial" pitchFamily="34" charset="-122"/>
                <a:cs typeface="Arial" pitchFamily="34" charset="-120"/>
              </a:rPr>
              <a:t>Khóa: </a:t>
            </a:r>
            <a:pPr indent="0" marL="0">
              <a:spcAft>
                <a:spcPts val="400"/>
              </a:spcAft>
              <a:buNone/>
            </a:pP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sp>
        <p:nvSpPr>
          <p:cNvPr id="8" name="khung-anh"/>
          <p:cNvSpPr/>
          <p:nvPr/>
        </p:nvSpPr>
        <p:spPr>
          <a:xfrm>
            <a:off x="5897880" y="1371600"/>
            <a:ext cx="2834640" cy="2834640"/>
          </a:xfrm>
          <a:prstGeom prst="roundRect">
            <a:avLst>
              <a:gd name="adj" fmla="val 1935"/>
            </a:avLst>
          </a:prstGeom>
          <a:solidFill>
            <a:srgbClr val="F7F9FD"/>
          </a:solidFill>
          <a:ln w="15875">
            <a:solidFill>
              <a:srgbClr val="26407D"/>
            </a:solidFill>
            <a:prstDash val="dash"/>
          </a:ln>
        </p:spPr>
      </p:sp>
      <p:sp>
        <p:nvSpPr>
          <p:cNvPr id="9" name="Text 7"/>
          <p:cNvSpPr txBox="1"/>
          <p:nvPr/>
        </p:nvSpPr>
        <p:spPr>
          <a:xfrm>
            <a:off x="6007608" y="1371600"/>
            <a:ext cx="2615184" cy="2834640"/>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Logo game Magneto-Dome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sp>
      <p:sp>
        <p:nvSpPr>
          <p:cNvPr id="4" name="Text 2"/>
          <p:cNvSpPr txBox="1"/>
          <p:nvPr/>
        </p:nvSpPr>
        <p:spPr>
          <a:xfrm>
            <a:off x="539496"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sp>
      <p:sp>
        <p:nvSpPr>
          <p:cNvPr id="7" name="Text 5"/>
          <p:cNvSpPr txBox="1"/>
          <p:nvPr/>
        </p:nvSpPr>
        <p:spPr>
          <a:xfrm>
            <a:off x="3474720" y="1152144"/>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sp>
      <p:sp>
        <p:nvSpPr>
          <p:cNvPr id="10" name="Text 8"/>
          <p:cNvSpPr txBox="1"/>
          <p:nvPr/>
        </p:nvSpPr>
        <p:spPr>
          <a:xfrm>
            <a:off x="6409944" y="1152144"/>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CÔNG NGHỆ &amp; CÔNG CỤ</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sp>
      <p:sp>
        <p:nvSpPr>
          <p:cNvPr id="13" name="Text 11"/>
          <p:cNvSpPr txBox="1"/>
          <p:nvPr/>
        </p:nvSpPr>
        <p:spPr>
          <a:xfrm>
            <a:off x="539496"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sp>
      <p:sp>
        <p:nvSpPr>
          <p:cNvPr id="16" name="Text 14"/>
          <p:cNvSpPr txBox="1"/>
          <p:nvPr/>
        </p:nvSpPr>
        <p:spPr>
          <a:xfrm>
            <a:off x="3474720" y="2359152"/>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sp>
      <p:sp>
        <p:nvSpPr>
          <p:cNvPr id="19" name="Text 17"/>
          <p:cNvSpPr txBox="1"/>
          <p:nvPr/>
        </p:nvSpPr>
        <p:spPr>
          <a:xfrm>
            <a:off x="6409944" y="2359152"/>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DEMO / HÌNH ẢNH</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sp>
      <p:sp>
        <p:nvSpPr>
          <p:cNvPr id="22" name="Text 20"/>
          <p:cNvSpPr txBox="1"/>
          <p:nvPr/>
        </p:nvSpPr>
        <p:spPr>
          <a:xfrm>
            <a:off x="539496"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sp>
      <p:sp>
        <p:nvSpPr>
          <p:cNvPr id="25" name="Text 23"/>
          <p:cNvSpPr txBox="1"/>
          <p:nvPr/>
        </p:nvSpPr>
        <p:spPr>
          <a:xfrm>
            <a:off x="3474720" y="3566160"/>
            <a:ext cx="548640" cy="292608"/>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sp>
      <p:sp>
        <p:nvSpPr>
          <p:cNvPr id="28" name="Text 26"/>
          <p:cNvSpPr txBox="1"/>
          <p:nvPr/>
        </p:nvSpPr>
        <p:spPr>
          <a:xfrm>
            <a:off x="6409944" y="3566160"/>
            <a:ext cx="548640" cy="292608"/>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indent="0" marL="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indent="0" marL="0">
              <a:buNone/>
            </a:pPr>
            <a:r>
              <a:rPr lang="en-US" sz="1400" b="1" dirty="0">
                <a:solidFill>
                  <a:srgbClr val="002060"/>
                </a:solidFill>
                <a:latin typeface="Arial" pitchFamily="34" charset="0"/>
                <a:ea typeface="Arial" pitchFamily="34" charset="-122"/>
                <a:cs typeface="Arial" pitchFamily="34" charset="-120"/>
              </a:rPr>
              <a:t>Magneto-Dome</a:t>
            </a:r>
            <a:pPr indent="0" marL="0">
              <a:buNone/>
            </a:pP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pPr indent="0" marL="0">
              <a:buNone/>
            </a:pPr>
            <a:r>
              <a:rPr lang="en-US" sz="1400" b="1" dirty="0">
                <a:solidFill>
                  <a:srgbClr val="E8453C"/>
                </a:solidFill>
                <a:latin typeface="Arial" pitchFamily="34" charset="0"/>
                <a:ea typeface="Arial" pitchFamily="34" charset="-122"/>
                <a:cs typeface="Arial" pitchFamily="34" charset="-120"/>
              </a:rPr>
              <a:t>không có súng</a:t>
            </a:r>
            <a:pPr indent="0" marL="0">
              <a:buNone/>
            </a:pP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91640"/>
            <a:ext cx="2697480" cy="1371600"/>
          </a:xfrm>
          <a:prstGeom prst="roundRect">
            <a:avLst>
              <a:gd name="adj" fmla="val 4000"/>
            </a:avLst>
          </a:prstGeom>
          <a:solidFill>
            <a:srgbClr val="EFF3FA"/>
          </a:solidFill>
          <a:ln w="12700">
            <a:solidFill>
              <a:srgbClr val="C7D2E6"/>
            </a:solidFill>
            <a:prstDash val="solid"/>
          </a:ln>
        </p:spPr>
      </p:sp>
      <p:sp>
        <p:nvSpPr>
          <p:cNvPr id="5" name="Shape 3"/>
          <p:cNvSpPr/>
          <p:nvPr/>
        </p:nvSpPr>
        <p:spPr>
          <a:xfrm>
            <a:off x="557784" y="1847088"/>
            <a:ext cx="182880" cy="182880"/>
          </a:xfrm>
          <a:prstGeom prst="ellipse">
            <a:avLst/>
          </a:prstGeom>
          <a:solidFill>
            <a:srgbClr val="E8453C"/>
          </a:solidFill>
          <a:ln w="12700">
            <a:solidFill>
              <a:srgbClr val="333333"/>
            </a:solidFill>
            <a:prstDash val="solid"/>
          </a:ln>
        </p:spPr>
      </p:sp>
      <p:sp>
        <p:nvSpPr>
          <p:cNvPr id="6" name="Text 4"/>
          <p:cNvSpPr txBox="1"/>
          <p:nvPr/>
        </p:nvSpPr>
        <p:spPr>
          <a:xfrm>
            <a:off x="822960"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50" dirty="0"/>
          </a:p>
        </p:txBody>
      </p:sp>
      <p:sp>
        <p:nvSpPr>
          <p:cNvPr id="8" name="card"/>
          <p:cNvSpPr/>
          <p:nvPr/>
        </p:nvSpPr>
        <p:spPr>
          <a:xfrm>
            <a:off x="3346704" y="1691640"/>
            <a:ext cx="2697480" cy="1371600"/>
          </a:xfrm>
          <a:prstGeom prst="roundRect">
            <a:avLst>
              <a:gd name="adj" fmla="val 4000"/>
            </a:avLst>
          </a:prstGeom>
          <a:solidFill>
            <a:srgbClr val="EFF3FA"/>
          </a:solidFill>
          <a:ln w="12700">
            <a:solidFill>
              <a:srgbClr val="C7D2E6"/>
            </a:solidFill>
            <a:prstDash val="solid"/>
          </a:ln>
        </p:spPr>
      </p:sp>
      <p:sp>
        <p:nvSpPr>
          <p:cNvPr id="9" name="Shape 7"/>
          <p:cNvSpPr/>
          <p:nvPr/>
        </p:nvSpPr>
        <p:spPr>
          <a:xfrm>
            <a:off x="3493008" y="1847088"/>
            <a:ext cx="182880" cy="182880"/>
          </a:xfrm>
          <a:prstGeom prst="ellipse">
            <a:avLst/>
          </a:prstGeom>
          <a:solidFill>
            <a:srgbClr val="2E86DE"/>
          </a:solidFill>
          <a:ln w="12700">
            <a:solidFill>
              <a:srgbClr val="333333"/>
            </a:solidFill>
            <a:prstDash val="solid"/>
          </a:ln>
        </p:spPr>
      </p:sp>
      <p:sp>
        <p:nvSpPr>
          <p:cNvPr id="10" name="Text 8"/>
          <p:cNvSpPr txBox="1"/>
          <p:nvPr/>
        </p:nvSpPr>
        <p:spPr>
          <a:xfrm>
            <a:off x="3758184"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3493008"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50" dirty="0"/>
          </a:p>
        </p:txBody>
      </p:sp>
      <p:sp>
        <p:nvSpPr>
          <p:cNvPr id="12" name="card"/>
          <p:cNvSpPr/>
          <p:nvPr/>
        </p:nvSpPr>
        <p:spPr>
          <a:xfrm>
            <a:off x="6281928" y="1691640"/>
            <a:ext cx="2697480" cy="1371600"/>
          </a:xfrm>
          <a:prstGeom prst="roundRect">
            <a:avLst>
              <a:gd name="adj" fmla="val 4000"/>
            </a:avLst>
          </a:prstGeom>
          <a:solidFill>
            <a:srgbClr val="EFF3FA"/>
          </a:solidFill>
          <a:ln w="12700">
            <a:solidFill>
              <a:srgbClr val="C7D2E6"/>
            </a:solidFill>
            <a:prstDash val="solid"/>
          </a:ln>
        </p:spPr>
      </p:sp>
      <p:sp>
        <p:nvSpPr>
          <p:cNvPr id="13" name="Shape 11"/>
          <p:cNvSpPr/>
          <p:nvPr/>
        </p:nvSpPr>
        <p:spPr>
          <a:xfrm>
            <a:off x="6428232" y="1847088"/>
            <a:ext cx="182880" cy="182880"/>
          </a:xfrm>
          <a:prstGeom prst="ellipse">
            <a:avLst/>
          </a:prstGeom>
          <a:solidFill>
            <a:srgbClr val="002060"/>
          </a:solidFill>
          <a:ln w="12700">
            <a:solidFill>
              <a:srgbClr val="333333"/>
            </a:solidFill>
            <a:prstDash val="solid"/>
          </a:ln>
        </p:spPr>
      </p:sp>
      <p:sp>
        <p:nvSpPr>
          <p:cNvPr id="14" name="Text 12"/>
          <p:cNvSpPr txBox="1"/>
          <p:nvPr/>
        </p:nvSpPr>
        <p:spPr>
          <a:xfrm>
            <a:off x="6693408" y="1792224"/>
            <a:ext cx="219456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6428232" y="2148840"/>
            <a:ext cx="2404872" cy="841248"/>
          </a:xfrm>
          <a:prstGeom prst="rect">
            <a:avLst/>
          </a:prstGeom>
          <a:noFill/>
          <a:ln/>
        </p:spPr>
        <p:txBody>
          <a:bodyPr wrap="square" lIns="0" tIns="0" rIns="0" bIns="0" rtlCol="0" anchor="t"/>
          <a:lstStyle/>
          <a:p>
            <a:pPr indent="0" marL="0">
              <a:buNone/>
            </a:pPr>
            <a:r>
              <a:rPr lang="en-US" sz="115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50" dirty="0"/>
          </a:p>
        </p:txBody>
      </p:sp>
      <p:sp>
        <p:nvSpPr>
          <p:cNvPr id="16" name="khung-anh"/>
          <p:cNvSpPr/>
          <p:nvPr/>
        </p:nvSpPr>
        <p:spPr>
          <a:xfrm>
            <a:off x="411480" y="3246120"/>
            <a:ext cx="8321040" cy="1371600"/>
          </a:xfrm>
          <a:prstGeom prst="roundRect">
            <a:avLst>
              <a:gd name="adj" fmla="val 4000"/>
            </a:avLst>
          </a:prstGeom>
          <a:solidFill>
            <a:srgbClr val="F7F9FD"/>
          </a:solidFill>
          <a:ln w="15875">
            <a:solidFill>
              <a:srgbClr val="26407D"/>
            </a:solidFill>
            <a:prstDash val="dash"/>
          </a:ln>
        </p:spPr>
      </p:sp>
      <p:sp>
        <p:nvSpPr>
          <p:cNvPr id="17" name="Text 15"/>
          <p:cNvSpPr txBox="1"/>
          <p:nvPr/>
        </p:nvSpPr>
        <p:spPr>
          <a:xfrm>
            <a:off x="521208" y="3246120"/>
            <a:ext cx="8101584" cy="1371600"/>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Ảnh gameplay đẹp nhất — thấy rõ tay nạp điện và vật thể đang bay</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sp>
      <p:sp>
        <p:nvSpPr>
          <p:cNvPr id="4" name="Text 2"/>
          <p:cNvSpPr txBox="1"/>
          <p:nvPr/>
        </p:nvSpPr>
        <p:spPr>
          <a:xfrm>
            <a:off x="59436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sp>
      <p:sp>
        <p:nvSpPr>
          <p:cNvPr id="7" name="Text 5"/>
          <p:cNvSpPr txBox="1"/>
          <p:nvPr/>
        </p:nvSpPr>
        <p:spPr>
          <a:xfrm>
            <a:off x="4892040" y="978408"/>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sp>
      <p:sp>
        <p:nvSpPr>
          <p:cNvPr id="11" name="Text 9"/>
          <p:cNvSpPr txBox="1"/>
          <p:nvPr/>
        </p:nvSpPr>
        <p:spPr>
          <a:xfrm>
            <a:off x="411480" y="356616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sp>
      <p:sp>
        <p:nvSpPr>
          <p:cNvPr id="14" name="Text 12"/>
          <p:cNvSpPr txBox="1"/>
          <p:nvPr/>
        </p:nvSpPr>
        <p:spPr>
          <a:xfrm>
            <a:off x="2606040" y="3566160"/>
            <a:ext cx="2011680" cy="566928"/>
          </a:xfrm>
          <a:prstGeom prst="rect">
            <a:avLst/>
          </a:prstGeom>
          <a:noFill/>
          <a:ln/>
        </p:spPr>
        <p:txBody>
          <a:bodyPr wrap="square" lIns="0" tIns="0" rIns="0" bIns="0" rtlCol="0" anchor="ctr"/>
          <a:lstStyle/>
          <a:p>
            <a:pPr algn="ctr" indent="0" marL="0">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sp>
      <p:sp>
        <p:nvSpPr>
          <p:cNvPr id="17" name="Text 15"/>
          <p:cNvSpPr txBox="1"/>
          <p:nvPr/>
        </p:nvSpPr>
        <p:spPr>
          <a:xfrm>
            <a:off x="4800600" y="3566160"/>
            <a:ext cx="187452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sp>
      <p:sp>
        <p:nvSpPr>
          <p:cNvPr id="20" name="Text 18"/>
          <p:cNvSpPr txBox="1"/>
          <p:nvPr/>
        </p:nvSpPr>
        <p:spPr>
          <a:xfrm>
            <a:off x="6858000" y="3566160"/>
            <a:ext cx="187452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3. CÔNG NGHỆ &amp; CÔNG CỤ</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sp>
      <p:sp>
        <p:nvSpPr>
          <p:cNvPr id="4" name="Text 2"/>
          <p:cNvSpPr txBox="1"/>
          <p:nvPr/>
        </p:nvSpPr>
        <p:spPr>
          <a:xfrm>
            <a:off x="557784"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sp>
      <p:sp>
        <p:nvSpPr>
          <p:cNvPr id="7" name="Text 5"/>
          <p:cNvSpPr txBox="1"/>
          <p:nvPr/>
        </p:nvSpPr>
        <p:spPr>
          <a:xfrm>
            <a:off x="3493008"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sp>
      <p:sp>
        <p:nvSpPr>
          <p:cNvPr id="10" name="Text 8"/>
          <p:cNvSpPr txBox="1"/>
          <p:nvPr/>
        </p:nvSpPr>
        <p:spPr>
          <a:xfrm>
            <a:off x="6428232" y="978408"/>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sp>
      <p:sp>
        <p:nvSpPr>
          <p:cNvPr id="13" name="Text 11"/>
          <p:cNvSpPr txBox="1"/>
          <p:nvPr/>
        </p:nvSpPr>
        <p:spPr>
          <a:xfrm>
            <a:off x="557784"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sp>
      <p:sp>
        <p:nvSpPr>
          <p:cNvPr id="16" name="Text 14"/>
          <p:cNvSpPr txBox="1"/>
          <p:nvPr/>
        </p:nvSpPr>
        <p:spPr>
          <a:xfrm>
            <a:off x="3493008"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sp>
      <p:sp>
        <p:nvSpPr>
          <p:cNvPr id="19" name="Text 17"/>
          <p:cNvSpPr txBox="1"/>
          <p:nvPr/>
        </p:nvSpPr>
        <p:spPr>
          <a:xfrm>
            <a:off x="6428232" y="2221992"/>
            <a:ext cx="2404872" cy="310896"/>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indent="0" marL="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sp>
      <p:sp>
        <p:nvSpPr>
          <p:cNvPr id="22" name="Text 20"/>
          <p:cNvSpPr txBox="1"/>
          <p:nvPr/>
        </p:nvSpPr>
        <p:spPr>
          <a:xfrm>
            <a:off x="411480" y="3520440"/>
            <a:ext cx="283464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sp>
      <p:sp>
        <p:nvSpPr>
          <p:cNvPr id="25" name="Text 23"/>
          <p:cNvSpPr txBox="1"/>
          <p:nvPr/>
        </p:nvSpPr>
        <p:spPr>
          <a:xfrm>
            <a:off x="3383280" y="3520440"/>
            <a:ext cx="283464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~20.000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sp>
      <p:sp>
        <p:nvSpPr>
          <p:cNvPr id="28" name="Text 26"/>
          <p:cNvSpPr txBox="1"/>
          <p:nvPr/>
        </p:nvSpPr>
        <p:spPr>
          <a:xfrm>
            <a:off x="6309360" y="3520440"/>
            <a:ext cx="2423160" cy="566928"/>
          </a:xfrm>
          <a:prstGeom prst="rect">
            <a:avLst/>
          </a:prstGeom>
          <a:noFill/>
          <a:ln/>
        </p:spPr>
        <p:txBody>
          <a:bodyPr wrap="square" lIns="0" tIns="0" rIns="0" bIns="0" rtlCol="0" anchor="ctr"/>
          <a:lstStyle/>
          <a:p>
            <a:pPr algn="ctr" indent="0" marL="0">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GĂNG TAY TỪ TÍNH</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sp>
      <p:sp>
        <p:nvSpPr>
          <p:cNvPr id="5" name="Text 3"/>
          <p:cNvSpPr txBox="1"/>
          <p:nvPr/>
        </p:nvSpPr>
        <p:spPr>
          <a:xfrm>
            <a:off x="685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sp>
      <p:sp>
        <p:nvSpPr>
          <p:cNvPr id="7" name="Text 5"/>
          <p:cNvSpPr txBox="1"/>
          <p:nvPr/>
        </p:nvSpPr>
        <p:spPr>
          <a:xfrm>
            <a:off x="2971800" y="1353312"/>
            <a:ext cx="2194560" cy="274320"/>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914400"/>
        </p:xfrm>
        <a:graphic>
          <a:graphicData uri="http://schemas.openxmlformats.org/drawingml/2006/table">
            <a:tbl>
              <a:tblPr/>
              <a:tblGrid>
                <a:gridCol w="1463040"/>
                <a:gridCol w="1097280"/>
                <a:gridCol w="242316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Bắn vật đang cầm đi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sp>
      <p:sp>
        <p:nvSpPr>
          <p:cNvPr id="10" name="Text 7"/>
          <p:cNvSpPr txBox="1"/>
          <p:nvPr/>
        </p:nvSpPr>
        <p:spPr>
          <a:xfrm>
            <a:off x="557784" y="3611880"/>
            <a:ext cx="466344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3 đến 8m, trái dấu: kéo áp sát, lướt nhanh về phía đối thủ</a:t>
            </a:r>
            <a:endParaRPr lang="en-US" sz="1050" dirty="0"/>
          </a:p>
        </p:txBody>
      </p:sp>
      <p:sp>
        <p:nvSpPr>
          <p:cNvPr id="12" name="khung-anh"/>
          <p:cNvSpPr/>
          <p:nvPr/>
        </p:nvSpPr>
        <p:spPr>
          <a:xfrm>
            <a:off x="5669280" y="1389888"/>
            <a:ext cx="3063240" cy="3182112"/>
          </a:xfrm>
          <a:prstGeom prst="roundRect">
            <a:avLst>
              <a:gd name="adj" fmla="val 1791"/>
            </a:avLst>
          </a:prstGeom>
          <a:solidFill>
            <a:srgbClr val="F7F9FD"/>
          </a:solidFill>
          <a:ln w="15875">
            <a:solidFill>
              <a:srgbClr val="26407D"/>
            </a:solidFill>
            <a:prstDash val="dash"/>
          </a:ln>
        </p:spPr>
      </p:sp>
      <p:sp>
        <p:nvSpPr>
          <p:cNvPr id="13" name="Text 10"/>
          <p:cNvSpPr txBox="1"/>
          <p:nvPr/>
        </p:nvSpPr>
        <p:spPr>
          <a:xfrm>
            <a:off x="5779008" y="1389888"/>
            <a:ext cx="2843784" cy="3182112"/>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Góc nhìn thứ nhất: găng tay đang phóng điện vào một tảng đá, đá sáng màu đỏ</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BỐN LOẠI ĐẠN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188720"/>
                <a:gridCol w="1371600"/>
                <a:gridCol w="5760720"/>
              </a:tblGrid>
              <a:tr h="38404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Loại</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Điện tích nạp</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Luật riêng</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Normal</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đẩy linh hoạt, không có ràng buộc gì thêm</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Heavy</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Đang bay thì KHÔNG hút về tay được, chỉ cản lại: tốc độ x0,5 và sát thương x0,5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Spike</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84048">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TNT</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200" dirty="0">
                          <a:solidFill>
                            <a:srgbClr val="1A1A1A"/>
                          </a:solidFill>
                          <a:latin typeface="Arial" pitchFamily="34" charset="0"/>
                          <a:ea typeface="Arial" pitchFamily="34" charset="-122"/>
                          <a:cs typeface="Arial" pitchFamily="34" charset="-120"/>
                        </a:rPr>
                        <a:t>Nổ trong bán kính 6m, lực giảm dần theo khoảng cách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291840"/>
            <a:ext cx="8321040" cy="1234440"/>
          </a:xfrm>
          <a:prstGeom prst="roundRect">
            <a:avLst>
              <a:gd name="adj" fmla="val 4444"/>
            </a:avLst>
          </a:prstGeom>
          <a:solidFill>
            <a:srgbClr val="FDF2F1"/>
          </a:solidFill>
          <a:ln w="12700">
            <a:solidFill>
              <a:srgbClr val="F0C2BE"/>
            </a:solidFill>
            <a:prstDash val="solid"/>
          </a:ln>
        </p:spPr>
      </p:sp>
      <p:sp>
        <p:nvSpPr>
          <p:cNvPr id="6" name="Shape 3"/>
          <p:cNvSpPr/>
          <p:nvPr/>
        </p:nvSpPr>
        <p:spPr>
          <a:xfrm>
            <a:off x="594360" y="3456432"/>
            <a:ext cx="182880" cy="182880"/>
          </a:xfrm>
          <a:prstGeom prst="ellipse">
            <a:avLst/>
          </a:prstGeom>
          <a:solidFill>
            <a:srgbClr val="E8453C"/>
          </a:solidFill>
          <a:ln w="12700">
            <a:solidFill>
              <a:srgbClr val="333333"/>
            </a:solidFill>
            <a:prstDash val="solid"/>
          </a:ln>
        </p:spPr>
      </p:sp>
      <p:sp>
        <p:nvSpPr>
          <p:cNvPr id="7" name="Text 4"/>
          <p:cNvSpPr txBox="1"/>
          <p:nvPr/>
        </p:nvSpPr>
        <p:spPr>
          <a:xfrm>
            <a:off x="868680" y="3401568"/>
            <a:ext cx="548640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8" name="Text 5"/>
          <p:cNvSpPr txBox="1"/>
          <p:nvPr/>
        </p:nvSpPr>
        <p:spPr>
          <a:xfrm>
            <a:off x="868680" y="3694176"/>
            <a:ext cx="758952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CHẾ ĐỘ QUÁ TẢI</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indent="0" marL="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pPr indent="0" marL="0">
              <a:buNone/>
            </a:pP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sp>
      <p:sp>
        <p:nvSpPr>
          <p:cNvPr id="5" name="Text 3"/>
          <p:cNvSpPr txBox="1"/>
          <p:nvPr/>
        </p:nvSpPr>
        <p:spPr>
          <a:xfrm>
            <a:off x="411480" y="1463040"/>
            <a:ext cx="265176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sp>
      <p:sp>
        <p:nvSpPr>
          <p:cNvPr id="8" name="Text 6"/>
          <p:cNvSpPr txBox="1"/>
          <p:nvPr/>
        </p:nvSpPr>
        <p:spPr>
          <a:xfrm>
            <a:off x="3246120" y="1463040"/>
            <a:ext cx="2651760" cy="566928"/>
          </a:xfrm>
          <a:prstGeom prst="rect">
            <a:avLst/>
          </a:prstGeom>
          <a:noFill/>
          <a:ln/>
        </p:spPr>
        <p:txBody>
          <a:bodyPr wrap="square" lIns="0" tIns="0" rIns="0" bIns="0" rtlCol="0" anchor="ctr"/>
          <a:lstStyle/>
          <a:p>
            <a:pPr algn="ctr" indent="0" marL="0">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sp>
      <p:sp>
        <p:nvSpPr>
          <p:cNvPr id="11" name="Text 9"/>
          <p:cNvSpPr txBox="1"/>
          <p:nvPr/>
        </p:nvSpPr>
        <p:spPr>
          <a:xfrm>
            <a:off x="6080760" y="1463040"/>
            <a:ext cx="2651760" cy="566928"/>
          </a:xfrm>
          <a:prstGeom prst="rect">
            <a:avLst/>
          </a:prstGeom>
          <a:noFill/>
          <a:ln/>
        </p:spPr>
        <p:txBody>
          <a:bodyPr wrap="square" lIns="0" tIns="0" rIns="0" bIns="0" rtlCol="0" anchor="ctr"/>
          <a:lstStyle/>
          <a:p>
            <a:pPr algn="ctr" indent="0" marL="0">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sp>
      <p:sp>
        <p:nvSpPr>
          <p:cNvPr id="14" name="Text 12"/>
          <p:cNvSpPr txBox="1"/>
          <p:nvPr/>
        </p:nvSpPr>
        <p:spPr>
          <a:xfrm>
            <a:off x="576072" y="2798064"/>
            <a:ext cx="46177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indent="0" marL="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sp>
        <p:nvSpPr>
          <p:cNvPr id="17" name="khung-anh"/>
          <p:cNvSpPr/>
          <p:nvPr/>
        </p:nvSpPr>
        <p:spPr>
          <a:xfrm>
            <a:off x="5577840" y="2697480"/>
            <a:ext cx="3154680" cy="1874520"/>
          </a:xfrm>
          <a:prstGeom prst="roundRect">
            <a:avLst>
              <a:gd name="adj" fmla="val 2927"/>
            </a:avLst>
          </a:prstGeom>
          <a:solidFill>
            <a:srgbClr val="F7F9FD"/>
          </a:solidFill>
          <a:ln w="15875">
            <a:solidFill>
              <a:srgbClr val="26407D"/>
            </a:solidFill>
            <a:prstDash val="dash"/>
          </a:ln>
        </p:spPr>
      </p:sp>
      <p:sp>
        <p:nvSpPr>
          <p:cNvPr id="18" name="Text 16"/>
          <p:cNvSpPr txBox="1"/>
          <p:nvPr/>
        </p:nvSpPr>
        <p:spPr>
          <a:xfrm>
            <a:off x="5687568" y="2697480"/>
            <a:ext cx="2935224" cy="1874520"/>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Cận cảnh HUD: thanh điện tích đang đầy dần và hệ số lực văng đang tăng</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THỂ THỨC THI ĐẤU</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sp>
      <p:sp>
        <p:nvSpPr>
          <p:cNvPr id="4" name="Text 2"/>
          <p:cNvSpPr txBox="1"/>
          <p:nvPr/>
        </p:nvSpPr>
        <p:spPr>
          <a:xfrm>
            <a:off x="539496"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sp>
      <p:sp>
        <p:nvSpPr>
          <p:cNvPr id="9" name="Text 7"/>
          <p:cNvSpPr txBox="1"/>
          <p:nvPr/>
        </p:nvSpPr>
        <p:spPr>
          <a:xfrm>
            <a:off x="2660904"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sp>
      <p:sp>
        <p:nvSpPr>
          <p:cNvPr id="14" name="Text 12"/>
          <p:cNvSpPr txBox="1"/>
          <p:nvPr/>
        </p:nvSpPr>
        <p:spPr>
          <a:xfrm>
            <a:off x="4782312"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indent="0" marL="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algn="ctr" indent="0" marL="0">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sp>
      <p:sp>
        <p:nvSpPr>
          <p:cNvPr id="19" name="Text 17"/>
          <p:cNvSpPr txBox="1"/>
          <p:nvPr/>
        </p:nvSpPr>
        <p:spPr>
          <a:xfrm>
            <a:off x="6903720" y="960120"/>
            <a:ext cx="164592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indent="0" marL="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sp>
      <p:sp>
        <p:nvSpPr>
          <p:cNvPr id="23" name="Text 21"/>
          <p:cNvSpPr txBox="1"/>
          <p:nvPr/>
        </p:nvSpPr>
        <p:spPr>
          <a:xfrm>
            <a:off x="57607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sp>
      <p:sp>
        <p:nvSpPr>
          <p:cNvPr id="26" name="Text 24"/>
          <p:cNvSpPr txBox="1"/>
          <p:nvPr/>
        </p:nvSpPr>
        <p:spPr>
          <a:xfrm>
            <a:off x="4828032" y="230428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sp>
      <p:sp>
        <p:nvSpPr>
          <p:cNvPr id="29" name="Text 27"/>
          <p:cNvSpPr txBox="1"/>
          <p:nvPr/>
        </p:nvSpPr>
        <p:spPr>
          <a:xfrm>
            <a:off x="576072" y="3785616"/>
            <a:ext cx="109728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Thắng round +$150  ·  Thua round +$100  ·  Trần ví $750  ·  Cửa hàng 5 vật phẩm: Giáp Cách Điện, Energy Drink, Bộ Xả Điện, Can Xăng, Lõi Tường Chắn</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4. PHÂN TÍCH &amp; THIẾT KẾ — KIẾN TRÚC MẠNG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sp>
      <p:sp>
        <p:nvSpPr>
          <p:cNvPr id="5" name="Text 3"/>
          <p:cNvSpPr txBox="1"/>
          <p:nvPr/>
        </p:nvSpPr>
        <p:spPr>
          <a:xfrm>
            <a:off x="1417320" y="2304288"/>
            <a:ext cx="16002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algn="ctr" indent="0" marL="0">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sp>
      <p:sp>
        <p:nvSpPr>
          <p:cNvPr id="8" name="Text 6"/>
          <p:cNvSpPr txBox="1"/>
          <p:nvPr/>
        </p:nvSpPr>
        <p:spPr>
          <a:xfrm>
            <a:off x="457200" y="138988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sp>
      <p:sp>
        <p:nvSpPr>
          <p:cNvPr id="10" name="Text 8"/>
          <p:cNvSpPr txBox="1"/>
          <p:nvPr/>
        </p:nvSpPr>
        <p:spPr>
          <a:xfrm>
            <a:off x="457200" y="3493008"/>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sp>
      <p:sp>
        <p:nvSpPr>
          <p:cNvPr id="12" name="Text 10"/>
          <p:cNvSpPr txBox="1"/>
          <p:nvPr/>
        </p:nvSpPr>
        <p:spPr>
          <a:xfrm>
            <a:off x="2377440" y="4023360"/>
            <a:ext cx="1371600" cy="457200"/>
          </a:xfrm>
          <a:prstGeom prst="rect">
            <a:avLst/>
          </a:prstGeom>
          <a:noFill/>
          <a:ln/>
        </p:spPr>
        <p:txBody>
          <a:bodyPr wrap="square" lIns="0" tIns="0" rIns="0" bIns="0" rtlCol="0" anchor="ctr"/>
          <a:lstStyle/>
          <a:p>
            <a:pPr algn="ctr" indent="0" marL="0">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sp>
      <p:sp>
        <p:nvSpPr>
          <p:cNvPr id="14" name="Shape 12"/>
          <p:cNvSpPr/>
          <p:nvPr/>
        </p:nvSpPr>
        <p:spPr>
          <a:xfrm>
            <a:off x="1143000" y="2990088"/>
            <a:ext cx="685800" cy="502920"/>
          </a:xfrm>
          <a:prstGeom prst="line">
            <a:avLst/>
          </a:prstGeom>
          <a:noFill/>
          <a:ln w="19050">
            <a:solidFill>
              <a:srgbClr val="C7D2E6"/>
            </a:solidFill>
            <a:prstDash val="dash"/>
          </a:ln>
        </p:spPr>
      </p:sp>
      <p:sp>
        <p:nvSpPr>
          <p:cNvPr id="15" name="Shape 13"/>
          <p:cNvSpPr/>
          <p:nvPr/>
        </p:nvSpPr>
        <p:spPr>
          <a:xfrm>
            <a:off x="2377440" y="2990088"/>
            <a:ext cx="685800" cy="1033272"/>
          </a:xfrm>
          <a:prstGeom prst="line">
            <a:avLst/>
          </a:prstGeom>
          <a:noFill/>
          <a:ln w="19050">
            <a:solidFill>
              <a:srgbClr val="C7D2E6"/>
            </a:solidFill>
            <a:prstDash val="dash"/>
          </a:ln>
        </p:spPr>
      </p:sp>
      <p:sp>
        <p:nvSpPr>
          <p:cNvPr id="16" name="Text 14"/>
          <p:cNvSpPr txBox="1"/>
          <p:nvPr/>
        </p:nvSpPr>
        <p:spPr>
          <a:xfrm>
            <a:off x="457200" y="4480560"/>
            <a:ext cx="3291840" cy="228600"/>
          </a:xfrm>
          <a:prstGeom prst="rect">
            <a:avLst/>
          </a:prstGeom>
          <a:noFill/>
          <a:ln/>
        </p:spPr>
        <p:txBody>
          <a:bodyPr wrap="square" lIns="0" tIns="0" rIns="0" bIns="0" rtlCol="0" anchor="ctr"/>
          <a:lstStyle/>
          <a:p>
            <a:pPr algn="ctr" indent="0" marL="0">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sp>
      <p:sp>
        <p:nvSpPr>
          <p:cNvPr id="18" name="Text 16"/>
          <p:cNvSpPr txBox="1"/>
          <p:nvPr/>
        </p:nvSpPr>
        <p:spPr>
          <a:xfrm>
            <a:off x="4187952" y="146304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sp>
      <p:sp>
        <p:nvSpPr>
          <p:cNvPr id="21" name="Text 19"/>
          <p:cNvSpPr txBox="1"/>
          <p:nvPr/>
        </p:nvSpPr>
        <p:spPr>
          <a:xfrm>
            <a:off x="4187952" y="3200400"/>
            <a:ext cx="438912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sp>
      <p:sp>
        <p:nvSpPr>
          <p:cNvPr id="5" name="Text 3"/>
          <p:cNvSpPr txBox="1"/>
          <p:nvPr/>
        </p:nvSpPr>
        <p:spPr>
          <a:xfrm>
            <a:off x="411480"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sp>
      <p:sp>
        <p:nvSpPr>
          <p:cNvPr id="10" name="Text 8"/>
          <p:cNvSpPr txBox="1"/>
          <p:nvPr/>
        </p:nvSpPr>
        <p:spPr>
          <a:xfrm>
            <a:off x="2532888"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sp>
      <p:sp>
        <p:nvSpPr>
          <p:cNvPr id="15" name="Text 13"/>
          <p:cNvSpPr txBox="1"/>
          <p:nvPr/>
        </p:nvSpPr>
        <p:spPr>
          <a:xfrm>
            <a:off x="4654296"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sp>
      <p:sp>
        <p:nvSpPr>
          <p:cNvPr id="20" name="Text 18"/>
          <p:cNvSpPr txBox="1"/>
          <p:nvPr/>
        </p:nvSpPr>
        <p:spPr>
          <a:xfrm>
            <a:off x="6775704" y="868680"/>
            <a:ext cx="192024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indent="0" marL="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sp>
      <p:sp>
        <p:nvSpPr>
          <p:cNvPr id="24" name="Text 22"/>
          <p:cNvSpPr txBox="1"/>
          <p:nvPr/>
        </p:nvSpPr>
        <p:spPr>
          <a:xfrm>
            <a:off x="576072" y="3456432"/>
            <a:ext cx="2743200" cy="237744"/>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indent="0" marL="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5. QUY TRÌNH PHÁT TRIỂN — BA LỖI KHÓ NHẤT ĐÃ VƯỢT</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sp>
      <p:sp>
        <p:nvSpPr>
          <p:cNvPr id="5" name="Text 3"/>
          <p:cNvSpPr txBox="1"/>
          <p:nvPr/>
        </p:nvSpPr>
        <p:spPr>
          <a:xfrm>
            <a:off x="576072" y="102412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sp>
      <p:sp>
        <p:nvSpPr>
          <p:cNvPr id="10" name="Text 8"/>
          <p:cNvSpPr txBox="1"/>
          <p:nvPr/>
        </p:nvSpPr>
        <p:spPr>
          <a:xfrm>
            <a:off x="576072" y="228600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sp>
      <p:sp>
        <p:nvSpPr>
          <p:cNvPr id="15" name="Text 13"/>
          <p:cNvSpPr txBox="1"/>
          <p:nvPr/>
        </p:nvSpPr>
        <p:spPr>
          <a:xfrm>
            <a:off x="576072" y="354787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indent="0" marL="0">
              <a:lnSpc>
                <a:spcPct val="100000"/>
              </a:lnSpc>
              <a:buNone/>
            </a:pPr>
            <a:r>
              <a:rPr lang="en-US" sz="1050" b="1" dirty="0">
                <a:solidFill>
                  <a:srgbClr val="5A6478"/>
                </a:solidFill>
                <a:latin typeface="Arial" pitchFamily="34" charset="0"/>
                <a:ea typeface="Arial" pitchFamily="34" charset="-122"/>
                <a:cs typeface="Arial" pitchFamily="34" charset="-120"/>
              </a:rPr>
              <a:t>Cách chữa: </a:t>
            </a:r>
            <a:pPr indent="0" marL="0">
              <a:lnSpc>
                <a:spcPct val="100000"/>
              </a:lnSpc>
              <a:buNone/>
            </a:pP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6. DEMO / HÌNH ẢNH</a:t>
            </a:r>
            <a:endParaRPr lang="en-US" sz="1700" dirty="0"/>
          </a:p>
        </p:txBody>
      </p:sp>
      <p:sp>
        <p:nvSpPr>
          <p:cNvPr id="3" name="khung-anh"/>
          <p:cNvSpPr/>
          <p:nvPr/>
        </p:nvSpPr>
        <p:spPr>
          <a:xfrm>
            <a:off x="411480" y="868680"/>
            <a:ext cx="5897880" cy="3337560"/>
          </a:xfrm>
          <a:prstGeom prst="roundRect">
            <a:avLst>
              <a:gd name="adj" fmla="val 1644"/>
            </a:avLst>
          </a:prstGeom>
          <a:solidFill>
            <a:srgbClr val="F7F9FD"/>
          </a:solidFill>
          <a:ln w="15875">
            <a:solidFill>
              <a:srgbClr val="26407D"/>
            </a:solidFill>
            <a:prstDash val="dash"/>
          </a:ln>
        </p:spPr>
      </p:sp>
      <p:sp>
        <p:nvSpPr>
          <p:cNvPr id="4" name="Text 2"/>
          <p:cNvSpPr txBox="1"/>
          <p:nvPr/>
        </p:nvSpPr>
        <p:spPr>
          <a:xfrm>
            <a:off x="521208" y="868680"/>
            <a:ext cx="5678424" cy="3337560"/>
          </a:xfrm>
          <a:prstGeom prst="rect">
            <a:avLst/>
          </a:prstGeom>
          <a:noFill/>
          <a:ln/>
        </p:spPr>
        <p:txBody>
          <a:bodyPr wrap="square" lIns="0" tIns="0" rIns="0" bIns="0" rtlCol="0" anchor="ctr"/>
          <a:lstStyle/>
          <a:p>
            <a:pPr algn="ctr" indent="0" marL="0">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algn="ctr" indent="0" marL="0">
              <a:buNone/>
            </a:pPr>
            <a:r>
              <a:rPr lang="en-US" sz="1100" dirty="0">
                <a:solidFill>
                  <a:srgbClr val="5A6478"/>
                </a:solidFill>
                <a:latin typeface="Arial" pitchFamily="34" charset="0"/>
                <a:ea typeface="Arial" pitchFamily="34" charset="-122"/>
                <a:cs typeface="Arial" pitchFamily="34" charset="-120"/>
              </a:rPr>
              <a:t>Chèn video demo tại đây — hoặc dán ảnh chụp màn hình nếu chiếu video rời</a:t>
            </a:r>
            <a:endParaRPr lang="en-US" sz="1100" dirty="0"/>
          </a:p>
        </p:txBody>
      </p:sp>
      <p:sp>
        <p:nvSpPr>
          <p:cNvPr id="5" name="Text 3"/>
          <p:cNvSpPr txBox="1"/>
          <p:nvPr/>
        </p:nvSpPr>
        <p:spPr>
          <a:xfrm>
            <a:off x="6537960" y="868680"/>
            <a:ext cx="2194560" cy="25603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MỐC THỜI GIAN</a:t>
            </a:r>
            <a:endParaRPr lang="en-US" sz="1150" dirty="0"/>
          </a:p>
        </p:txBody>
      </p:sp>
      <p:sp>
        <p:nvSpPr>
          <p:cNvPr id="6" name="card"/>
          <p:cNvSpPr/>
          <p:nvPr/>
        </p:nvSpPr>
        <p:spPr>
          <a:xfrm>
            <a:off x="6537960" y="1216152"/>
            <a:ext cx="2194560" cy="658368"/>
          </a:xfrm>
          <a:prstGeom prst="roundRect">
            <a:avLst>
              <a:gd name="adj" fmla="val 8333"/>
            </a:avLst>
          </a:prstGeom>
          <a:solidFill>
            <a:srgbClr val="EFF3FA"/>
          </a:solidFill>
          <a:ln w="12700">
            <a:solidFill>
              <a:srgbClr val="C7D2E6"/>
            </a:solidFill>
            <a:prstDash val="solid"/>
          </a:ln>
        </p:spPr>
      </p:sp>
      <p:sp>
        <p:nvSpPr>
          <p:cNvPr id="7" name="Text 5"/>
          <p:cNvSpPr txBox="1"/>
          <p:nvPr/>
        </p:nvSpPr>
        <p:spPr>
          <a:xfrm>
            <a:off x="6675120" y="1271016"/>
            <a:ext cx="1920240" cy="237744"/>
          </a:xfrm>
          <a:prstGeom prst="rect">
            <a:avLst/>
          </a:prstGeom>
          <a:noFill/>
          <a:ln/>
        </p:spPr>
        <p:txBody>
          <a:bodyPr wrap="square" lIns="0" tIns="0" rIns="0" bIns="0" rtlCol="0" anchor="ctr"/>
          <a:lstStyle/>
          <a:p>
            <a:pPr indent="0" marL="0">
              <a:buNone/>
            </a:pPr>
            <a:r>
              <a:rPr lang="en-US" sz="1200" b="1" dirty="0">
                <a:solidFill>
                  <a:srgbClr val="E8453C"/>
                </a:solidFill>
                <a:latin typeface="Arial" pitchFamily="34" charset="0"/>
                <a:ea typeface="Arial" pitchFamily="34" charset="-122"/>
                <a:cs typeface="Arial" pitchFamily="34" charset="-120"/>
              </a:rPr>
              <a:t>00:05</a:t>
            </a:r>
            <a:endParaRPr lang="en-US" sz="1200" dirty="0"/>
          </a:p>
        </p:txBody>
      </p:sp>
      <p:sp>
        <p:nvSpPr>
          <p:cNvPr id="8" name="Text 6"/>
          <p:cNvSpPr txBox="1"/>
          <p:nvPr/>
        </p:nvSpPr>
        <p:spPr>
          <a:xfrm>
            <a:off x="6675120" y="1508760"/>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Toàn cảnh đảo lơ lửng</a:t>
            </a:r>
            <a:endParaRPr lang="en-US" sz="1000" dirty="0"/>
          </a:p>
        </p:txBody>
      </p:sp>
      <p:sp>
        <p:nvSpPr>
          <p:cNvPr id="9" name="card"/>
          <p:cNvSpPr/>
          <p:nvPr/>
        </p:nvSpPr>
        <p:spPr>
          <a:xfrm>
            <a:off x="6537960" y="1984248"/>
            <a:ext cx="2194560" cy="658368"/>
          </a:xfrm>
          <a:prstGeom prst="roundRect">
            <a:avLst>
              <a:gd name="adj" fmla="val 8333"/>
            </a:avLst>
          </a:prstGeom>
          <a:solidFill>
            <a:srgbClr val="EFF3FA"/>
          </a:solidFill>
          <a:ln w="12700">
            <a:solidFill>
              <a:srgbClr val="C7D2E6"/>
            </a:solidFill>
            <a:prstDash val="solid"/>
          </a:ln>
        </p:spPr>
      </p:sp>
      <p:sp>
        <p:nvSpPr>
          <p:cNvPr id="10" name="Text 8"/>
          <p:cNvSpPr txBox="1"/>
          <p:nvPr/>
        </p:nvSpPr>
        <p:spPr>
          <a:xfrm>
            <a:off x="6675120" y="2039112"/>
            <a:ext cx="1920240" cy="237744"/>
          </a:xfrm>
          <a:prstGeom prst="rect">
            <a:avLst/>
          </a:prstGeom>
          <a:noFill/>
          <a:ln/>
        </p:spPr>
        <p:txBody>
          <a:bodyPr wrap="square" lIns="0" tIns="0" rIns="0" bIns="0" rtlCol="0" anchor="ctr"/>
          <a:lstStyle/>
          <a:p>
            <a:pPr indent="0" marL="0">
              <a:buNone/>
            </a:pPr>
            <a:r>
              <a:rPr lang="en-US" sz="1200" b="1" dirty="0">
                <a:solidFill>
                  <a:srgbClr val="2E86DE"/>
                </a:solidFill>
                <a:latin typeface="Arial" pitchFamily="34" charset="0"/>
                <a:ea typeface="Arial" pitchFamily="34" charset="-122"/>
                <a:cs typeface="Arial" pitchFamily="34" charset="-120"/>
              </a:rPr>
              <a:t>00:12</a:t>
            </a:r>
            <a:endParaRPr lang="en-US" sz="1200" dirty="0"/>
          </a:p>
        </p:txBody>
      </p:sp>
      <p:sp>
        <p:nvSpPr>
          <p:cNvPr id="11" name="Text 9"/>
          <p:cNvSpPr txBox="1"/>
          <p:nvPr/>
        </p:nvSpPr>
        <p:spPr>
          <a:xfrm>
            <a:off x="6675120" y="2276856"/>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Nạp điện và bắn vật thể</a:t>
            </a:r>
            <a:endParaRPr lang="en-US" sz="1000" dirty="0"/>
          </a:p>
        </p:txBody>
      </p:sp>
      <p:sp>
        <p:nvSpPr>
          <p:cNvPr id="12" name="card"/>
          <p:cNvSpPr/>
          <p:nvPr/>
        </p:nvSpPr>
        <p:spPr>
          <a:xfrm>
            <a:off x="6537960" y="2752344"/>
            <a:ext cx="2194560" cy="658368"/>
          </a:xfrm>
          <a:prstGeom prst="roundRect">
            <a:avLst>
              <a:gd name="adj" fmla="val 8333"/>
            </a:avLst>
          </a:prstGeom>
          <a:solidFill>
            <a:srgbClr val="EFF3FA"/>
          </a:solidFill>
          <a:ln w="12700">
            <a:solidFill>
              <a:srgbClr val="C7D2E6"/>
            </a:solidFill>
            <a:prstDash val="solid"/>
          </a:ln>
        </p:spPr>
      </p:sp>
      <p:sp>
        <p:nvSpPr>
          <p:cNvPr id="13" name="Text 11"/>
          <p:cNvSpPr txBox="1"/>
          <p:nvPr/>
        </p:nvSpPr>
        <p:spPr>
          <a:xfrm>
            <a:off x="6675120" y="2807208"/>
            <a:ext cx="1920240" cy="237744"/>
          </a:xfrm>
          <a:prstGeom prst="rect">
            <a:avLst/>
          </a:prstGeom>
          <a:noFill/>
          <a:ln/>
        </p:spPr>
        <p:txBody>
          <a:bodyPr wrap="square" lIns="0" tIns="0" rIns="0" bIns="0" rtlCol="0" anchor="ctr"/>
          <a:lstStyle/>
          <a:p>
            <a:pPr indent="0" marL="0">
              <a:buNone/>
            </a:pPr>
            <a:r>
              <a:rPr lang="en-US" sz="1200" b="1" dirty="0">
                <a:solidFill>
                  <a:srgbClr val="E8453C"/>
                </a:solidFill>
                <a:latin typeface="Arial" pitchFamily="34" charset="0"/>
                <a:ea typeface="Arial" pitchFamily="34" charset="-122"/>
                <a:cs typeface="Arial" pitchFamily="34" charset="-120"/>
              </a:rPr>
              <a:t>00:25</a:t>
            </a:r>
            <a:endParaRPr lang="en-US" sz="1200" dirty="0"/>
          </a:p>
        </p:txBody>
      </p:sp>
      <p:sp>
        <p:nvSpPr>
          <p:cNvPr id="14" name="Text 12"/>
          <p:cNvSpPr txBox="1"/>
          <p:nvPr/>
        </p:nvSpPr>
        <p:spPr>
          <a:xfrm>
            <a:off x="6675120" y="3044952"/>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Thanh điện tăng, lực văng tăng</a:t>
            </a:r>
            <a:endParaRPr lang="en-US" sz="1000" dirty="0"/>
          </a:p>
        </p:txBody>
      </p:sp>
      <p:sp>
        <p:nvSpPr>
          <p:cNvPr id="15" name="card"/>
          <p:cNvSpPr/>
          <p:nvPr/>
        </p:nvSpPr>
        <p:spPr>
          <a:xfrm>
            <a:off x="6537960" y="3520440"/>
            <a:ext cx="2194560" cy="658368"/>
          </a:xfrm>
          <a:prstGeom prst="roundRect">
            <a:avLst>
              <a:gd name="adj" fmla="val 8333"/>
            </a:avLst>
          </a:prstGeom>
          <a:solidFill>
            <a:srgbClr val="EFF3FA"/>
          </a:solidFill>
          <a:ln w="12700">
            <a:solidFill>
              <a:srgbClr val="C7D2E6"/>
            </a:solidFill>
            <a:prstDash val="solid"/>
          </a:ln>
        </p:spPr>
      </p:sp>
      <p:sp>
        <p:nvSpPr>
          <p:cNvPr id="16" name="Text 14"/>
          <p:cNvSpPr txBox="1"/>
          <p:nvPr/>
        </p:nvSpPr>
        <p:spPr>
          <a:xfrm>
            <a:off x="6675120" y="3575304"/>
            <a:ext cx="1920240" cy="237744"/>
          </a:xfrm>
          <a:prstGeom prst="rect">
            <a:avLst/>
          </a:prstGeom>
          <a:noFill/>
          <a:ln/>
        </p:spPr>
        <p:txBody>
          <a:bodyPr wrap="square" lIns="0" tIns="0" rIns="0" bIns="0" rtlCol="0" anchor="ctr"/>
          <a:lstStyle/>
          <a:p>
            <a:pPr indent="0" marL="0">
              <a:buNone/>
            </a:pPr>
            <a:r>
              <a:rPr lang="en-US" sz="1200" b="1" dirty="0">
                <a:solidFill>
                  <a:srgbClr val="2E86DE"/>
                </a:solidFill>
                <a:latin typeface="Arial" pitchFamily="34" charset="0"/>
                <a:ea typeface="Arial" pitchFamily="34" charset="-122"/>
                <a:cs typeface="Arial" pitchFamily="34" charset="-120"/>
              </a:rPr>
              <a:t>00:35</a:t>
            </a:r>
            <a:endParaRPr lang="en-US" sz="1200" dirty="0"/>
          </a:p>
        </p:txBody>
      </p:sp>
      <p:sp>
        <p:nvSpPr>
          <p:cNvPr id="17" name="Text 15"/>
          <p:cNvSpPr txBox="1"/>
          <p:nvPr/>
        </p:nvSpPr>
        <p:spPr>
          <a:xfrm>
            <a:off x="6675120" y="3813048"/>
            <a:ext cx="1920240" cy="329184"/>
          </a:xfrm>
          <a:prstGeom prst="rect">
            <a:avLst/>
          </a:prstGeom>
          <a:noFill/>
          <a:ln/>
        </p:spPr>
        <p:txBody>
          <a:bodyPr wrap="square" lIns="0" tIns="0" rIns="0" bIns="0" rtlCol="0" anchor="t"/>
          <a:lstStyle/>
          <a:p>
            <a:pPr indent="0" marL="0">
              <a:buNone/>
            </a:pPr>
            <a:r>
              <a:rPr lang="en-US" sz="1000" dirty="0">
                <a:solidFill>
                  <a:srgbClr val="5A6478"/>
                </a:solidFill>
                <a:latin typeface="Arial" pitchFamily="34" charset="0"/>
                <a:ea typeface="Arial" pitchFamily="34" charset="-122"/>
                <a:cs typeface="Arial" pitchFamily="34" charset="-120"/>
              </a:rPr>
              <a:t>Bị hất khỏi rìa đảo</a:t>
            </a:r>
            <a:endParaRPr lang="en-US" sz="1000" dirty="0"/>
          </a:p>
        </p:txBody>
      </p:sp>
      <p:sp>
        <p:nvSpPr>
          <p:cNvPr id="18" name="Text 16"/>
          <p:cNvSpPr txBox="1"/>
          <p:nvPr/>
        </p:nvSpPr>
        <p:spPr>
          <a:xfrm>
            <a:off x="411480" y="4315968"/>
            <a:ext cx="5897880" cy="274320"/>
          </a:xfrm>
          <a:prstGeom prst="rect">
            <a:avLst/>
          </a:prstGeom>
          <a:noFill/>
          <a:ln/>
        </p:spPr>
        <p:txBody>
          <a:bodyPr wrap="square" lIns="0" tIns="0" rIns="0" bIns="0" rtlCol="0" anchor="ctr"/>
          <a:lstStyle/>
          <a:p>
            <a:pPr indent="0" marL="0">
              <a:buNone/>
            </a:pPr>
            <a:r>
              <a:rPr lang="en-US" sz="1000" i="1" dirty="0">
                <a:solidFill>
                  <a:srgbClr val="5A6478"/>
                </a:solidFill>
                <a:latin typeface="Arial" pitchFamily="34" charset="0"/>
                <a:ea typeface="Arial" pitchFamily="34" charset="-122"/>
                <a:cs typeface="Arial" pitchFamily="34" charset="-120"/>
              </a:rPr>
              <a:t>Lưu ý khi trình chiếu: bấm F1 tắt bảng hướng dẫn trước khi quay, nếu không nó tự hiện ở pha chuẩn bị.</a:t>
            </a:r>
            <a:endParaRPr lang="en-US" sz="10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sp>
      <p:sp>
        <p:nvSpPr>
          <p:cNvPr id="4" name="Text 2"/>
          <p:cNvSpPr txBox="1"/>
          <p:nvPr/>
        </p:nvSpPr>
        <p:spPr>
          <a:xfrm>
            <a:off x="411480" y="960120"/>
            <a:ext cx="201168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sp>
      <p:sp>
        <p:nvSpPr>
          <p:cNvPr id="7" name="Text 5"/>
          <p:cNvSpPr txBox="1"/>
          <p:nvPr/>
        </p:nvSpPr>
        <p:spPr>
          <a:xfrm>
            <a:off x="2606040" y="960120"/>
            <a:ext cx="2011680" cy="566928"/>
          </a:xfrm>
          <a:prstGeom prst="rect">
            <a:avLst/>
          </a:prstGeom>
          <a:noFill/>
          <a:ln/>
        </p:spPr>
        <p:txBody>
          <a:bodyPr wrap="square" lIns="0" tIns="0" rIns="0" bIns="0" rtlCol="0" anchor="ctr"/>
          <a:lstStyle/>
          <a:p>
            <a:pPr algn="ctr" indent="0" marL="0">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sp>
      <p:sp>
        <p:nvSpPr>
          <p:cNvPr id="10" name="Text 8"/>
          <p:cNvSpPr txBox="1"/>
          <p:nvPr/>
        </p:nvSpPr>
        <p:spPr>
          <a:xfrm>
            <a:off x="48006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sp>
      <p:sp>
        <p:nvSpPr>
          <p:cNvPr id="13" name="Text 11"/>
          <p:cNvSpPr txBox="1"/>
          <p:nvPr/>
        </p:nvSpPr>
        <p:spPr>
          <a:xfrm>
            <a:off x="6858000" y="960120"/>
            <a:ext cx="1874520" cy="566928"/>
          </a:xfrm>
          <a:prstGeom prst="rect">
            <a:avLst/>
          </a:prstGeom>
          <a:noFill/>
          <a:ln/>
        </p:spPr>
        <p:txBody>
          <a:bodyPr wrap="square" lIns="0" tIns="0" rIns="0" bIns="0" rtlCol="0" anchor="ctr"/>
          <a:lstStyle/>
          <a:p>
            <a:pPr algn="ctr" indent="0" marL="0">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algn="ctr" indent="0" marL="0">
              <a:buNone/>
            </a:pPr>
            <a:r>
              <a:rPr lang="en-US" sz="1100" dirty="0">
                <a:solidFill>
                  <a:srgbClr val="5A6478"/>
                </a:solidFill>
                <a:latin typeface="Arial" pitchFamily="34" charset="0"/>
                <a:ea typeface="Arial" pitchFamily="34" charset="-122"/>
                <a:cs typeface="Arial" pitchFamily="34" charset="-120"/>
              </a:rPr>
              <a:t>chương báo cáo, 48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sp>
      <p:sp>
        <p:nvSpPr>
          <p:cNvPr id="16" name="Text 14"/>
          <p:cNvSpPr txBox="1"/>
          <p:nvPr/>
        </p:nvSpPr>
        <p:spPr>
          <a:xfrm>
            <a:off x="57607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sp>
      <p:sp>
        <p:nvSpPr>
          <p:cNvPr id="19" name="Text 17"/>
          <p:cNvSpPr txBox="1"/>
          <p:nvPr/>
        </p:nvSpPr>
        <p:spPr>
          <a:xfrm>
            <a:off x="4828032" y="2121408"/>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sp>
      <p:sp>
        <p:nvSpPr>
          <p:cNvPr id="4" name="Text 2"/>
          <p:cNvSpPr txBox="1"/>
          <p:nvPr/>
        </p:nvSpPr>
        <p:spPr>
          <a:xfrm>
            <a:off x="57607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sp>
      <p:sp>
        <p:nvSpPr>
          <p:cNvPr id="7" name="Text 5"/>
          <p:cNvSpPr txBox="1"/>
          <p:nvPr/>
        </p:nvSpPr>
        <p:spPr>
          <a:xfrm>
            <a:off x="4828032" y="960120"/>
            <a:ext cx="3749040" cy="256032"/>
          </a:xfrm>
          <a:prstGeom prst="rect">
            <a:avLst/>
          </a:prstGeom>
          <a:noFill/>
          <a:ln/>
        </p:spPr>
        <p:txBody>
          <a:bodyPr wrap="square" lIns="0" tIns="0" rIns="0" bIns="0" rtlCol="0" anchor="ctr"/>
          <a:lstStyle/>
          <a:p>
            <a:pPr indent="0" marL="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sp>
      <p:sp>
        <p:nvSpPr>
          <p:cNvPr id="10" name="Text 8"/>
          <p:cNvSpPr txBox="1"/>
          <p:nvPr/>
        </p:nvSpPr>
        <p:spPr>
          <a:xfrm>
            <a:off x="576072" y="2926080"/>
            <a:ext cx="2743200" cy="256032"/>
          </a:xfrm>
          <a:prstGeom prst="rect">
            <a:avLst/>
          </a:prstGeom>
          <a:noFill/>
          <a:ln/>
        </p:spPr>
        <p:txBody>
          <a:bodyPr wrap="square" lIns="0" tIns="0" rIns="0" bIns="0" rtlCol="0" anchor="ctr"/>
          <a:lstStyle/>
          <a:p>
            <a:pPr indent="0" marL="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algn="ctr" indent="0" marL="0">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sp>
      <p:sp>
        <p:nvSpPr>
          <p:cNvPr id="6" name="Text 4"/>
          <p:cNvSpPr txBox="1"/>
          <p:nvPr/>
        </p:nvSpPr>
        <p:spPr>
          <a:xfrm>
            <a:off x="548640" y="3931920"/>
            <a:ext cx="8046720" cy="274320"/>
          </a:xfrm>
          <a:prstGeom prst="rect">
            <a:avLst/>
          </a:prstGeom>
          <a:noFill/>
          <a:ln/>
        </p:spPr>
        <p:txBody>
          <a:bodyPr wrap="square" lIns="0" tIns="0" rIns="0" bIns="0" rtlCol="0" anchor="ctr"/>
          <a:lstStyle/>
          <a:p>
            <a:pPr algn="ctr" indent="0" marL="0">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1 — TIẾN ĐỘ THỰC HIỆN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em làm trong bao lâu, chia công việc thế nào?</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463040"/>
                <a:gridCol w="5120640"/>
                <a:gridCol w="1737360"/>
              </a:tblGrid>
              <a:tr h="475488">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475488">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sp>
      <p:sp>
        <p:nvSpPr>
          <p:cNvPr id="6" name="Text 3"/>
          <p:cNvSpPr txBox="1"/>
          <p:nvPr/>
        </p:nvSpPr>
        <p:spPr>
          <a:xfrm>
            <a:off x="576072" y="3730752"/>
            <a:ext cx="8001000" cy="64008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2 — BẢNG SỐ LIỆU CÂN BẰNG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các con số trong game dựa vào đâu?</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651760"/>
                <a:gridCol w="1508760"/>
                <a:gridCol w="2651760"/>
                <a:gridCol w="150876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$150 / $100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3 — KIẾN TRÚC MÃ NGUỒN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code em tổ chức như thế nào?</a:t>
            </a:r>
            <a:endParaRPr lang="en-US" sz="1350" dirty="0"/>
          </a:p>
        </p:txBody>
      </p:sp>
      <p:sp>
        <p:nvSpPr>
          <p:cNvPr id="4" name="card"/>
          <p:cNvSpPr/>
          <p:nvPr/>
        </p:nvSpPr>
        <p:spPr>
          <a:xfrm>
            <a:off x="411480" y="1298448"/>
            <a:ext cx="8321040" cy="576072"/>
          </a:xfrm>
          <a:prstGeom prst="roundRect">
            <a:avLst>
              <a:gd name="adj" fmla="val 9524"/>
            </a:avLst>
          </a:prstGeom>
          <a:solidFill>
            <a:srgbClr val="EFF3FA"/>
          </a:solidFill>
          <a:ln w="12700">
            <a:solidFill>
              <a:srgbClr val="C7D2E6"/>
            </a:solidFill>
            <a:prstDash val="solid"/>
          </a:ln>
        </p:spPr>
      </p:sp>
      <p:sp>
        <p:nvSpPr>
          <p:cNvPr id="5" name="Shape 3"/>
          <p:cNvSpPr/>
          <p:nvPr/>
        </p:nvSpPr>
        <p:spPr>
          <a:xfrm>
            <a:off x="557784" y="1490472"/>
            <a:ext cx="182880" cy="182880"/>
          </a:xfrm>
          <a:prstGeom prst="ellipse">
            <a:avLst/>
          </a:prstGeom>
          <a:solidFill>
            <a:srgbClr val="2E86DE"/>
          </a:solidFill>
          <a:ln w="12700">
            <a:solidFill>
              <a:srgbClr val="333333"/>
            </a:solidFill>
            <a:prstDash val="solid"/>
          </a:ln>
        </p:spPr>
      </p:sp>
      <p:sp>
        <p:nvSpPr>
          <p:cNvPr id="6" name="Text 4"/>
          <p:cNvSpPr txBox="1"/>
          <p:nvPr/>
        </p:nvSpPr>
        <p:spPr>
          <a:xfrm>
            <a:off x="832104" y="129844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7" name="Text 5"/>
          <p:cNvSpPr txBox="1"/>
          <p:nvPr/>
        </p:nvSpPr>
        <p:spPr>
          <a:xfrm>
            <a:off x="2240280" y="129844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8" name="card"/>
          <p:cNvSpPr/>
          <p:nvPr/>
        </p:nvSpPr>
        <p:spPr>
          <a:xfrm>
            <a:off x="411480" y="1938528"/>
            <a:ext cx="8321040" cy="576072"/>
          </a:xfrm>
          <a:prstGeom prst="roundRect">
            <a:avLst>
              <a:gd name="adj" fmla="val 9524"/>
            </a:avLst>
          </a:prstGeom>
          <a:solidFill>
            <a:srgbClr val="EFF3FA"/>
          </a:solidFill>
          <a:ln w="12700">
            <a:solidFill>
              <a:srgbClr val="C7D2E6"/>
            </a:solidFill>
            <a:prstDash val="solid"/>
          </a:ln>
        </p:spPr>
      </p:sp>
      <p:sp>
        <p:nvSpPr>
          <p:cNvPr id="9" name="Shape 7"/>
          <p:cNvSpPr/>
          <p:nvPr/>
        </p:nvSpPr>
        <p:spPr>
          <a:xfrm>
            <a:off x="557784" y="2130552"/>
            <a:ext cx="182880" cy="182880"/>
          </a:xfrm>
          <a:prstGeom prst="ellipse">
            <a:avLst/>
          </a:prstGeom>
          <a:solidFill>
            <a:srgbClr val="E8453C"/>
          </a:solidFill>
          <a:ln w="12700">
            <a:solidFill>
              <a:srgbClr val="333333"/>
            </a:solidFill>
            <a:prstDash val="solid"/>
          </a:ln>
        </p:spPr>
      </p:sp>
      <p:sp>
        <p:nvSpPr>
          <p:cNvPr id="10" name="Text 8"/>
          <p:cNvSpPr txBox="1"/>
          <p:nvPr/>
        </p:nvSpPr>
        <p:spPr>
          <a:xfrm>
            <a:off x="832104" y="193852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1" name="Text 9"/>
          <p:cNvSpPr txBox="1"/>
          <p:nvPr/>
        </p:nvSpPr>
        <p:spPr>
          <a:xfrm>
            <a:off x="2240280" y="193852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2" name="card"/>
          <p:cNvSpPr/>
          <p:nvPr/>
        </p:nvSpPr>
        <p:spPr>
          <a:xfrm>
            <a:off x="411480" y="2578608"/>
            <a:ext cx="8321040" cy="576072"/>
          </a:xfrm>
          <a:prstGeom prst="roundRect">
            <a:avLst>
              <a:gd name="adj" fmla="val 9524"/>
            </a:avLst>
          </a:prstGeom>
          <a:solidFill>
            <a:srgbClr val="EFF3FA"/>
          </a:solidFill>
          <a:ln w="12700">
            <a:solidFill>
              <a:srgbClr val="C7D2E6"/>
            </a:solidFill>
            <a:prstDash val="solid"/>
          </a:ln>
        </p:spPr>
      </p:sp>
      <p:sp>
        <p:nvSpPr>
          <p:cNvPr id="13" name="Shape 11"/>
          <p:cNvSpPr/>
          <p:nvPr/>
        </p:nvSpPr>
        <p:spPr>
          <a:xfrm>
            <a:off x="557784" y="2770632"/>
            <a:ext cx="182880" cy="182880"/>
          </a:xfrm>
          <a:prstGeom prst="ellipse">
            <a:avLst/>
          </a:prstGeom>
          <a:solidFill>
            <a:srgbClr val="002060"/>
          </a:solidFill>
          <a:ln w="12700">
            <a:solidFill>
              <a:srgbClr val="333333"/>
            </a:solidFill>
            <a:prstDash val="solid"/>
          </a:ln>
        </p:spPr>
      </p:sp>
      <p:sp>
        <p:nvSpPr>
          <p:cNvPr id="14" name="Text 12"/>
          <p:cNvSpPr txBox="1"/>
          <p:nvPr/>
        </p:nvSpPr>
        <p:spPr>
          <a:xfrm>
            <a:off x="832104" y="257860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5" name="Text 13"/>
          <p:cNvSpPr txBox="1"/>
          <p:nvPr/>
        </p:nvSpPr>
        <p:spPr>
          <a:xfrm>
            <a:off x="2240280" y="257860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6" name="card"/>
          <p:cNvSpPr/>
          <p:nvPr/>
        </p:nvSpPr>
        <p:spPr>
          <a:xfrm>
            <a:off x="411480" y="3218688"/>
            <a:ext cx="8321040" cy="576072"/>
          </a:xfrm>
          <a:prstGeom prst="roundRect">
            <a:avLst>
              <a:gd name="adj" fmla="val 9524"/>
            </a:avLst>
          </a:prstGeom>
          <a:solidFill>
            <a:srgbClr val="EFF3FA"/>
          </a:solidFill>
          <a:ln w="12700">
            <a:solidFill>
              <a:srgbClr val="C7D2E6"/>
            </a:solidFill>
            <a:prstDash val="solid"/>
          </a:ln>
        </p:spPr>
      </p:sp>
      <p:sp>
        <p:nvSpPr>
          <p:cNvPr id="17" name="Shape 15"/>
          <p:cNvSpPr/>
          <p:nvPr/>
        </p:nvSpPr>
        <p:spPr>
          <a:xfrm>
            <a:off x="557784" y="3410712"/>
            <a:ext cx="182880" cy="182880"/>
          </a:xfrm>
          <a:prstGeom prst="ellipse">
            <a:avLst/>
          </a:prstGeom>
          <a:solidFill>
            <a:srgbClr val="26407D"/>
          </a:solidFill>
          <a:ln w="12700">
            <a:solidFill>
              <a:srgbClr val="333333"/>
            </a:solidFill>
            <a:prstDash val="solid"/>
          </a:ln>
        </p:spPr>
      </p:sp>
      <p:sp>
        <p:nvSpPr>
          <p:cNvPr id="18" name="Text 16"/>
          <p:cNvSpPr txBox="1"/>
          <p:nvPr/>
        </p:nvSpPr>
        <p:spPr>
          <a:xfrm>
            <a:off x="832104" y="321868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9" name="Text 17"/>
          <p:cNvSpPr txBox="1"/>
          <p:nvPr/>
        </p:nvSpPr>
        <p:spPr>
          <a:xfrm>
            <a:off x="2240280" y="321868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20" name="card"/>
          <p:cNvSpPr/>
          <p:nvPr/>
        </p:nvSpPr>
        <p:spPr>
          <a:xfrm>
            <a:off x="411480" y="3858768"/>
            <a:ext cx="8321040" cy="576072"/>
          </a:xfrm>
          <a:prstGeom prst="roundRect">
            <a:avLst>
              <a:gd name="adj" fmla="val 9524"/>
            </a:avLst>
          </a:prstGeom>
          <a:solidFill>
            <a:srgbClr val="EFF3FA"/>
          </a:solidFill>
          <a:ln w="12700">
            <a:solidFill>
              <a:srgbClr val="C7D2E6"/>
            </a:solidFill>
            <a:prstDash val="solid"/>
          </a:ln>
        </p:spPr>
      </p:sp>
      <p:sp>
        <p:nvSpPr>
          <p:cNvPr id="21" name="Shape 19"/>
          <p:cNvSpPr/>
          <p:nvPr/>
        </p:nvSpPr>
        <p:spPr>
          <a:xfrm>
            <a:off x="557784" y="4050792"/>
            <a:ext cx="182880" cy="182880"/>
          </a:xfrm>
          <a:prstGeom prst="ellipse">
            <a:avLst/>
          </a:prstGeom>
          <a:solidFill>
            <a:srgbClr val="5A6478"/>
          </a:solidFill>
          <a:ln w="12700">
            <a:solidFill>
              <a:srgbClr val="333333"/>
            </a:solidFill>
            <a:prstDash val="solid"/>
          </a:ln>
        </p:spPr>
      </p:sp>
      <p:sp>
        <p:nvSpPr>
          <p:cNvPr id="22" name="Text 20"/>
          <p:cNvSpPr txBox="1"/>
          <p:nvPr/>
        </p:nvSpPr>
        <p:spPr>
          <a:xfrm>
            <a:off x="832104" y="3858768"/>
            <a:ext cx="1417320" cy="576072"/>
          </a:xfrm>
          <a:prstGeom prst="rect">
            <a:avLst/>
          </a:prstGeom>
          <a:noFill/>
          <a:ln/>
        </p:spPr>
        <p:txBody>
          <a:bodyPr wrap="square" lIns="0" tIns="0" rIns="0" bIns="0" rtlCol="0" anchor="ctr"/>
          <a:lstStyle/>
          <a:p>
            <a:pPr indent="0" marL="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3" name="Text 21"/>
          <p:cNvSpPr txBox="1"/>
          <p:nvPr/>
        </p:nvSpPr>
        <p:spPr>
          <a:xfrm>
            <a:off x="2240280" y="3858768"/>
            <a:ext cx="6355080" cy="576072"/>
          </a:xfrm>
          <a:prstGeom prst="rect">
            <a:avLst/>
          </a:prstGeom>
          <a:noFill/>
          <a:ln/>
        </p:spPr>
        <p:txBody>
          <a:bodyPr wrap="square" lIns="0" tIns="0" rIns="0" bIns="0" rtlCol="0" anchor="ctr"/>
          <a:lstStyle/>
          <a:p>
            <a:pPr indent="0" marL="0">
              <a:buNone/>
            </a:pPr>
            <a:r>
              <a:rPr lang="en-US" sz="1050" dirty="0">
                <a:solidFill>
                  <a:srgbClr val="1A1A1A"/>
                </a:solidFill>
                <a:latin typeface="Arial" pitchFamily="34" charset="0"/>
                <a:ea typeface="Arial" pitchFamily="34" charset="-122"/>
                <a:cs typeface="Arial" pitchFamily="34" charset="-120"/>
              </a:rPr>
              <a:t>HUDController, MatchResultPanel, LoadingScreen, ControlsOverlay, SettingsUI, RadialMenuController</a:t>
            </a:r>
            <a:endParaRPr lang="en-US" sz="1050" dirty="0"/>
          </a:p>
        </p:txBody>
      </p:sp>
      <p:sp>
        <p:nvSpPr>
          <p:cNvPr id="24" name="Text 22"/>
          <p:cNvSpPr txBox="1"/>
          <p:nvPr/>
        </p:nvSpPr>
        <p:spPr>
          <a:xfrm>
            <a:off x="411480" y="4526280"/>
            <a:ext cx="7498080" cy="219456"/>
          </a:xfrm>
          <a:prstGeom prst="rect">
            <a:avLst/>
          </a:prstGeom>
          <a:noFill/>
          <a:ln/>
        </p:spPr>
        <p:txBody>
          <a:bodyPr wrap="square" lIns="0" tIns="0" rIns="0" bIns="0" rtlCol="0" anchor="ctr"/>
          <a:lstStyle/>
          <a:p>
            <a:pPr indent="0" marL="0">
              <a:buNone/>
            </a:pPr>
            <a:r>
              <a:rPr lang="en-US" sz="950" i="1" dirty="0">
                <a:solidFill>
                  <a:srgbClr val="5A6478"/>
                </a:solidFill>
                <a:latin typeface="Arial" pitchFamily="34" charset="0"/>
                <a:ea typeface="Arial" pitchFamily="34" charset="-122"/>
                <a:cs typeface="Arial" pitchFamily="34" charset="-120"/>
              </a:rPr>
              <a:t>45 tệp mã nguồn, khoảng 20.000 dòng do sinh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DỰ PHÒNG 4 — KHAI BÁO TÀI NGUYÊN BÊN THỨ BA</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indent="0" marL="0">
              <a:buNone/>
            </a:pPr>
            <a:r>
              <a:rPr lang="en-US" sz="1350" b="1" dirty="0">
                <a:solidFill>
                  <a:srgbClr val="002060"/>
                </a:solidFill>
                <a:latin typeface="Arial" pitchFamily="34" charset="0"/>
                <a:ea typeface="Arial" pitchFamily="34" charset="-122"/>
                <a:cs typeface="Arial" pitchFamily="34" charset="-120"/>
              </a:rPr>
              <a:t>Mở slide này khi hội đồng hỏi: phần nào em tự làm, phần nào đi lấy?</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3291840"/>
                <a:gridCol w="2560320"/>
                <a:gridCol w="2468880"/>
              </a:tblGrid>
              <a:tr h="36576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Nguồn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Giấy phép</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Mã nguồn gameplay toàn bộ</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viết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Thiết kế lối chơi và cân bằng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thiết kế</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Hiệu ứng hình ảnh trong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Sinh viên tự dựng bằng mã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Khung mạng Photon Fusion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Photon Engine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Miễn phí dưới 100 CCU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Mô hình môi trường, nhân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Theo giấy phép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Bầu trời Fantasy Skybox FREE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Miễn phí, cho phép dùng thương mại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Nhạc nền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Pixabay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Pixabay Content License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r h="365760">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Lồng tiếng thông báo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Tạo bằng ElevenLabs</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Cho phép dùng trong sản phẩm</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r>
            </a:tbl>
          </a:graphicData>
        </a:graphic>
      </p:graphicFrame>
      <p:sp>
        <p:nvSpPr>
          <p:cNvPr id="5" name="card"/>
          <p:cNvSpPr/>
          <p:nvPr/>
        </p:nvSpPr>
        <p:spPr>
          <a:xfrm>
            <a:off x="411480" y="4206240"/>
            <a:ext cx="8321040" cy="457200"/>
          </a:xfrm>
          <a:prstGeom prst="roundRect">
            <a:avLst>
              <a:gd name="adj" fmla="val 12000"/>
            </a:avLst>
          </a:prstGeom>
          <a:solidFill>
            <a:srgbClr val="F3F7FD"/>
          </a:solidFill>
          <a:ln w="12700">
            <a:solidFill>
              <a:srgbClr val="C7D2E6"/>
            </a:solidFill>
            <a:prstDash val="solid"/>
          </a:ln>
        </p:spPr>
      </p:sp>
      <p:sp>
        <p:nvSpPr>
          <p:cNvPr id="6" name="Text 3"/>
          <p:cNvSpPr txBox="1"/>
          <p:nvPr/>
        </p:nvSpPr>
        <p:spPr>
          <a:xfrm>
            <a:off x="576072" y="4206240"/>
            <a:ext cx="8001000" cy="457200"/>
          </a:xfrm>
          <a:prstGeom prst="rect">
            <a:avLst/>
          </a:prstGeom>
          <a:noFill/>
          <a:ln/>
        </p:spPr>
        <p:txBody>
          <a:bodyPr wrap="square" lIns="0" tIns="0" rIns="0" bIns="0" rtlCol="0" anchor="ctr"/>
          <a:lstStyle/>
          <a:p>
            <a:pPr indent="0" marL="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A64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Nguyen Hoang Gia Khiem</cp:lastModifiedBy>
  <cp:revision>1</cp:revision>
  <dcterms:created xsi:type="dcterms:W3CDTF">2026-10-12T03:14:32Z</dcterms:created>
  <dcterms:modified xsi:type="dcterms:W3CDTF">2026-10-12T03:14:32Z</dcterms:modified>
</cp:coreProperties>
</file>